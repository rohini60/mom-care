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 My name is [your name], and today I am presenting MomCare, a maternal healthcare companion for mothers and babies.
MomCare is built around one idea: every pregnancy is different, so the guidance a mother receives should be different too. Instead of giving the same article to every woman, MomCare looks at her own pregnancy week, her daily check-ins and her history, checks for warning signs, and only then gives personalised information.
I will walk you through the problem, our solution, how generative AI and machine learning are used, the safety design, and honestly, what is working today and what comes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pregnancy apps today are information libraries. A mother searches, reads a general article, and has to decide by herself whether her symptom is normal.
This creates three problems.
• Generic information: the same advice for every mother, whatever her week or history.
• Missed patterns: a mother may mention back discomfort or poor sleep several times, but nothing connects those moments.
• Delayed action: because nothing checks for warning signs, a symptom that needs a professional can be ignored or noticed late.
Many mothers also find medical reports hard to understand, and online advice can be unreliable or frightening.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primary users are expectant mothers who want to understand their pregnancy and track how they feel every day.
Our secondary users are partners and family members who want to support her, and, in future, healthcare providers who could view a summary that the mother chooses to share.
We design for a non-technical user: large readable text, simple navigation, calm colours, and support for multiple languages, with English first and then Tamil, Telugu, Kannada and Hindi.
MomCare does not replace a doctor, a nurse or emergency care. It helps mothers notice changes and reach the right professional sooner.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MomCare is a personal pregnancy companion with four connected parts.
• A mother profile and daily check-in that record how she feels: mood, energy, sleep, baby movement, discomfort and symptoms.
• A safety check that looks for warning signs before anything else happens.
• An AI assistant that understands her context and the earlier conversation.
• Pattern analysis that turns her own check-ins into personalised observations and reminders.
Together they give the mother a clear daily routine, a record of her pregnancy journey, and a prompt to speak to her healthcare provider when something needs attention.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MomCare is not simply a pregnancy information app with a chatbot added on. The difference is the order in which things happen.
The flow is: the mother's data, then AI understands the context, then pattern analysis, then a safety check, and finally personalised information.
For example, if a mother says 'I have stomach pain' and later writes 'it is getting worse', MomCare understands that 'it' means the stomach pain, instead of treating it as a new question. The safety check runs on that worsening symptom before the AI answers.
The result is guidance that is personal, explainable, and safety-first.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core features a mother uses every day.
• Mother profile: name, age, pregnancy week, expected delivery date, medical history, medications and appointments.
• Baby development, week by week, with BABY, MOM and CARE sections and an illustration of the baby for the current week.
• Daily check-in, which stores history so we can see changes over time.
• Today's Care Progress, such as 4 out of 5 tasks done. We deliberately avoid a fake health score.
• Appointments and reminders, and My Pregnancy Story, a timeline she can look back on.
The baby images are AI-generated educational illustrations and are labelled that way. They are not medical scans.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this is a health application, safety comes before AI. Every check-in and every chat message passes through a safety check first.
There are three levels.
• Routine: general information and monitoring.
• Needs attention: consider contacting a healthcare professional.
• Urgent: seek urgent medical attention, with a clear emergency call button.
Each result explains why it appeared, listing the exact inputs that triggered it, and it states that this is not a diagnosis. In urgent cases, the generative AI is not relied on at all: a fixed safety message is shown instead.
The warning-sign rules in this prototype are illustrative. They must be reviewed by a qualified clinician before real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use a generative AI model, Google Gemini, in three places: the assistant, report explanation, and personalised notices.
The assistant receives the mother's pregnancy week, her recent check-ins, the conversation so far, the safety result and a small knowledge base of reference material from WHO and India's Ministry of Health and Family Welfare.
We instruct the model to use only that knowledge base for medical facts, to say clearly when it does not have verified information, and never to diagnose or change medication. Each answer shows its sources, why the answer was given, and how confident the system is.
The knowledge base content is currently marked as draft and still needs verification against the official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MomCare uses data analysis on the mother's own check-ins to find patterns a person might miss.
• Repeated symptoms: for example, back discomfort mentioned on four of the last seven days.
• Trends: sleep slowly decreasing, or energy dropping over several days.
• Missed check-ins, which trigger a gentle reminder.
We also include a small, transparent risk-screening model that uses values such as age, blood pressure, blood sugar and temperature, and shows which factors contributed to the result.
In this prototype, that model is a screening demonstration. It is not clinically validated and does not diagnose. The planned next step is to train and test it on a public maternal-health dataset and to have clinicians review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Personalisation means the notices a mother sees come from her own activity, not from random schedules. Examples: 'You have not completed today's check-in' or 'You mentioned this symptom before. If it is continuing or worsening, consider contacting your healthcare provider.'
Every notice has a 'Why am I seeing this?' explanation, so the mother can see exactly which data triggered it.
Medical report understanding lets a mother upload a report. MomCare explains difficult terms in simple language, summarises the key information, and links it to her pregnancy stage.
It does not diagnose conditions, and it does not change medication. Anything unusual is marked 'discuss with your doctor'.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is interactive: mini quizzes, true or false questions, warning-sign identification and flip cards, instead of long articles.
MomCare Circle is a community where mothers can post, like, comment, reply, save and report content. Mothers choose how they appear: first name, 'Mom', or anonymous.
Based on pregnancy week and topic, the app can show similar experiences, for example, other mothers discussing back discomfort at week 24. These are always labelled as shared experiences, not medical advice.
AI helps keep the community safe by checking for spam, harassment, unsafe content and misleading medical claims, and reported posts go to a review queue. In the current prototype, the community runs on a single device as a preview.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Health information is among the most sensitive data a person has, so privacy is a design principle, not an afterthought.
The planned production design includes individual user accounts, private medical records that other users can never see, a secure database, and medical reports stored separately from other data.
In the current prototype, data stays on the user's device and we use only fictional sample data. We do not ask for real health information at this stage.
Before any real mothers use MomCare, we would need a privacy setup suitable for health data, compliance with the applicable health-data rules in India, and a clinician review of all medical content.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prototype is built with Google AI Studio and the Gemini API, using free tools. The planned production version adds Supabase for user accounts, a secure database and private file storage, with the AI key kept on a server and never exposed in the app.
The data flow works in six steps.
• 1. The mother enters her profile and daily check-in.
• 2. The safety check runs first on her inputs.
• 3. Pattern analysis and the screening model process her history.
• 4. The relevant knowledge-base entries are retrieved.
• 5. The AI model writes a personalised, plain-language response using only that information.
• 6. The app shows the answer with sources, reasons and an uncertainty note, and escalates to professional care when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to be transparent about where we are today.
• This is a prototype. It is not a medical device and not a replacement for professional care.
• All medical content, warning-sign rules and quiz material are drafts and require clinician review.
• The risk-screening model is a demonstration and has not been clinically validated.
• AI can make mistakes, which is why we use a knowledge base, show sources and uncertainty, and put safety rules before the AI.
• The free AI tier has usage limits and may use submitted data, so only fictional data is used.
• Community and some features currently work only on one device.
Being honest about these limits is part of building a trustworthy health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roadmap has five steps.
• Clinician review of the safety rules, knowledge base and baby-development content.
• Training and validating the risk model on real datasets, with clear performance reporting.
• Secure accounts, a real database and private report storage.
• Full support for Tamil, Telugu, Kannada and Hindi, checked by native speakers.
• A real shared community, push reminders, a partner view and emergency contact shortcuts.
In summary, MomCare brings together personal context, pattern analysis, a safety check and generative AI, to help mothers notice what matters and reach professional care sooner.
Thank you. I would be happy to take your questions and to show a short live demonstration.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CF8F6"/>
        </a:solidFill>
      </p:bgPr>
    </p:bg>
    <p:spTree>
      <p:nvGrpSpPr>
        <p:cNvPr id="1" name=""/>
        <p:cNvGrpSpPr/>
        <p:nvPr/>
      </p:nvGrpSpPr>
      <p:grpSpPr>
        <a:xfrm>
          <a:off x="0" y="0"/>
          <a:ext cx="0" cy="0"/>
          <a:chOff x="0" y="0"/>
          <a:chExt cx="0" cy="0"/>
        </a:xfrm>
      </p:grpSpPr>
      <p:sp>
        <p:nvSpPr>
          <p:cNvPr id="2" name="Shape 0"/>
          <p:cNvSpPr/>
          <p:nvPr/>
        </p:nvSpPr>
        <p:spPr>
          <a:xfrm>
            <a:off x="0" y="0"/>
            <a:ext cx="9144000" cy="91440"/>
          </a:xfrm>
          <a:prstGeom prst="rect">
            <a:avLst/>
          </a:prstGeom>
          <a:solidFill>
            <a:srgbClr val="9F5F6E"/>
          </a:solidFill>
          <a:ln w="12700">
            <a:solidFill>
              <a:srgbClr val="9F5F6E"/>
            </a:solidFill>
            <a:prstDash val="solid"/>
          </a:ln>
        </p:spPr>
      </p:sp>
      <p:sp>
        <p:nvSpPr>
          <p:cNvPr id="3" name="Shape 1"/>
          <p:cNvSpPr/>
          <p:nvPr/>
        </p:nvSpPr>
        <p:spPr>
          <a:xfrm>
            <a:off x="731520" y="320040"/>
            <a:ext cx="2011680" cy="320040"/>
          </a:xfrm>
          <a:prstGeom prst="roundRect">
            <a:avLst>
              <a:gd name="adj" fmla="val 42857"/>
            </a:avLst>
          </a:prstGeom>
          <a:solidFill>
            <a:srgbClr val="F2E1E3"/>
          </a:solidFill>
          <a:ln w="12700">
            <a:solidFill>
              <a:srgbClr val="E9DFDC"/>
            </a:solidFill>
            <a:prstDash val="solid"/>
          </a:ln>
        </p:spPr>
      </p:sp>
      <p:sp>
        <p:nvSpPr>
          <p:cNvPr id="4" name="Text 2"/>
          <p:cNvSpPr/>
          <p:nvPr/>
        </p:nvSpPr>
        <p:spPr>
          <a:xfrm>
            <a:off x="731520" y="320040"/>
            <a:ext cx="2011680" cy="320040"/>
          </a:xfrm>
          <a:prstGeom prst="rect">
            <a:avLst/>
          </a:prstGeom>
          <a:noFill/>
          <a:ln/>
        </p:spPr>
        <p:txBody>
          <a:bodyPr wrap="square" rtlCol="0" anchor="ctr"/>
          <a:lstStyle/>
          <a:p>
            <a:pPr algn="ctr" indent="0" marL="0">
              <a:buNone/>
            </a:pPr>
            <a:r>
              <a:rPr lang="en-US" sz="1000" b="1" dirty="0">
                <a:solidFill>
                  <a:srgbClr val="9F5F6E"/>
                </a:solidFill>
              </a:rPr>
              <a:t>INTRODUCTION</a:t>
            </a:r>
            <a:endParaRPr lang="en-US" sz="1000" dirty="0"/>
          </a:p>
        </p:txBody>
      </p:sp>
      <p:sp>
        <p:nvSpPr>
          <p:cNvPr id="5" name="Text 3"/>
          <p:cNvSpPr/>
          <p:nvPr/>
        </p:nvSpPr>
        <p:spPr>
          <a:xfrm>
            <a:off x="9601200" y="320040"/>
            <a:ext cx="1828800" cy="320040"/>
          </a:xfrm>
          <a:prstGeom prst="rect">
            <a:avLst/>
          </a:prstGeom>
          <a:noFill/>
          <a:ln/>
        </p:spPr>
        <p:txBody>
          <a:bodyPr wrap="square" rtlCol="0" anchor="ctr"/>
          <a:lstStyle/>
          <a:p>
            <a:pPr algn="r" indent="0" marL="0">
              <a:buNone/>
            </a:pPr>
            <a:r>
              <a:rPr lang="en-US" sz="1100" dirty="0">
                <a:solidFill>
                  <a:srgbClr val="766D72"/>
                </a:solidFill>
              </a:rPr>
              <a:t>Slide 1 of 15</a:t>
            </a:r>
            <a:endParaRPr lang="en-US" sz="1100" dirty="0"/>
          </a:p>
        </p:txBody>
      </p:sp>
      <p:sp>
        <p:nvSpPr>
          <p:cNvPr id="6" name="Text 4"/>
          <p:cNvSpPr/>
          <p:nvPr/>
        </p:nvSpPr>
        <p:spPr>
          <a:xfrm>
            <a:off x="731520" y="777240"/>
            <a:ext cx="10698480" cy="640080"/>
          </a:xfrm>
          <a:prstGeom prst="rect">
            <a:avLst/>
          </a:prstGeom>
          <a:noFill/>
          <a:ln/>
        </p:spPr>
        <p:txBody>
          <a:bodyPr wrap="square" rtlCol="0" anchor="ctr"/>
          <a:lstStyle/>
          <a:p>
            <a:pPr indent="0" marL="0">
              <a:buNone/>
            </a:pPr>
            <a:r>
              <a:rPr lang="en-US" sz="2600" b="1" dirty="0">
                <a:solidFill>
                  <a:srgbClr val="352F35"/>
                </a:solidFill>
                <a:latin typeface="Arial" pitchFamily="34" charset="0"/>
                <a:ea typeface="Arial" pitchFamily="34" charset="-122"/>
                <a:cs typeface="Arial" pitchFamily="34" charset="-120"/>
              </a:rPr>
              <a:t>MomCare</a:t>
            </a:r>
            <a:endParaRPr lang="en-US" sz="2600" dirty="0"/>
          </a:p>
        </p:txBody>
      </p:sp>
      <p:sp>
        <p:nvSpPr>
          <p:cNvPr id="7" name="Text 5"/>
          <p:cNvSpPr/>
          <p:nvPr/>
        </p:nvSpPr>
        <p:spPr>
          <a:xfrm>
            <a:off x="731520" y="1417320"/>
            <a:ext cx="10698480" cy="411480"/>
          </a:xfrm>
          <a:prstGeom prst="rect">
            <a:avLst/>
          </a:prstGeom>
          <a:noFill/>
          <a:ln/>
        </p:spPr>
        <p:txBody>
          <a:bodyPr wrap="square" rtlCol="0" anchor="ctr"/>
          <a:lstStyle/>
          <a:p>
            <a:pPr indent="0" marL="0">
              <a:buNone/>
            </a:pPr>
            <a:r>
              <a:rPr lang="en-US" sz="1300" dirty="0">
                <a:solidFill>
                  <a:srgbClr val="9F5F6E"/>
                </a:solidFill>
                <a:latin typeface="Arial" pitchFamily="34" charset="0"/>
                <a:ea typeface="Arial" pitchFamily="34" charset="-122"/>
                <a:cs typeface="Arial" pitchFamily="34" charset="-120"/>
              </a:rPr>
              <a:t>A Maternal Healthcare Companion for Mothers &amp; Babies</a:t>
            </a:r>
            <a:endParaRPr lang="en-US" sz="1300" dirty="0"/>
          </a:p>
        </p:txBody>
      </p:sp>
      <p:sp>
        <p:nvSpPr>
          <p:cNvPr id="8" name="Shape 6"/>
          <p:cNvSpPr/>
          <p:nvPr/>
        </p:nvSpPr>
        <p:spPr>
          <a:xfrm>
            <a:off x="731520" y="1965960"/>
            <a:ext cx="5166360" cy="1691640"/>
          </a:xfrm>
          <a:prstGeom prst="roundRect">
            <a:avLst>
              <a:gd name="adj" fmla="val 6486"/>
            </a:avLst>
          </a:prstGeom>
          <a:solidFill>
            <a:srgbClr val="FFFFFF"/>
          </a:solidFill>
          <a:ln w="12700">
            <a:solidFill>
              <a:srgbClr val="E9DFDC"/>
            </a:solidFill>
            <a:prstDash val="solid"/>
          </a:ln>
        </p:spPr>
      </p:sp>
      <p:sp>
        <p:nvSpPr>
          <p:cNvPr id="9" name="Shape 7"/>
          <p:cNvSpPr/>
          <p:nvPr/>
        </p:nvSpPr>
        <p:spPr>
          <a:xfrm>
            <a:off x="960120" y="2194560"/>
            <a:ext cx="365760" cy="365760"/>
          </a:xfrm>
          <a:prstGeom prst="ellipse">
            <a:avLst/>
          </a:prstGeom>
          <a:solidFill>
            <a:srgbClr val="F2E1E3"/>
          </a:solidFill>
          <a:ln w="12700">
            <a:solidFill>
              <a:srgbClr val="F2E1E3"/>
            </a:solidFill>
            <a:prstDash val="solid"/>
          </a:ln>
        </p:spPr>
      </p:sp>
      <p:sp>
        <p:nvSpPr>
          <p:cNvPr id="10" name="Text 8"/>
          <p:cNvSpPr/>
          <p:nvPr/>
        </p:nvSpPr>
        <p:spPr>
          <a:xfrm>
            <a:off x="960120" y="2194560"/>
            <a:ext cx="365760" cy="365760"/>
          </a:xfrm>
          <a:prstGeom prst="rect">
            <a:avLst/>
          </a:prstGeom>
          <a:noFill/>
          <a:ln/>
        </p:spPr>
        <p:txBody>
          <a:bodyPr wrap="square" rtlCol="0" anchor="ctr"/>
          <a:lstStyle/>
          <a:p>
            <a:pPr algn="ctr" indent="0" marL="0">
              <a:buNone/>
            </a:pPr>
            <a:r>
              <a:rPr lang="en-US" sz="1100" b="1" dirty="0">
                <a:solidFill>
                  <a:srgbClr val="9F5F6E"/>
                </a:solidFill>
              </a:rPr>
              <a:t>1</a:t>
            </a:r>
            <a:endParaRPr lang="en-US" sz="1100" dirty="0"/>
          </a:p>
        </p:txBody>
      </p:sp>
      <p:sp>
        <p:nvSpPr>
          <p:cNvPr id="11" name="Text 9"/>
          <p:cNvSpPr/>
          <p:nvPr/>
        </p:nvSpPr>
        <p:spPr>
          <a:xfrm>
            <a:off x="1417320" y="2167128"/>
            <a:ext cx="4297680" cy="365760"/>
          </a:xfrm>
          <a:prstGeom prst="rect">
            <a:avLst/>
          </a:prstGeom>
          <a:noFill/>
          <a:ln/>
        </p:spPr>
        <p:txBody>
          <a:bodyPr wrap="square" rtlCol="0" anchor="ctr"/>
          <a:lstStyle/>
          <a:p>
            <a:pPr indent="0" marL="0">
              <a:buNone/>
            </a:pPr>
            <a:r>
              <a:rPr lang="en-US" sz="1300" b="1" dirty="0">
                <a:solidFill>
                  <a:srgbClr val="352F35"/>
                </a:solidFill>
                <a:latin typeface="Arial" pitchFamily="34" charset="0"/>
                <a:ea typeface="Arial" pitchFamily="34" charset="-122"/>
                <a:cs typeface="Arial" pitchFamily="34" charset="-120"/>
              </a:rPr>
              <a:t>Personalized by Design</a:t>
            </a:r>
            <a:endParaRPr lang="en-US" sz="1300" dirty="0"/>
          </a:p>
        </p:txBody>
      </p:sp>
      <p:sp>
        <p:nvSpPr>
          <p:cNvPr id="12" name="Text 10"/>
          <p:cNvSpPr/>
          <p:nvPr/>
        </p:nvSpPr>
        <p:spPr>
          <a:xfrm>
            <a:off x="960120" y="2651760"/>
            <a:ext cx="4709160" cy="914400"/>
          </a:xfrm>
          <a:prstGeom prst="rect">
            <a:avLst/>
          </a:prstGeom>
          <a:noFill/>
          <a:ln/>
        </p:spPr>
        <p:txBody>
          <a:bodyPr wrap="square" rtlCol="0" anchor="t"/>
          <a:lstStyle/>
          <a:p>
            <a:pPr indent="0" marL="0">
              <a:lnSpc>
                <a:spcPct val="115000"/>
              </a:lnSpc>
              <a:buNone/>
            </a:pPr>
            <a:r>
              <a:rPr lang="en-US" sz="1100" dirty="0">
                <a:solidFill>
                  <a:srgbClr val="352F35"/>
                </a:solidFill>
                <a:latin typeface="Arial" pitchFamily="34" charset="0"/>
                <a:ea typeface="Arial" pitchFamily="34" charset="-122"/>
                <a:cs typeface="Arial" pitchFamily="34" charset="-120"/>
              </a:rPr>
              <a:t>Every pregnancy is different; guidance adapts to her gestational week, daily check-ins, and medical history.</a:t>
            </a:r>
            <a:endParaRPr lang="en-US" sz="1100" dirty="0"/>
          </a:p>
        </p:txBody>
      </p:sp>
      <p:sp>
        <p:nvSpPr>
          <p:cNvPr id="13" name="Shape 11"/>
          <p:cNvSpPr/>
          <p:nvPr/>
        </p:nvSpPr>
        <p:spPr>
          <a:xfrm>
            <a:off x="6217920" y="1965960"/>
            <a:ext cx="5166360" cy="1691640"/>
          </a:xfrm>
          <a:prstGeom prst="roundRect">
            <a:avLst>
              <a:gd name="adj" fmla="val 6486"/>
            </a:avLst>
          </a:prstGeom>
          <a:solidFill>
            <a:srgbClr val="FFFFFF"/>
          </a:solidFill>
          <a:ln w="12700">
            <a:solidFill>
              <a:srgbClr val="E9DFDC"/>
            </a:solidFill>
            <a:prstDash val="solid"/>
          </a:ln>
        </p:spPr>
      </p:sp>
      <p:sp>
        <p:nvSpPr>
          <p:cNvPr id="14" name="Shape 12"/>
          <p:cNvSpPr/>
          <p:nvPr/>
        </p:nvSpPr>
        <p:spPr>
          <a:xfrm>
            <a:off x="6446520" y="2194560"/>
            <a:ext cx="365760" cy="365760"/>
          </a:xfrm>
          <a:prstGeom prst="ellipse">
            <a:avLst/>
          </a:prstGeom>
          <a:solidFill>
            <a:srgbClr val="F2E1E3"/>
          </a:solidFill>
          <a:ln w="12700">
            <a:solidFill>
              <a:srgbClr val="F2E1E3"/>
            </a:solidFill>
            <a:prstDash val="solid"/>
          </a:ln>
        </p:spPr>
      </p:sp>
      <p:sp>
        <p:nvSpPr>
          <p:cNvPr id="15" name="Text 13"/>
          <p:cNvSpPr/>
          <p:nvPr/>
        </p:nvSpPr>
        <p:spPr>
          <a:xfrm>
            <a:off x="6446520" y="2194560"/>
            <a:ext cx="365760" cy="365760"/>
          </a:xfrm>
          <a:prstGeom prst="rect">
            <a:avLst/>
          </a:prstGeom>
          <a:noFill/>
          <a:ln/>
        </p:spPr>
        <p:txBody>
          <a:bodyPr wrap="square" rtlCol="0" anchor="ctr"/>
          <a:lstStyle/>
          <a:p>
            <a:pPr algn="ctr" indent="0" marL="0">
              <a:buNone/>
            </a:pPr>
            <a:r>
              <a:rPr lang="en-US" sz="1100" b="1" dirty="0">
                <a:solidFill>
                  <a:srgbClr val="9F5F6E"/>
                </a:solidFill>
              </a:rPr>
              <a:t>2</a:t>
            </a:r>
            <a:endParaRPr lang="en-US" sz="1100" dirty="0"/>
          </a:p>
        </p:txBody>
      </p:sp>
      <p:sp>
        <p:nvSpPr>
          <p:cNvPr id="16" name="Text 14"/>
          <p:cNvSpPr/>
          <p:nvPr/>
        </p:nvSpPr>
        <p:spPr>
          <a:xfrm>
            <a:off x="6903720" y="2167128"/>
            <a:ext cx="4297680" cy="365760"/>
          </a:xfrm>
          <a:prstGeom prst="rect">
            <a:avLst/>
          </a:prstGeom>
          <a:noFill/>
          <a:ln/>
        </p:spPr>
        <p:txBody>
          <a:bodyPr wrap="square" rtlCol="0" anchor="ctr"/>
          <a:lstStyle/>
          <a:p>
            <a:pPr indent="0" marL="0">
              <a:buNone/>
            </a:pPr>
            <a:r>
              <a:rPr lang="en-US" sz="1300" b="1" dirty="0">
                <a:solidFill>
                  <a:srgbClr val="352F35"/>
                </a:solidFill>
                <a:latin typeface="Arial" pitchFamily="34" charset="0"/>
                <a:ea typeface="Arial" pitchFamily="34" charset="-122"/>
                <a:cs typeface="Arial" pitchFamily="34" charset="-120"/>
              </a:rPr>
              <a:t>Safety-First Architecture</a:t>
            </a:r>
            <a:endParaRPr lang="en-US" sz="1300" dirty="0"/>
          </a:p>
        </p:txBody>
      </p:sp>
      <p:sp>
        <p:nvSpPr>
          <p:cNvPr id="17" name="Text 15"/>
          <p:cNvSpPr/>
          <p:nvPr/>
        </p:nvSpPr>
        <p:spPr>
          <a:xfrm>
            <a:off x="6446520" y="2651760"/>
            <a:ext cx="4709160" cy="914400"/>
          </a:xfrm>
          <a:prstGeom prst="rect">
            <a:avLst/>
          </a:prstGeom>
          <a:noFill/>
          <a:ln/>
        </p:spPr>
        <p:txBody>
          <a:bodyPr wrap="square" rtlCol="0" anchor="t"/>
          <a:lstStyle/>
          <a:p>
            <a:pPr indent="0" marL="0">
              <a:lnSpc>
                <a:spcPct val="115000"/>
              </a:lnSpc>
              <a:buNone/>
            </a:pPr>
            <a:r>
              <a:rPr lang="en-US" sz="1100" dirty="0">
                <a:solidFill>
                  <a:srgbClr val="352F35"/>
                </a:solidFill>
                <a:latin typeface="Arial" pitchFamily="34" charset="0"/>
                <a:ea typeface="Arial" pitchFamily="34" charset="-122"/>
                <a:cs typeface="Arial" pitchFamily="34" charset="-120"/>
              </a:rPr>
              <a:t>Checks for clinical warning signs before providing any automated or AI guidance.</a:t>
            </a:r>
            <a:endParaRPr lang="en-US" sz="1100" dirty="0"/>
          </a:p>
        </p:txBody>
      </p:sp>
      <p:sp>
        <p:nvSpPr>
          <p:cNvPr id="18" name="Shape 16"/>
          <p:cNvSpPr/>
          <p:nvPr/>
        </p:nvSpPr>
        <p:spPr>
          <a:xfrm>
            <a:off x="731520" y="3840480"/>
            <a:ext cx="5166360" cy="1691640"/>
          </a:xfrm>
          <a:prstGeom prst="roundRect">
            <a:avLst>
              <a:gd name="adj" fmla="val 6486"/>
            </a:avLst>
          </a:prstGeom>
          <a:solidFill>
            <a:srgbClr val="FFFFFF"/>
          </a:solidFill>
          <a:ln w="12700">
            <a:solidFill>
              <a:srgbClr val="E9DFDC"/>
            </a:solidFill>
            <a:prstDash val="solid"/>
          </a:ln>
        </p:spPr>
      </p:sp>
      <p:sp>
        <p:nvSpPr>
          <p:cNvPr id="19" name="Shape 17"/>
          <p:cNvSpPr/>
          <p:nvPr/>
        </p:nvSpPr>
        <p:spPr>
          <a:xfrm>
            <a:off x="960120" y="4069080"/>
            <a:ext cx="365760" cy="365760"/>
          </a:xfrm>
          <a:prstGeom prst="ellipse">
            <a:avLst/>
          </a:prstGeom>
          <a:solidFill>
            <a:srgbClr val="F2E1E3"/>
          </a:solidFill>
          <a:ln w="12700">
            <a:solidFill>
              <a:srgbClr val="F2E1E3"/>
            </a:solidFill>
            <a:prstDash val="solid"/>
          </a:ln>
        </p:spPr>
      </p:sp>
      <p:sp>
        <p:nvSpPr>
          <p:cNvPr id="20" name="Text 18"/>
          <p:cNvSpPr/>
          <p:nvPr/>
        </p:nvSpPr>
        <p:spPr>
          <a:xfrm>
            <a:off x="960120" y="4069080"/>
            <a:ext cx="365760" cy="365760"/>
          </a:xfrm>
          <a:prstGeom prst="rect">
            <a:avLst/>
          </a:prstGeom>
          <a:noFill/>
          <a:ln/>
        </p:spPr>
        <p:txBody>
          <a:bodyPr wrap="square" rtlCol="0" anchor="ctr"/>
          <a:lstStyle/>
          <a:p>
            <a:pPr algn="ctr" indent="0" marL="0">
              <a:buNone/>
            </a:pPr>
            <a:r>
              <a:rPr lang="en-US" sz="1100" b="1" dirty="0">
                <a:solidFill>
                  <a:srgbClr val="9F5F6E"/>
                </a:solidFill>
              </a:rPr>
              <a:t>3</a:t>
            </a:r>
            <a:endParaRPr lang="en-US" sz="1100" dirty="0"/>
          </a:p>
        </p:txBody>
      </p:sp>
      <p:sp>
        <p:nvSpPr>
          <p:cNvPr id="21" name="Text 19"/>
          <p:cNvSpPr/>
          <p:nvPr/>
        </p:nvSpPr>
        <p:spPr>
          <a:xfrm>
            <a:off x="1417320" y="4041648"/>
            <a:ext cx="4297680" cy="365760"/>
          </a:xfrm>
          <a:prstGeom prst="rect">
            <a:avLst/>
          </a:prstGeom>
          <a:noFill/>
          <a:ln/>
        </p:spPr>
        <p:txBody>
          <a:bodyPr wrap="square" rtlCol="0" anchor="ctr"/>
          <a:lstStyle/>
          <a:p>
            <a:pPr indent="0" marL="0">
              <a:buNone/>
            </a:pPr>
            <a:r>
              <a:rPr lang="en-US" sz="1300" b="1" dirty="0">
                <a:solidFill>
                  <a:srgbClr val="352F35"/>
                </a:solidFill>
                <a:latin typeface="Arial" pitchFamily="34" charset="0"/>
                <a:ea typeface="Arial" pitchFamily="34" charset="-122"/>
                <a:cs typeface="Arial" pitchFamily="34" charset="-120"/>
              </a:rPr>
              <a:t>Beyond Static Libraries</a:t>
            </a:r>
            <a:endParaRPr lang="en-US" sz="1300" dirty="0"/>
          </a:p>
        </p:txBody>
      </p:sp>
      <p:sp>
        <p:nvSpPr>
          <p:cNvPr id="22" name="Text 20"/>
          <p:cNvSpPr/>
          <p:nvPr/>
        </p:nvSpPr>
        <p:spPr>
          <a:xfrm>
            <a:off x="960120" y="4526280"/>
            <a:ext cx="4709160" cy="914400"/>
          </a:xfrm>
          <a:prstGeom prst="rect">
            <a:avLst/>
          </a:prstGeom>
          <a:noFill/>
          <a:ln/>
        </p:spPr>
        <p:txBody>
          <a:bodyPr wrap="square" rtlCol="0" anchor="t"/>
          <a:lstStyle/>
          <a:p>
            <a:pPr indent="0" marL="0">
              <a:lnSpc>
                <a:spcPct val="115000"/>
              </a:lnSpc>
              <a:buNone/>
            </a:pPr>
            <a:r>
              <a:rPr lang="en-US" sz="1100" dirty="0">
                <a:solidFill>
                  <a:srgbClr val="352F35"/>
                </a:solidFill>
                <a:latin typeface="Arial" pitchFamily="34" charset="0"/>
                <a:ea typeface="Arial" pitchFamily="34" charset="-122"/>
                <a:cs typeface="Arial" pitchFamily="34" charset="-120"/>
              </a:rPr>
              <a:t>Active, compassionate daily routine replacing fragmented search queries and confusing forums.</a:t>
            </a:r>
            <a:endParaRPr lang="en-US" sz="1100" dirty="0"/>
          </a:p>
        </p:txBody>
      </p:sp>
      <p:sp>
        <p:nvSpPr>
          <p:cNvPr id="23" name="Shape 21"/>
          <p:cNvSpPr/>
          <p:nvPr/>
        </p:nvSpPr>
        <p:spPr>
          <a:xfrm>
            <a:off x="6217920" y="3840480"/>
            <a:ext cx="5166360" cy="1691640"/>
          </a:xfrm>
          <a:prstGeom prst="roundRect">
            <a:avLst>
              <a:gd name="adj" fmla="val 6486"/>
            </a:avLst>
          </a:prstGeom>
          <a:solidFill>
            <a:srgbClr val="FFFFFF"/>
          </a:solidFill>
          <a:ln w="12700">
            <a:solidFill>
              <a:srgbClr val="E9DFDC"/>
            </a:solidFill>
            <a:prstDash val="solid"/>
          </a:ln>
        </p:spPr>
      </p:sp>
      <p:sp>
        <p:nvSpPr>
          <p:cNvPr id="24" name="Shape 22"/>
          <p:cNvSpPr/>
          <p:nvPr/>
        </p:nvSpPr>
        <p:spPr>
          <a:xfrm>
            <a:off x="6446520" y="4069080"/>
            <a:ext cx="365760" cy="365760"/>
          </a:xfrm>
          <a:prstGeom prst="ellipse">
            <a:avLst/>
          </a:prstGeom>
          <a:solidFill>
            <a:srgbClr val="F2E1E3"/>
          </a:solidFill>
          <a:ln w="12700">
            <a:solidFill>
              <a:srgbClr val="F2E1E3"/>
            </a:solidFill>
            <a:prstDash val="solid"/>
          </a:ln>
        </p:spPr>
      </p:sp>
      <p:sp>
        <p:nvSpPr>
          <p:cNvPr id="25" name="Text 23"/>
          <p:cNvSpPr/>
          <p:nvPr/>
        </p:nvSpPr>
        <p:spPr>
          <a:xfrm>
            <a:off x="6446520" y="4069080"/>
            <a:ext cx="365760" cy="365760"/>
          </a:xfrm>
          <a:prstGeom prst="rect">
            <a:avLst/>
          </a:prstGeom>
          <a:noFill/>
          <a:ln/>
        </p:spPr>
        <p:txBody>
          <a:bodyPr wrap="square" rtlCol="0" anchor="ctr"/>
          <a:lstStyle/>
          <a:p>
            <a:pPr algn="ctr" indent="0" marL="0">
              <a:buNone/>
            </a:pPr>
            <a:r>
              <a:rPr lang="en-US" sz="1100" b="1" dirty="0">
                <a:solidFill>
                  <a:srgbClr val="9F5F6E"/>
                </a:solidFill>
              </a:rPr>
              <a:t>4</a:t>
            </a:r>
            <a:endParaRPr lang="en-US" sz="1100" dirty="0"/>
          </a:p>
        </p:txBody>
      </p:sp>
      <p:sp>
        <p:nvSpPr>
          <p:cNvPr id="26" name="Text 24"/>
          <p:cNvSpPr/>
          <p:nvPr/>
        </p:nvSpPr>
        <p:spPr>
          <a:xfrm>
            <a:off x="6903720" y="4041648"/>
            <a:ext cx="4297680" cy="365760"/>
          </a:xfrm>
          <a:prstGeom prst="rect">
            <a:avLst/>
          </a:prstGeom>
          <a:noFill/>
          <a:ln/>
        </p:spPr>
        <p:txBody>
          <a:bodyPr wrap="square" rtlCol="0" anchor="ctr"/>
          <a:lstStyle/>
          <a:p>
            <a:pPr indent="0" marL="0">
              <a:buNone/>
            </a:pPr>
            <a:r>
              <a:rPr lang="en-US" sz="1300" b="1" dirty="0">
                <a:solidFill>
                  <a:srgbClr val="352F35"/>
                </a:solidFill>
                <a:latin typeface="Arial" pitchFamily="34" charset="0"/>
                <a:ea typeface="Arial" pitchFamily="34" charset="-122"/>
                <a:cs typeface="Arial" pitchFamily="34" charset="-120"/>
              </a:rPr>
              <a:t>Honest &amp; Transparent</a:t>
            </a:r>
            <a:endParaRPr lang="en-US" sz="1300" dirty="0"/>
          </a:p>
        </p:txBody>
      </p:sp>
      <p:sp>
        <p:nvSpPr>
          <p:cNvPr id="27" name="Text 25"/>
          <p:cNvSpPr/>
          <p:nvPr/>
        </p:nvSpPr>
        <p:spPr>
          <a:xfrm>
            <a:off x="6446520" y="4526280"/>
            <a:ext cx="4709160" cy="914400"/>
          </a:xfrm>
          <a:prstGeom prst="rect">
            <a:avLst/>
          </a:prstGeom>
          <a:noFill/>
          <a:ln/>
        </p:spPr>
        <p:txBody>
          <a:bodyPr wrap="square" rtlCol="0" anchor="t"/>
          <a:lstStyle/>
          <a:p>
            <a:pPr indent="0" marL="0">
              <a:lnSpc>
                <a:spcPct val="115000"/>
              </a:lnSpc>
              <a:buNone/>
            </a:pPr>
            <a:r>
              <a:rPr lang="en-US" sz="1100" dirty="0">
                <a:solidFill>
                  <a:srgbClr val="352F35"/>
                </a:solidFill>
                <a:latin typeface="Arial" pitchFamily="34" charset="0"/>
                <a:ea typeface="Arial" pitchFamily="34" charset="-122"/>
                <a:cs typeface="Arial" pitchFamily="34" charset="-120"/>
              </a:rPr>
              <a:t>Clear distinction between verified clinical facts, educational aids, and when to reach a doctor.</a:t>
            </a:r>
            <a:endParaRPr lang="en-US" sz="1100" dirty="0"/>
          </a:p>
        </p:txBody>
      </p:sp>
      <p:sp>
        <p:nvSpPr>
          <p:cNvPr id="28" name="Shape 26"/>
          <p:cNvSpPr/>
          <p:nvPr/>
        </p:nvSpPr>
        <p:spPr>
          <a:xfrm>
            <a:off x="731520" y="5715000"/>
            <a:ext cx="10652760" cy="594360"/>
          </a:xfrm>
          <a:prstGeom prst="roundRect">
            <a:avLst>
              <a:gd name="adj" fmla="val 15385"/>
            </a:avLst>
          </a:prstGeom>
          <a:solidFill>
            <a:srgbClr val="F2E1E3"/>
          </a:solidFill>
          <a:ln w="12700">
            <a:solidFill>
              <a:srgbClr val="E9DFDC"/>
            </a:solidFill>
            <a:prstDash val="solid"/>
          </a:ln>
        </p:spPr>
      </p:sp>
      <p:sp>
        <p:nvSpPr>
          <p:cNvPr id="29" name="Text 27"/>
          <p:cNvSpPr/>
          <p:nvPr/>
        </p:nvSpPr>
        <p:spPr>
          <a:xfrm>
            <a:off x="914400" y="5715000"/>
            <a:ext cx="10287000" cy="594360"/>
          </a:xfrm>
          <a:prstGeom prst="rect">
            <a:avLst/>
          </a:prstGeom>
          <a:noFill/>
          <a:ln/>
        </p:spPr>
        <p:txBody>
          <a:bodyPr wrap="square" rtlCol="0" anchor="ctr"/>
          <a:lstStyle/>
          <a:p>
            <a:pPr indent="0" marL="0">
              <a:buNone/>
            </a:pPr>
            <a:r>
              <a:rPr lang="en-US" sz="1000" b="1" dirty="0">
                <a:solidFill>
                  <a:srgbClr val="9F5F6E"/>
                </a:solidFill>
              </a:rPr>
              <a:t>CORE TAKEAWAY:  </a:t>
            </a:r>
            <a:pPr indent="0" marL="0">
              <a:buNone/>
            </a:pPr>
            <a:r>
              <a:rPr lang="en-US" sz="1050" dirty="0">
                <a:solidFill>
                  <a:srgbClr val="352F35"/>
                </a:solidFill>
              </a:rPr>
              <a:t>Every pregnancy is unique—the guidance a mother receives must be personal, contextual, and safety-gated.</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CF8F6"/>
        </a:solidFill>
      </p:bgPr>
    </p:bg>
    <p:spTree>
      <p:nvGrpSpPr>
        <p:cNvPr id="1" name=""/>
        <p:cNvGrpSpPr/>
        <p:nvPr/>
      </p:nvGrpSpPr>
      <p:grpSpPr>
        <a:xfrm>
          <a:off x="0" y="0"/>
          <a:ext cx="0" cy="0"/>
          <a:chOff x="0" y="0"/>
          <a:chExt cx="0" cy="0"/>
        </a:xfrm>
      </p:grpSpPr>
      <p:sp>
        <p:nvSpPr>
          <p:cNvPr id="2" name="Shape 0"/>
          <p:cNvSpPr/>
          <p:nvPr/>
        </p:nvSpPr>
        <p:spPr>
          <a:xfrm>
            <a:off x="0" y="0"/>
            <a:ext cx="9144000" cy="91440"/>
          </a:xfrm>
          <a:prstGeom prst="rect">
            <a:avLst/>
          </a:prstGeom>
          <a:solidFill>
            <a:srgbClr val="9F5F6E"/>
          </a:solidFill>
          <a:ln w="12700">
            <a:solidFill>
              <a:srgbClr val="9F5F6E"/>
            </a:solidFill>
            <a:prstDash val="solid"/>
          </a:ln>
        </p:spPr>
      </p:sp>
      <p:sp>
        <p:nvSpPr>
          <p:cNvPr id="3" name="Shape 1"/>
          <p:cNvSpPr/>
          <p:nvPr/>
        </p:nvSpPr>
        <p:spPr>
          <a:xfrm>
            <a:off x="731520" y="320040"/>
            <a:ext cx="2011680" cy="320040"/>
          </a:xfrm>
          <a:prstGeom prst="roundRect">
            <a:avLst>
              <a:gd name="adj" fmla="val 42857"/>
            </a:avLst>
          </a:prstGeom>
          <a:solidFill>
            <a:srgbClr val="F2E1E3"/>
          </a:solidFill>
          <a:ln w="12700">
            <a:solidFill>
              <a:srgbClr val="E9DFDC"/>
            </a:solidFill>
            <a:prstDash val="solid"/>
          </a:ln>
        </p:spPr>
      </p:sp>
      <p:sp>
        <p:nvSpPr>
          <p:cNvPr id="4" name="Text 2"/>
          <p:cNvSpPr/>
          <p:nvPr/>
        </p:nvSpPr>
        <p:spPr>
          <a:xfrm>
            <a:off x="731520" y="320040"/>
            <a:ext cx="2011680" cy="320040"/>
          </a:xfrm>
          <a:prstGeom prst="rect">
            <a:avLst/>
          </a:prstGeom>
          <a:noFill/>
          <a:ln/>
        </p:spPr>
        <p:txBody>
          <a:bodyPr wrap="square" rtlCol="0" anchor="ctr"/>
          <a:lstStyle/>
          <a:p>
            <a:pPr algn="ctr" indent="0" marL="0">
              <a:buNone/>
            </a:pPr>
            <a:r>
              <a:rPr lang="en-US" sz="1000" b="1" dirty="0">
                <a:solidFill>
                  <a:srgbClr val="9F5F6E"/>
                </a:solidFill>
              </a:rPr>
              <a:t>MARKET NEED</a:t>
            </a:r>
            <a:endParaRPr lang="en-US" sz="1000" dirty="0"/>
          </a:p>
        </p:txBody>
      </p:sp>
      <p:sp>
        <p:nvSpPr>
          <p:cNvPr id="5" name="Text 3"/>
          <p:cNvSpPr/>
          <p:nvPr/>
        </p:nvSpPr>
        <p:spPr>
          <a:xfrm>
            <a:off x="9601200" y="320040"/>
            <a:ext cx="1828800" cy="320040"/>
          </a:xfrm>
          <a:prstGeom prst="rect">
            <a:avLst/>
          </a:prstGeom>
          <a:noFill/>
          <a:ln/>
        </p:spPr>
        <p:txBody>
          <a:bodyPr wrap="square" rtlCol="0" anchor="ctr"/>
          <a:lstStyle/>
          <a:p>
            <a:pPr algn="r" indent="0" marL="0">
              <a:buNone/>
            </a:pPr>
            <a:r>
              <a:rPr lang="en-US" sz="1100" dirty="0">
                <a:solidFill>
                  <a:srgbClr val="766D72"/>
                </a:solidFill>
              </a:rPr>
              <a:t>Slide 2 of 15</a:t>
            </a:r>
            <a:endParaRPr lang="en-US" sz="1100" dirty="0"/>
          </a:p>
        </p:txBody>
      </p:sp>
      <p:sp>
        <p:nvSpPr>
          <p:cNvPr id="6" name="Text 4"/>
          <p:cNvSpPr/>
          <p:nvPr/>
        </p:nvSpPr>
        <p:spPr>
          <a:xfrm>
            <a:off x="731520" y="777240"/>
            <a:ext cx="10698480" cy="640080"/>
          </a:xfrm>
          <a:prstGeom prst="rect">
            <a:avLst/>
          </a:prstGeom>
          <a:noFill/>
          <a:ln/>
        </p:spPr>
        <p:txBody>
          <a:bodyPr wrap="square" rtlCol="0" anchor="ctr"/>
          <a:lstStyle/>
          <a:p>
            <a:pPr indent="0" marL="0">
              <a:buNone/>
            </a:pPr>
            <a:r>
              <a:rPr lang="en-US" sz="2600" b="1" dirty="0">
                <a:solidFill>
                  <a:srgbClr val="352F35"/>
                </a:solidFill>
                <a:latin typeface="Arial" pitchFamily="34" charset="0"/>
                <a:ea typeface="Arial" pitchFamily="34" charset="-122"/>
                <a:cs typeface="Arial" pitchFamily="34" charset="-120"/>
              </a:rPr>
              <a:t>The Problem</a:t>
            </a:r>
            <a:endParaRPr lang="en-US" sz="2600" dirty="0"/>
          </a:p>
        </p:txBody>
      </p:sp>
      <p:sp>
        <p:nvSpPr>
          <p:cNvPr id="7" name="Text 5"/>
          <p:cNvSpPr/>
          <p:nvPr/>
        </p:nvSpPr>
        <p:spPr>
          <a:xfrm>
            <a:off x="731520" y="1417320"/>
            <a:ext cx="10698480" cy="411480"/>
          </a:xfrm>
          <a:prstGeom prst="rect">
            <a:avLst/>
          </a:prstGeom>
          <a:noFill/>
          <a:ln/>
        </p:spPr>
        <p:txBody>
          <a:bodyPr wrap="square" rtlCol="0" anchor="ctr"/>
          <a:lstStyle/>
          <a:p>
            <a:pPr indent="0" marL="0">
              <a:buNone/>
            </a:pPr>
            <a:r>
              <a:rPr lang="en-US" sz="1300" dirty="0">
                <a:solidFill>
                  <a:srgbClr val="9F5F6E"/>
                </a:solidFill>
                <a:latin typeface="Arial" pitchFamily="34" charset="0"/>
                <a:ea typeface="Arial" pitchFamily="34" charset="-122"/>
                <a:cs typeface="Arial" pitchFamily="34" charset="-120"/>
              </a:rPr>
              <a:t>Today's pregnancy apps act as passive, disconnected information libraries</a:t>
            </a:r>
            <a:endParaRPr lang="en-US" sz="1300" dirty="0"/>
          </a:p>
        </p:txBody>
      </p:sp>
      <p:sp>
        <p:nvSpPr>
          <p:cNvPr id="8" name="Shape 6"/>
          <p:cNvSpPr/>
          <p:nvPr/>
        </p:nvSpPr>
        <p:spPr>
          <a:xfrm>
            <a:off x="731520" y="1965960"/>
            <a:ext cx="5166360" cy="1691640"/>
          </a:xfrm>
          <a:prstGeom prst="roundRect">
            <a:avLst>
              <a:gd name="adj" fmla="val 6486"/>
            </a:avLst>
          </a:prstGeom>
          <a:solidFill>
            <a:srgbClr val="FFFFFF"/>
          </a:solidFill>
          <a:ln w="12700">
            <a:solidFill>
              <a:srgbClr val="E9DFDC"/>
            </a:solidFill>
            <a:prstDash val="solid"/>
          </a:ln>
        </p:spPr>
      </p:sp>
      <p:sp>
        <p:nvSpPr>
          <p:cNvPr id="9" name="Shape 7"/>
          <p:cNvSpPr/>
          <p:nvPr/>
        </p:nvSpPr>
        <p:spPr>
          <a:xfrm>
            <a:off x="960120" y="2194560"/>
            <a:ext cx="365760" cy="365760"/>
          </a:xfrm>
          <a:prstGeom prst="ellipse">
            <a:avLst/>
          </a:prstGeom>
          <a:solidFill>
            <a:srgbClr val="F2E1E3"/>
          </a:solidFill>
          <a:ln w="12700">
            <a:solidFill>
              <a:srgbClr val="F2E1E3"/>
            </a:solidFill>
            <a:prstDash val="solid"/>
          </a:ln>
        </p:spPr>
      </p:sp>
      <p:sp>
        <p:nvSpPr>
          <p:cNvPr id="10" name="Text 8"/>
          <p:cNvSpPr/>
          <p:nvPr/>
        </p:nvSpPr>
        <p:spPr>
          <a:xfrm>
            <a:off x="960120" y="2194560"/>
            <a:ext cx="365760" cy="365760"/>
          </a:xfrm>
          <a:prstGeom prst="rect">
            <a:avLst/>
          </a:prstGeom>
          <a:noFill/>
          <a:ln/>
        </p:spPr>
        <p:txBody>
          <a:bodyPr wrap="square" rtlCol="0" anchor="ctr"/>
          <a:lstStyle/>
          <a:p>
            <a:pPr algn="ctr" indent="0" marL="0">
              <a:buNone/>
            </a:pPr>
            <a:r>
              <a:rPr lang="en-US" sz="1100" b="1" dirty="0">
                <a:solidFill>
                  <a:srgbClr val="9F5F6E"/>
                </a:solidFill>
              </a:rPr>
              <a:t>1</a:t>
            </a:r>
            <a:endParaRPr lang="en-US" sz="1100" dirty="0"/>
          </a:p>
        </p:txBody>
      </p:sp>
      <p:sp>
        <p:nvSpPr>
          <p:cNvPr id="11" name="Text 9"/>
          <p:cNvSpPr/>
          <p:nvPr/>
        </p:nvSpPr>
        <p:spPr>
          <a:xfrm>
            <a:off x="1417320" y="2167128"/>
            <a:ext cx="4297680" cy="365760"/>
          </a:xfrm>
          <a:prstGeom prst="rect">
            <a:avLst/>
          </a:prstGeom>
          <a:noFill/>
          <a:ln/>
        </p:spPr>
        <p:txBody>
          <a:bodyPr wrap="square" rtlCol="0" anchor="ctr"/>
          <a:lstStyle/>
          <a:p>
            <a:pPr indent="0" marL="0">
              <a:buNone/>
            </a:pPr>
            <a:r>
              <a:rPr lang="en-US" sz="1300" b="1" dirty="0">
                <a:solidFill>
                  <a:srgbClr val="352F35"/>
                </a:solidFill>
                <a:latin typeface="Arial" pitchFamily="34" charset="0"/>
                <a:ea typeface="Arial" pitchFamily="34" charset="-122"/>
                <a:cs typeface="Arial" pitchFamily="34" charset="-120"/>
              </a:rPr>
              <a:t>Generic Information</a:t>
            </a:r>
            <a:endParaRPr lang="en-US" sz="1300" dirty="0"/>
          </a:p>
        </p:txBody>
      </p:sp>
      <p:sp>
        <p:nvSpPr>
          <p:cNvPr id="12" name="Text 10"/>
          <p:cNvSpPr/>
          <p:nvPr/>
        </p:nvSpPr>
        <p:spPr>
          <a:xfrm>
            <a:off x="960120" y="2651760"/>
            <a:ext cx="4709160" cy="914400"/>
          </a:xfrm>
          <a:prstGeom prst="rect">
            <a:avLst/>
          </a:prstGeom>
          <a:noFill/>
          <a:ln/>
        </p:spPr>
        <p:txBody>
          <a:bodyPr wrap="square" rtlCol="0" anchor="t"/>
          <a:lstStyle/>
          <a:p>
            <a:pPr indent="0" marL="0">
              <a:lnSpc>
                <a:spcPct val="115000"/>
              </a:lnSpc>
              <a:buNone/>
            </a:pPr>
            <a:r>
              <a:rPr lang="en-US" sz="1100" dirty="0">
                <a:solidFill>
                  <a:srgbClr val="352F35"/>
                </a:solidFill>
                <a:latin typeface="Arial" pitchFamily="34" charset="0"/>
                <a:ea typeface="Arial" pitchFamily="34" charset="-122"/>
                <a:cs typeface="Arial" pitchFamily="34" charset="-120"/>
              </a:rPr>
              <a:t>The exact same one-size-fits-all advice is served to every mother, regardless of her pregnancy week or history.</a:t>
            </a:r>
            <a:endParaRPr lang="en-US" sz="1100" dirty="0"/>
          </a:p>
        </p:txBody>
      </p:sp>
      <p:sp>
        <p:nvSpPr>
          <p:cNvPr id="13" name="Shape 11"/>
          <p:cNvSpPr/>
          <p:nvPr/>
        </p:nvSpPr>
        <p:spPr>
          <a:xfrm>
            <a:off x="6217920" y="1965960"/>
            <a:ext cx="5166360" cy="1691640"/>
          </a:xfrm>
          <a:prstGeom prst="roundRect">
            <a:avLst>
              <a:gd name="adj" fmla="val 6486"/>
            </a:avLst>
          </a:prstGeom>
          <a:solidFill>
            <a:srgbClr val="FFFFFF"/>
          </a:solidFill>
          <a:ln w="12700">
            <a:solidFill>
              <a:srgbClr val="E9DFDC"/>
            </a:solidFill>
            <a:prstDash val="solid"/>
          </a:ln>
        </p:spPr>
      </p:sp>
      <p:sp>
        <p:nvSpPr>
          <p:cNvPr id="14" name="Shape 12"/>
          <p:cNvSpPr/>
          <p:nvPr/>
        </p:nvSpPr>
        <p:spPr>
          <a:xfrm>
            <a:off x="6446520" y="2194560"/>
            <a:ext cx="365760" cy="365760"/>
          </a:xfrm>
          <a:prstGeom prst="ellipse">
            <a:avLst/>
          </a:prstGeom>
          <a:solidFill>
            <a:srgbClr val="F2E1E3"/>
          </a:solidFill>
          <a:ln w="12700">
            <a:solidFill>
              <a:srgbClr val="F2E1E3"/>
            </a:solidFill>
            <a:prstDash val="solid"/>
          </a:ln>
        </p:spPr>
      </p:sp>
      <p:sp>
        <p:nvSpPr>
          <p:cNvPr id="15" name="Text 13"/>
          <p:cNvSpPr/>
          <p:nvPr/>
        </p:nvSpPr>
        <p:spPr>
          <a:xfrm>
            <a:off x="6446520" y="2194560"/>
            <a:ext cx="365760" cy="365760"/>
          </a:xfrm>
          <a:prstGeom prst="rect">
            <a:avLst/>
          </a:prstGeom>
          <a:noFill/>
          <a:ln/>
        </p:spPr>
        <p:txBody>
          <a:bodyPr wrap="square" rtlCol="0" anchor="ctr"/>
          <a:lstStyle/>
          <a:p>
            <a:pPr algn="ctr" indent="0" marL="0">
              <a:buNone/>
            </a:pPr>
            <a:r>
              <a:rPr lang="en-US" sz="1100" b="1" dirty="0">
                <a:solidFill>
                  <a:srgbClr val="9F5F6E"/>
                </a:solidFill>
              </a:rPr>
              <a:t>2</a:t>
            </a:r>
            <a:endParaRPr lang="en-US" sz="1100" dirty="0"/>
          </a:p>
        </p:txBody>
      </p:sp>
      <p:sp>
        <p:nvSpPr>
          <p:cNvPr id="16" name="Text 14"/>
          <p:cNvSpPr/>
          <p:nvPr/>
        </p:nvSpPr>
        <p:spPr>
          <a:xfrm>
            <a:off x="6903720" y="2167128"/>
            <a:ext cx="4297680" cy="365760"/>
          </a:xfrm>
          <a:prstGeom prst="rect">
            <a:avLst/>
          </a:prstGeom>
          <a:noFill/>
          <a:ln/>
        </p:spPr>
        <p:txBody>
          <a:bodyPr wrap="square" rtlCol="0" anchor="ctr"/>
          <a:lstStyle/>
          <a:p>
            <a:pPr indent="0" marL="0">
              <a:buNone/>
            </a:pPr>
            <a:r>
              <a:rPr lang="en-US" sz="1300" b="1" dirty="0">
                <a:solidFill>
                  <a:srgbClr val="352F35"/>
                </a:solidFill>
                <a:latin typeface="Arial" pitchFamily="34" charset="0"/>
                <a:ea typeface="Arial" pitchFamily="34" charset="-122"/>
                <a:cs typeface="Arial" pitchFamily="34" charset="-120"/>
              </a:rPr>
              <a:t>Missed Patterns</a:t>
            </a:r>
            <a:endParaRPr lang="en-US" sz="1300" dirty="0"/>
          </a:p>
        </p:txBody>
      </p:sp>
      <p:sp>
        <p:nvSpPr>
          <p:cNvPr id="17" name="Text 15"/>
          <p:cNvSpPr/>
          <p:nvPr/>
        </p:nvSpPr>
        <p:spPr>
          <a:xfrm>
            <a:off x="6446520" y="2651760"/>
            <a:ext cx="4709160" cy="914400"/>
          </a:xfrm>
          <a:prstGeom prst="rect">
            <a:avLst/>
          </a:prstGeom>
          <a:noFill/>
          <a:ln/>
        </p:spPr>
        <p:txBody>
          <a:bodyPr wrap="square" rtlCol="0" anchor="t"/>
          <a:lstStyle/>
          <a:p>
            <a:pPr indent="0" marL="0">
              <a:lnSpc>
                <a:spcPct val="115000"/>
              </a:lnSpc>
              <a:buNone/>
            </a:pPr>
            <a:r>
              <a:rPr lang="en-US" sz="1100" dirty="0">
                <a:solidFill>
                  <a:srgbClr val="352F35"/>
                </a:solidFill>
                <a:latin typeface="Arial" pitchFamily="34" charset="0"/>
                <a:ea typeface="Arial" pitchFamily="34" charset="-122"/>
                <a:cs typeface="Arial" pitchFamily="34" charset="-120"/>
              </a:rPr>
              <a:t>A mother may log back discomfort or poor sleep several times, but nothing connects those moments together.</a:t>
            </a:r>
            <a:endParaRPr lang="en-US" sz="1100" dirty="0"/>
          </a:p>
        </p:txBody>
      </p:sp>
      <p:sp>
        <p:nvSpPr>
          <p:cNvPr id="18" name="Shape 16"/>
          <p:cNvSpPr/>
          <p:nvPr/>
        </p:nvSpPr>
        <p:spPr>
          <a:xfrm>
            <a:off x="731520" y="3840480"/>
            <a:ext cx="5166360" cy="1691640"/>
          </a:xfrm>
          <a:prstGeom prst="roundRect">
            <a:avLst>
              <a:gd name="adj" fmla="val 6486"/>
            </a:avLst>
          </a:prstGeom>
          <a:solidFill>
            <a:srgbClr val="FFFFFF"/>
          </a:solidFill>
          <a:ln w="12700">
            <a:solidFill>
              <a:srgbClr val="E9DFDC"/>
            </a:solidFill>
            <a:prstDash val="solid"/>
          </a:ln>
        </p:spPr>
      </p:sp>
      <p:sp>
        <p:nvSpPr>
          <p:cNvPr id="19" name="Shape 17"/>
          <p:cNvSpPr/>
          <p:nvPr/>
        </p:nvSpPr>
        <p:spPr>
          <a:xfrm>
            <a:off x="960120" y="4069080"/>
            <a:ext cx="365760" cy="365760"/>
          </a:xfrm>
          <a:prstGeom prst="ellipse">
            <a:avLst/>
          </a:prstGeom>
          <a:solidFill>
            <a:srgbClr val="F2E1E3"/>
          </a:solidFill>
          <a:ln w="12700">
            <a:solidFill>
              <a:srgbClr val="F2E1E3"/>
            </a:solidFill>
            <a:prstDash val="solid"/>
          </a:ln>
        </p:spPr>
      </p:sp>
      <p:sp>
        <p:nvSpPr>
          <p:cNvPr id="20" name="Text 18"/>
          <p:cNvSpPr/>
          <p:nvPr/>
        </p:nvSpPr>
        <p:spPr>
          <a:xfrm>
            <a:off x="960120" y="4069080"/>
            <a:ext cx="365760" cy="365760"/>
          </a:xfrm>
          <a:prstGeom prst="rect">
            <a:avLst/>
          </a:prstGeom>
          <a:noFill/>
          <a:ln/>
        </p:spPr>
        <p:txBody>
          <a:bodyPr wrap="square" rtlCol="0" anchor="ctr"/>
          <a:lstStyle/>
          <a:p>
            <a:pPr algn="ctr" indent="0" marL="0">
              <a:buNone/>
            </a:pPr>
            <a:r>
              <a:rPr lang="en-US" sz="1100" b="1" dirty="0">
                <a:solidFill>
                  <a:srgbClr val="9F5F6E"/>
                </a:solidFill>
              </a:rPr>
              <a:t>3</a:t>
            </a:r>
            <a:endParaRPr lang="en-US" sz="1100" dirty="0"/>
          </a:p>
        </p:txBody>
      </p:sp>
      <p:sp>
        <p:nvSpPr>
          <p:cNvPr id="21" name="Text 19"/>
          <p:cNvSpPr/>
          <p:nvPr/>
        </p:nvSpPr>
        <p:spPr>
          <a:xfrm>
            <a:off x="1417320" y="4041648"/>
            <a:ext cx="4297680" cy="365760"/>
          </a:xfrm>
          <a:prstGeom prst="rect">
            <a:avLst/>
          </a:prstGeom>
          <a:noFill/>
          <a:ln/>
        </p:spPr>
        <p:txBody>
          <a:bodyPr wrap="square" rtlCol="0" anchor="ctr"/>
          <a:lstStyle/>
          <a:p>
            <a:pPr indent="0" marL="0">
              <a:buNone/>
            </a:pPr>
            <a:r>
              <a:rPr lang="en-US" sz="1300" b="1" dirty="0">
                <a:solidFill>
                  <a:srgbClr val="352F35"/>
                </a:solidFill>
                <a:latin typeface="Arial" pitchFamily="34" charset="0"/>
                <a:ea typeface="Arial" pitchFamily="34" charset="-122"/>
                <a:cs typeface="Arial" pitchFamily="34" charset="-120"/>
              </a:rPr>
              <a:t>Delayed Clinical Action</a:t>
            </a:r>
            <a:endParaRPr lang="en-US" sz="1300" dirty="0"/>
          </a:p>
        </p:txBody>
      </p:sp>
      <p:sp>
        <p:nvSpPr>
          <p:cNvPr id="22" name="Text 20"/>
          <p:cNvSpPr/>
          <p:nvPr/>
        </p:nvSpPr>
        <p:spPr>
          <a:xfrm>
            <a:off x="960120" y="4526280"/>
            <a:ext cx="4709160" cy="914400"/>
          </a:xfrm>
          <a:prstGeom prst="rect">
            <a:avLst/>
          </a:prstGeom>
          <a:noFill/>
          <a:ln/>
        </p:spPr>
        <p:txBody>
          <a:bodyPr wrap="square" rtlCol="0" anchor="t"/>
          <a:lstStyle/>
          <a:p>
            <a:pPr indent="0" marL="0">
              <a:lnSpc>
                <a:spcPct val="115000"/>
              </a:lnSpc>
              <a:buNone/>
            </a:pPr>
            <a:r>
              <a:rPr lang="en-US" sz="1100" dirty="0">
                <a:solidFill>
                  <a:srgbClr val="352F35"/>
                </a:solidFill>
                <a:latin typeface="Arial" pitchFamily="34" charset="0"/>
                <a:ea typeface="Arial" pitchFamily="34" charset="-122"/>
                <a:cs typeface="Arial" pitchFamily="34" charset="-120"/>
              </a:rPr>
              <a:t>Without automated warning-sign checks, symptoms needing a healthcare professional can be ignored or noticed too late.</a:t>
            </a:r>
            <a:endParaRPr lang="en-US" sz="1100" dirty="0"/>
          </a:p>
        </p:txBody>
      </p:sp>
      <p:sp>
        <p:nvSpPr>
          <p:cNvPr id="23" name="Shape 21"/>
          <p:cNvSpPr/>
          <p:nvPr/>
        </p:nvSpPr>
        <p:spPr>
          <a:xfrm>
            <a:off x="6217920" y="3840480"/>
            <a:ext cx="5166360" cy="1691640"/>
          </a:xfrm>
          <a:prstGeom prst="roundRect">
            <a:avLst>
              <a:gd name="adj" fmla="val 6486"/>
            </a:avLst>
          </a:prstGeom>
          <a:solidFill>
            <a:srgbClr val="FFFFFF"/>
          </a:solidFill>
          <a:ln w="12700">
            <a:solidFill>
              <a:srgbClr val="E9DFDC"/>
            </a:solidFill>
            <a:prstDash val="solid"/>
          </a:ln>
        </p:spPr>
      </p:sp>
      <p:sp>
        <p:nvSpPr>
          <p:cNvPr id="24" name="Shape 22"/>
          <p:cNvSpPr/>
          <p:nvPr/>
        </p:nvSpPr>
        <p:spPr>
          <a:xfrm>
            <a:off x="6446520" y="4069080"/>
            <a:ext cx="365760" cy="365760"/>
          </a:xfrm>
          <a:prstGeom prst="ellipse">
            <a:avLst/>
          </a:prstGeom>
          <a:solidFill>
            <a:srgbClr val="F2E1E3"/>
          </a:solidFill>
          <a:ln w="12700">
            <a:solidFill>
              <a:srgbClr val="F2E1E3"/>
            </a:solidFill>
            <a:prstDash val="solid"/>
          </a:ln>
        </p:spPr>
      </p:sp>
      <p:sp>
        <p:nvSpPr>
          <p:cNvPr id="25" name="Text 23"/>
          <p:cNvSpPr/>
          <p:nvPr/>
        </p:nvSpPr>
        <p:spPr>
          <a:xfrm>
            <a:off x="6446520" y="4069080"/>
            <a:ext cx="365760" cy="365760"/>
          </a:xfrm>
          <a:prstGeom prst="rect">
            <a:avLst/>
          </a:prstGeom>
          <a:noFill/>
          <a:ln/>
        </p:spPr>
        <p:txBody>
          <a:bodyPr wrap="square" rtlCol="0" anchor="ctr"/>
          <a:lstStyle/>
          <a:p>
            <a:pPr algn="ctr" indent="0" marL="0">
              <a:buNone/>
            </a:pPr>
            <a:r>
              <a:rPr lang="en-US" sz="1100" b="1" dirty="0">
                <a:solidFill>
                  <a:srgbClr val="9F5F6E"/>
                </a:solidFill>
              </a:rPr>
              <a:t>4</a:t>
            </a:r>
            <a:endParaRPr lang="en-US" sz="1100" dirty="0"/>
          </a:p>
        </p:txBody>
      </p:sp>
      <p:sp>
        <p:nvSpPr>
          <p:cNvPr id="26" name="Text 24"/>
          <p:cNvSpPr/>
          <p:nvPr/>
        </p:nvSpPr>
        <p:spPr>
          <a:xfrm>
            <a:off x="6903720" y="4041648"/>
            <a:ext cx="4297680" cy="365760"/>
          </a:xfrm>
          <a:prstGeom prst="rect">
            <a:avLst/>
          </a:prstGeom>
          <a:noFill/>
          <a:ln/>
        </p:spPr>
        <p:txBody>
          <a:bodyPr wrap="square" rtlCol="0" anchor="ctr"/>
          <a:lstStyle/>
          <a:p>
            <a:pPr indent="0" marL="0">
              <a:buNone/>
            </a:pPr>
            <a:r>
              <a:rPr lang="en-US" sz="1300" b="1" dirty="0">
                <a:solidFill>
                  <a:srgbClr val="352F35"/>
                </a:solidFill>
                <a:latin typeface="Arial" pitchFamily="34" charset="0"/>
                <a:ea typeface="Arial" pitchFamily="34" charset="-122"/>
                <a:cs typeface="Arial" pitchFamily="34" charset="-120"/>
              </a:rPr>
              <a:t>Jargon &amp; Anxiety</a:t>
            </a:r>
            <a:endParaRPr lang="en-US" sz="1300" dirty="0"/>
          </a:p>
        </p:txBody>
      </p:sp>
      <p:sp>
        <p:nvSpPr>
          <p:cNvPr id="27" name="Text 25"/>
          <p:cNvSpPr/>
          <p:nvPr/>
        </p:nvSpPr>
        <p:spPr>
          <a:xfrm>
            <a:off x="6446520" y="4526280"/>
            <a:ext cx="4709160" cy="914400"/>
          </a:xfrm>
          <a:prstGeom prst="rect">
            <a:avLst/>
          </a:prstGeom>
          <a:noFill/>
          <a:ln/>
        </p:spPr>
        <p:txBody>
          <a:bodyPr wrap="square" rtlCol="0" anchor="t"/>
          <a:lstStyle/>
          <a:p>
            <a:pPr indent="0" marL="0">
              <a:lnSpc>
                <a:spcPct val="115000"/>
              </a:lnSpc>
              <a:buNone/>
            </a:pPr>
            <a:r>
              <a:rPr lang="en-US" sz="1100" dirty="0">
                <a:solidFill>
                  <a:srgbClr val="352F35"/>
                </a:solidFill>
                <a:latin typeface="Arial" pitchFamily="34" charset="0"/>
                <a:ea typeface="Arial" pitchFamily="34" charset="-122"/>
                <a:cs typeface="Arial" pitchFamily="34" charset="-120"/>
              </a:rPr>
              <a:t>Complex medical lab reports are hard to decode, and generic online searches often provoke unnecessary panic.</a:t>
            </a:r>
            <a:endParaRPr lang="en-US" sz="1100" dirty="0"/>
          </a:p>
        </p:txBody>
      </p:sp>
      <p:sp>
        <p:nvSpPr>
          <p:cNvPr id="28" name="Shape 26"/>
          <p:cNvSpPr/>
          <p:nvPr/>
        </p:nvSpPr>
        <p:spPr>
          <a:xfrm>
            <a:off x="731520" y="5715000"/>
            <a:ext cx="10652760" cy="594360"/>
          </a:xfrm>
          <a:prstGeom prst="roundRect">
            <a:avLst>
              <a:gd name="adj" fmla="val 15385"/>
            </a:avLst>
          </a:prstGeom>
          <a:solidFill>
            <a:srgbClr val="F2E1E3"/>
          </a:solidFill>
          <a:ln w="12700">
            <a:solidFill>
              <a:srgbClr val="E9DFDC"/>
            </a:solidFill>
            <a:prstDash val="solid"/>
          </a:ln>
        </p:spPr>
      </p:sp>
      <p:sp>
        <p:nvSpPr>
          <p:cNvPr id="29" name="Text 27"/>
          <p:cNvSpPr/>
          <p:nvPr/>
        </p:nvSpPr>
        <p:spPr>
          <a:xfrm>
            <a:off x="914400" y="5715000"/>
            <a:ext cx="10287000" cy="594360"/>
          </a:xfrm>
          <a:prstGeom prst="rect">
            <a:avLst/>
          </a:prstGeom>
          <a:noFill/>
          <a:ln/>
        </p:spPr>
        <p:txBody>
          <a:bodyPr wrap="square" rtlCol="0" anchor="ctr"/>
          <a:lstStyle/>
          <a:p>
            <a:pPr indent="0" marL="0">
              <a:buNone/>
            </a:pPr>
            <a:r>
              <a:rPr lang="en-US" sz="1000" b="1" dirty="0">
                <a:solidFill>
                  <a:srgbClr val="9F5F6E"/>
                </a:solidFill>
              </a:rPr>
              <a:t>CORE TAKEAWAY:  </a:t>
            </a:r>
            <a:pPr indent="0" marL="0">
              <a:buNone/>
            </a:pPr>
            <a:r>
              <a:rPr lang="en-US" sz="1050" dirty="0">
                <a:solidFill>
                  <a:srgbClr val="352F35"/>
                </a:solidFill>
              </a:rPr>
              <a:t>Expectant mothers need active pattern recognition and safety triage, not static search encyclopedias.</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CF8F6"/>
        </a:solidFill>
      </p:bgPr>
    </p:bg>
    <p:spTree>
      <p:nvGrpSpPr>
        <p:cNvPr id="1" name=""/>
        <p:cNvGrpSpPr/>
        <p:nvPr/>
      </p:nvGrpSpPr>
      <p:grpSpPr>
        <a:xfrm>
          <a:off x="0" y="0"/>
          <a:ext cx="0" cy="0"/>
          <a:chOff x="0" y="0"/>
          <a:chExt cx="0" cy="0"/>
        </a:xfrm>
      </p:grpSpPr>
      <p:sp>
        <p:nvSpPr>
          <p:cNvPr id="2" name="Shape 0"/>
          <p:cNvSpPr/>
          <p:nvPr/>
        </p:nvSpPr>
        <p:spPr>
          <a:xfrm>
            <a:off x="0" y="0"/>
            <a:ext cx="9144000" cy="91440"/>
          </a:xfrm>
          <a:prstGeom prst="rect">
            <a:avLst/>
          </a:prstGeom>
          <a:solidFill>
            <a:srgbClr val="9F5F6E"/>
          </a:solidFill>
          <a:ln w="12700">
            <a:solidFill>
              <a:srgbClr val="9F5F6E"/>
            </a:solidFill>
            <a:prstDash val="solid"/>
          </a:ln>
        </p:spPr>
      </p:sp>
      <p:sp>
        <p:nvSpPr>
          <p:cNvPr id="3" name="Shape 1"/>
          <p:cNvSpPr/>
          <p:nvPr/>
        </p:nvSpPr>
        <p:spPr>
          <a:xfrm>
            <a:off x="731520" y="320040"/>
            <a:ext cx="2011680" cy="320040"/>
          </a:xfrm>
          <a:prstGeom prst="roundRect">
            <a:avLst>
              <a:gd name="adj" fmla="val 42857"/>
            </a:avLst>
          </a:prstGeom>
          <a:solidFill>
            <a:srgbClr val="F2E1E3"/>
          </a:solidFill>
          <a:ln w="12700">
            <a:solidFill>
              <a:srgbClr val="E9DFDC"/>
            </a:solidFill>
            <a:prstDash val="solid"/>
          </a:ln>
        </p:spPr>
      </p:sp>
      <p:sp>
        <p:nvSpPr>
          <p:cNvPr id="4" name="Text 2"/>
          <p:cNvSpPr/>
          <p:nvPr/>
        </p:nvSpPr>
        <p:spPr>
          <a:xfrm>
            <a:off x="731520" y="320040"/>
            <a:ext cx="2011680" cy="320040"/>
          </a:xfrm>
          <a:prstGeom prst="rect">
            <a:avLst/>
          </a:prstGeom>
          <a:noFill/>
          <a:ln/>
        </p:spPr>
        <p:txBody>
          <a:bodyPr wrap="square" rtlCol="0" anchor="ctr"/>
          <a:lstStyle/>
          <a:p>
            <a:pPr algn="ctr" indent="0" marL="0">
              <a:buNone/>
            </a:pPr>
            <a:r>
              <a:rPr lang="en-US" sz="1000" b="1" dirty="0">
                <a:solidFill>
                  <a:srgbClr val="9F5F6E"/>
                </a:solidFill>
              </a:rPr>
              <a:t>TARGET AUDIENCE</a:t>
            </a:r>
            <a:endParaRPr lang="en-US" sz="1000" dirty="0"/>
          </a:p>
        </p:txBody>
      </p:sp>
      <p:sp>
        <p:nvSpPr>
          <p:cNvPr id="5" name="Text 3"/>
          <p:cNvSpPr/>
          <p:nvPr/>
        </p:nvSpPr>
        <p:spPr>
          <a:xfrm>
            <a:off x="9601200" y="320040"/>
            <a:ext cx="1828800" cy="320040"/>
          </a:xfrm>
          <a:prstGeom prst="rect">
            <a:avLst/>
          </a:prstGeom>
          <a:noFill/>
          <a:ln/>
        </p:spPr>
        <p:txBody>
          <a:bodyPr wrap="square" rtlCol="0" anchor="ctr"/>
          <a:lstStyle/>
          <a:p>
            <a:pPr algn="r" indent="0" marL="0">
              <a:buNone/>
            </a:pPr>
            <a:r>
              <a:rPr lang="en-US" sz="1100" dirty="0">
                <a:solidFill>
                  <a:srgbClr val="766D72"/>
                </a:solidFill>
              </a:rPr>
              <a:t>Slide 3 of 15</a:t>
            </a:r>
            <a:endParaRPr lang="en-US" sz="1100" dirty="0"/>
          </a:p>
        </p:txBody>
      </p:sp>
      <p:sp>
        <p:nvSpPr>
          <p:cNvPr id="6" name="Text 4"/>
          <p:cNvSpPr/>
          <p:nvPr/>
        </p:nvSpPr>
        <p:spPr>
          <a:xfrm>
            <a:off x="731520" y="777240"/>
            <a:ext cx="10698480" cy="640080"/>
          </a:xfrm>
          <a:prstGeom prst="rect">
            <a:avLst/>
          </a:prstGeom>
          <a:noFill/>
          <a:ln/>
        </p:spPr>
        <p:txBody>
          <a:bodyPr wrap="square" rtlCol="0" anchor="ctr"/>
          <a:lstStyle/>
          <a:p>
            <a:pPr indent="0" marL="0">
              <a:buNone/>
            </a:pPr>
            <a:r>
              <a:rPr lang="en-US" sz="2600" b="1" dirty="0">
                <a:solidFill>
                  <a:srgbClr val="352F35"/>
                </a:solidFill>
                <a:latin typeface="Arial" pitchFamily="34" charset="0"/>
                <a:ea typeface="Arial" pitchFamily="34" charset="-122"/>
                <a:cs typeface="Arial" pitchFamily="34" charset="-120"/>
              </a:rPr>
              <a:t>Who Is MomCare For?</a:t>
            </a:r>
            <a:endParaRPr lang="en-US" sz="2600" dirty="0"/>
          </a:p>
        </p:txBody>
      </p:sp>
      <p:sp>
        <p:nvSpPr>
          <p:cNvPr id="7" name="Text 5"/>
          <p:cNvSpPr/>
          <p:nvPr/>
        </p:nvSpPr>
        <p:spPr>
          <a:xfrm>
            <a:off x="731520" y="1417320"/>
            <a:ext cx="10698480" cy="411480"/>
          </a:xfrm>
          <a:prstGeom prst="rect">
            <a:avLst/>
          </a:prstGeom>
          <a:noFill/>
          <a:ln/>
        </p:spPr>
        <p:txBody>
          <a:bodyPr wrap="square" rtlCol="0" anchor="ctr"/>
          <a:lstStyle/>
          <a:p>
            <a:pPr indent="0" marL="0">
              <a:buNone/>
            </a:pPr>
            <a:r>
              <a:rPr lang="en-US" sz="1300" dirty="0">
                <a:solidFill>
                  <a:srgbClr val="9F5F6E"/>
                </a:solidFill>
                <a:latin typeface="Arial" pitchFamily="34" charset="0"/>
                <a:ea typeface="Arial" pitchFamily="34" charset="-122"/>
                <a:cs typeface="Arial" pitchFamily="34" charset="-120"/>
              </a:rPr>
              <a:t>Inclusive maternal support tailored for mothers, families, and care providers</a:t>
            </a:r>
            <a:endParaRPr lang="en-US" sz="1300" dirty="0"/>
          </a:p>
        </p:txBody>
      </p:sp>
      <p:sp>
        <p:nvSpPr>
          <p:cNvPr id="8" name="Shape 6"/>
          <p:cNvSpPr/>
          <p:nvPr/>
        </p:nvSpPr>
        <p:spPr>
          <a:xfrm>
            <a:off x="731520" y="1965960"/>
            <a:ext cx="5166360" cy="1691640"/>
          </a:xfrm>
          <a:prstGeom prst="roundRect">
            <a:avLst>
              <a:gd name="adj" fmla="val 6486"/>
            </a:avLst>
          </a:prstGeom>
          <a:solidFill>
            <a:srgbClr val="FFFFFF"/>
          </a:solidFill>
          <a:ln w="12700">
            <a:solidFill>
              <a:srgbClr val="E9DFDC"/>
            </a:solidFill>
            <a:prstDash val="solid"/>
          </a:ln>
        </p:spPr>
      </p:sp>
      <p:sp>
        <p:nvSpPr>
          <p:cNvPr id="9" name="Shape 7"/>
          <p:cNvSpPr/>
          <p:nvPr/>
        </p:nvSpPr>
        <p:spPr>
          <a:xfrm>
            <a:off x="960120" y="2194560"/>
            <a:ext cx="365760" cy="365760"/>
          </a:xfrm>
          <a:prstGeom prst="ellipse">
            <a:avLst/>
          </a:prstGeom>
          <a:solidFill>
            <a:srgbClr val="F2E1E3"/>
          </a:solidFill>
          <a:ln w="12700">
            <a:solidFill>
              <a:srgbClr val="F2E1E3"/>
            </a:solidFill>
            <a:prstDash val="solid"/>
          </a:ln>
        </p:spPr>
      </p:sp>
      <p:sp>
        <p:nvSpPr>
          <p:cNvPr id="10" name="Text 8"/>
          <p:cNvSpPr/>
          <p:nvPr/>
        </p:nvSpPr>
        <p:spPr>
          <a:xfrm>
            <a:off x="960120" y="2194560"/>
            <a:ext cx="365760" cy="365760"/>
          </a:xfrm>
          <a:prstGeom prst="rect">
            <a:avLst/>
          </a:prstGeom>
          <a:noFill/>
          <a:ln/>
        </p:spPr>
        <p:txBody>
          <a:bodyPr wrap="square" rtlCol="0" anchor="ctr"/>
          <a:lstStyle/>
          <a:p>
            <a:pPr algn="ctr" indent="0" marL="0">
              <a:buNone/>
            </a:pPr>
            <a:r>
              <a:rPr lang="en-US" sz="1100" b="1" dirty="0">
                <a:solidFill>
                  <a:srgbClr val="9F5F6E"/>
                </a:solidFill>
              </a:rPr>
              <a:t>1</a:t>
            </a:r>
            <a:endParaRPr lang="en-US" sz="1100" dirty="0"/>
          </a:p>
        </p:txBody>
      </p:sp>
      <p:sp>
        <p:nvSpPr>
          <p:cNvPr id="11" name="Text 9"/>
          <p:cNvSpPr/>
          <p:nvPr/>
        </p:nvSpPr>
        <p:spPr>
          <a:xfrm>
            <a:off x="1417320" y="2167128"/>
            <a:ext cx="4297680" cy="365760"/>
          </a:xfrm>
          <a:prstGeom prst="rect">
            <a:avLst/>
          </a:prstGeom>
          <a:noFill/>
          <a:ln/>
        </p:spPr>
        <p:txBody>
          <a:bodyPr wrap="square" rtlCol="0" anchor="ctr"/>
          <a:lstStyle/>
          <a:p>
            <a:pPr indent="0" marL="0">
              <a:buNone/>
            </a:pPr>
            <a:r>
              <a:rPr lang="en-US" sz="1300" b="1" dirty="0">
                <a:solidFill>
                  <a:srgbClr val="352F35"/>
                </a:solidFill>
                <a:latin typeface="Arial" pitchFamily="34" charset="0"/>
                <a:ea typeface="Arial" pitchFamily="34" charset="-122"/>
                <a:cs typeface="Arial" pitchFamily="34" charset="-120"/>
              </a:rPr>
              <a:t>Primary Users</a:t>
            </a:r>
            <a:endParaRPr lang="en-US" sz="1300" dirty="0"/>
          </a:p>
        </p:txBody>
      </p:sp>
      <p:sp>
        <p:nvSpPr>
          <p:cNvPr id="12" name="Text 10"/>
          <p:cNvSpPr/>
          <p:nvPr/>
        </p:nvSpPr>
        <p:spPr>
          <a:xfrm>
            <a:off x="960120" y="2651760"/>
            <a:ext cx="4709160" cy="914400"/>
          </a:xfrm>
          <a:prstGeom prst="rect">
            <a:avLst/>
          </a:prstGeom>
          <a:noFill/>
          <a:ln/>
        </p:spPr>
        <p:txBody>
          <a:bodyPr wrap="square" rtlCol="0" anchor="t"/>
          <a:lstStyle/>
          <a:p>
            <a:pPr indent="0" marL="0">
              <a:lnSpc>
                <a:spcPct val="115000"/>
              </a:lnSpc>
              <a:buNone/>
            </a:pPr>
            <a:r>
              <a:rPr lang="en-US" sz="1100" dirty="0">
                <a:solidFill>
                  <a:srgbClr val="352F35"/>
                </a:solidFill>
                <a:latin typeface="Arial" pitchFamily="34" charset="0"/>
                <a:ea typeface="Arial" pitchFamily="34" charset="-122"/>
                <a:cs typeface="Arial" pitchFamily="34" charset="-120"/>
              </a:rPr>
              <a:t>Expectant mothers who want to understand their pregnancy journey and track how they feel every single day.</a:t>
            </a:r>
            <a:endParaRPr lang="en-US" sz="1100" dirty="0"/>
          </a:p>
        </p:txBody>
      </p:sp>
      <p:sp>
        <p:nvSpPr>
          <p:cNvPr id="13" name="Shape 11"/>
          <p:cNvSpPr/>
          <p:nvPr/>
        </p:nvSpPr>
        <p:spPr>
          <a:xfrm>
            <a:off x="6217920" y="1965960"/>
            <a:ext cx="5166360" cy="1691640"/>
          </a:xfrm>
          <a:prstGeom prst="roundRect">
            <a:avLst>
              <a:gd name="adj" fmla="val 6486"/>
            </a:avLst>
          </a:prstGeom>
          <a:solidFill>
            <a:srgbClr val="FFFFFF"/>
          </a:solidFill>
          <a:ln w="12700">
            <a:solidFill>
              <a:srgbClr val="E9DFDC"/>
            </a:solidFill>
            <a:prstDash val="solid"/>
          </a:ln>
        </p:spPr>
      </p:sp>
      <p:sp>
        <p:nvSpPr>
          <p:cNvPr id="14" name="Shape 12"/>
          <p:cNvSpPr/>
          <p:nvPr/>
        </p:nvSpPr>
        <p:spPr>
          <a:xfrm>
            <a:off x="6446520" y="2194560"/>
            <a:ext cx="365760" cy="365760"/>
          </a:xfrm>
          <a:prstGeom prst="ellipse">
            <a:avLst/>
          </a:prstGeom>
          <a:solidFill>
            <a:srgbClr val="F2E1E3"/>
          </a:solidFill>
          <a:ln w="12700">
            <a:solidFill>
              <a:srgbClr val="F2E1E3"/>
            </a:solidFill>
            <a:prstDash val="solid"/>
          </a:ln>
        </p:spPr>
      </p:sp>
      <p:sp>
        <p:nvSpPr>
          <p:cNvPr id="15" name="Text 13"/>
          <p:cNvSpPr/>
          <p:nvPr/>
        </p:nvSpPr>
        <p:spPr>
          <a:xfrm>
            <a:off x="6446520" y="2194560"/>
            <a:ext cx="365760" cy="365760"/>
          </a:xfrm>
          <a:prstGeom prst="rect">
            <a:avLst/>
          </a:prstGeom>
          <a:noFill/>
          <a:ln/>
        </p:spPr>
        <p:txBody>
          <a:bodyPr wrap="square" rtlCol="0" anchor="ctr"/>
          <a:lstStyle/>
          <a:p>
            <a:pPr algn="ctr" indent="0" marL="0">
              <a:buNone/>
            </a:pPr>
            <a:r>
              <a:rPr lang="en-US" sz="1100" b="1" dirty="0">
                <a:solidFill>
                  <a:srgbClr val="9F5F6E"/>
                </a:solidFill>
              </a:rPr>
              <a:t>2</a:t>
            </a:r>
            <a:endParaRPr lang="en-US" sz="1100" dirty="0"/>
          </a:p>
        </p:txBody>
      </p:sp>
      <p:sp>
        <p:nvSpPr>
          <p:cNvPr id="16" name="Text 14"/>
          <p:cNvSpPr/>
          <p:nvPr/>
        </p:nvSpPr>
        <p:spPr>
          <a:xfrm>
            <a:off x="6903720" y="2167128"/>
            <a:ext cx="4297680" cy="365760"/>
          </a:xfrm>
          <a:prstGeom prst="rect">
            <a:avLst/>
          </a:prstGeom>
          <a:noFill/>
          <a:ln/>
        </p:spPr>
        <p:txBody>
          <a:bodyPr wrap="square" rtlCol="0" anchor="ctr"/>
          <a:lstStyle/>
          <a:p>
            <a:pPr indent="0" marL="0">
              <a:buNone/>
            </a:pPr>
            <a:r>
              <a:rPr lang="en-US" sz="1300" b="1" dirty="0">
                <a:solidFill>
                  <a:srgbClr val="352F35"/>
                </a:solidFill>
                <a:latin typeface="Arial" pitchFamily="34" charset="0"/>
                <a:ea typeface="Arial" pitchFamily="34" charset="-122"/>
                <a:cs typeface="Arial" pitchFamily="34" charset="-120"/>
              </a:rPr>
              <a:t>Secondary Users</a:t>
            </a:r>
            <a:endParaRPr lang="en-US" sz="1300" dirty="0"/>
          </a:p>
        </p:txBody>
      </p:sp>
      <p:sp>
        <p:nvSpPr>
          <p:cNvPr id="17" name="Text 15"/>
          <p:cNvSpPr/>
          <p:nvPr/>
        </p:nvSpPr>
        <p:spPr>
          <a:xfrm>
            <a:off x="6446520" y="2651760"/>
            <a:ext cx="4709160" cy="914400"/>
          </a:xfrm>
          <a:prstGeom prst="rect">
            <a:avLst/>
          </a:prstGeom>
          <a:noFill/>
          <a:ln/>
        </p:spPr>
        <p:txBody>
          <a:bodyPr wrap="square" rtlCol="0" anchor="t"/>
          <a:lstStyle/>
          <a:p>
            <a:pPr indent="0" marL="0">
              <a:lnSpc>
                <a:spcPct val="115000"/>
              </a:lnSpc>
              <a:buNone/>
            </a:pPr>
            <a:r>
              <a:rPr lang="en-US" sz="1100" dirty="0">
                <a:solidFill>
                  <a:srgbClr val="352F35"/>
                </a:solidFill>
                <a:latin typeface="Arial" pitchFamily="34" charset="0"/>
                <a:ea typeface="Arial" pitchFamily="34" charset="-122"/>
                <a:cs typeface="Arial" pitchFamily="34" charset="-120"/>
              </a:rPr>
              <a:t>Partners and family members seeking to provide empathetic, informed support throughout all trimesters.</a:t>
            </a:r>
            <a:endParaRPr lang="en-US" sz="1100" dirty="0"/>
          </a:p>
        </p:txBody>
      </p:sp>
      <p:sp>
        <p:nvSpPr>
          <p:cNvPr id="18" name="Shape 16"/>
          <p:cNvSpPr/>
          <p:nvPr/>
        </p:nvSpPr>
        <p:spPr>
          <a:xfrm>
            <a:off x="731520" y="3840480"/>
            <a:ext cx="5166360" cy="1691640"/>
          </a:xfrm>
          <a:prstGeom prst="roundRect">
            <a:avLst>
              <a:gd name="adj" fmla="val 6486"/>
            </a:avLst>
          </a:prstGeom>
          <a:solidFill>
            <a:srgbClr val="FFFFFF"/>
          </a:solidFill>
          <a:ln w="12700">
            <a:solidFill>
              <a:srgbClr val="E9DFDC"/>
            </a:solidFill>
            <a:prstDash val="solid"/>
          </a:ln>
        </p:spPr>
      </p:sp>
      <p:sp>
        <p:nvSpPr>
          <p:cNvPr id="19" name="Shape 17"/>
          <p:cNvSpPr/>
          <p:nvPr/>
        </p:nvSpPr>
        <p:spPr>
          <a:xfrm>
            <a:off x="960120" y="4069080"/>
            <a:ext cx="365760" cy="365760"/>
          </a:xfrm>
          <a:prstGeom prst="ellipse">
            <a:avLst/>
          </a:prstGeom>
          <a:solidFill>
            <a:srgbClr val="F2E1E3"/>
          </a:solidFill>
          <a:ln w="12700">
            <a:solidFill>
              <a:srgbClr val="F2E1E3"/>
            </a:solidFill>
            <a:prstDash val="solid"/>
          </a:ln>
        </p:spPr>
      </p:sp>
      <p:sp>
        <p:nvSpPr>
          <p:cNvPr id="20" name="Text 18"/>
          <p:cNvSpPr/>
          <p:nvPr/>
        </p:nvSpPr>
        <p:spPr>
          <a:xfrm>
            <a:off x="960120" y="4069080"/>
            <a:ext cx="365760" cy="365760"/>
          </a:xfrm>
          <a:prstGeom prst="rect">
            <a:avLst/>
          </a:prstGeom>
          <a:noFill/>
          <a:ln/>
        </p:spPr>
        <p:txBody>
          <a:bodyPr wrap="square" rtlCol="0" anchor="ctr"/>
          <a:lstStyle/>
          <a:p>
            <a:pPr algn="ctr" indent="0" marL="0">
              <a:buNone/>
            </a:pPr>
            <a:r>
              <a:rPr lang="en-US" sz="1100" b="1" dirty="0">
                <a:solidFill>
                  <a:srgbClr val="9F5F6E"/>
                </a:solidFill>
              </a:rPr>
              <a:t>3</a:t>
            </a:r>
            <a:endParaRPr lang="en-US" sz="1100" dirty="0"/>
          </a:p>
        </p:txBody>
      </p:sp>
      <p:sp>
        <p:nvSpPr>
          <p:cNvPr id="21" name="Text 19"/>
          <p:cNvSpPr/>
          <p:nvPr/>
        </p:nvSpPr>
        <p:spPr>
          <a:xfrm>
            <a:off x="1417320" y="4041648"/>
            <a:ext cx="4297680" cy="365760"/>
          </a:xfrm>
          <a:prstGeom prst="rect">
            <a:avLst/>
          </a:prstGeom>
          <a:noFill/>
          <a:ln/>
        </p:spPr>
        <p:txBody>
          <a:bodyPr wrap="square" rtlCol="0" anchor="ctr"/>
          <a:lstStyle/>
          <a:p>
            <a:pPr indent="0" marL="0">
              <a:buNone/>
            </a:pPr>
            <a:r>
              <a:rPr lang="en-US" sz="1300" b="1" dirty="0">
                <a:solidFill>
                  <a:srgbClr val="352F35"/>
                </a:solidFill>
                <a:latin typeface="Arial" pitchFamily="34" charset="0"/>
                <a:ea typeface="Arial" pitchFamily="34" charset="-122"/>
                <a:cs typeface="Arial" pitchFamily="34" charset="-120"/>
              </a:rPr>
              <a:t>Healthcare Providers</a:t>
            </a:r>
            <a:endParaRPr lang="en-US" sz="1300" dirty="0"/>
          </a:p>
        </p:txBody>
      </p:sp>
      <p:sp>
        <p:nvSpPr>
          <p:cNvPr id="22" name="Text 20"/>
          <p:cNvSpPr/>
          <p:nvPr/>
        </p:nvSpPr>
        <p:spPr>
          <a:xfrm>
            <a:off x="960120" y="4526280"/>
            <a:ext cx="4709160" cy="914400"/>
          </a:xfrm>
          <a:prstGeom prst="rect">
            <a:avLst/>
          </a:prstGeom>
          <a:noFill/>
          <a:ln/>
        </p:spPr>
        <p:txBody>
          <a:bodyPr wrap="square" rtlCol="0" anchor="t"/>
          <a:lstStyle/>
          <a:p>
            <a:pPr indent="0" marL="0">
              <a:lnSpc>
                <a:spcPct val="115000"/>
              </a:lnSpc>
              <a:buNone/>
            </a:pPr>
            <a:r>
              <a:rPr lang="en-US" sz="1100" dirty="0">
                <a:solidFill>
                  <a:srgbClr val="352F35"/>
                </a:solidFill>
                <a:latin typeface="Arial" pitchFamily="34" charset="0"/>
                <a:ea typeface="Arial" pitchFamily="34" charset="-122"/>
                <a:cs typeface="Arial" pitchFamily="34" charset="-120"/>
              </a:rPr>
              <a:t>Future capability: clinicians can review a concise longitudinal summary that the mother chooses to share.</a:t>
            </a:r>
            <a:endParaRPr lang="en-US" sz="1100" dirty="0"/>
          </a:p>
        </p:txBody>
      </p:sp>
      <p:sp>
        <p:nvSpPr>
          <p:cNvPr id="23" name="Shape 21"/>
          <p:cNvSpPr/>
          <p:nvPr/>
        </p:nvSpPr>
        <p:spPr>
          <a:xfrm>
            <a:off x="6217920" y="3840480"/>
            <a:ext cx="5166360" cy="1691640"/>
          </a:xfrm>
          <a:prstGeom prst="roundRect">
            <a:avLst>
              <a:gd name="adj" fmla="val 6486"/>
            </a:avLst>
          </a:prstGeom>
          <a:solidFill>
            <a:srgbClr val="FFFFFF"/>
          </a:solidFill>
          <a:ln w="12700">
            <a:solidFill>
              <a:srgbClr val="E9DFDC"/>
            </a:solidFill>
            <a:prstDash val="solid"/>
          </a:ln>
        </p:spPr>
      </p:sp>
      <p:sp>
        <p:nvSpPr>
          <p:cNvPr id="24" name="Shape 22"/>
          <p:cNvSpPr/>
          <p:nvPr/>
        </p:nvSpPr>
        <p:spPr>
          <a:xfrm>
            <a:off x="6446520" y="4069080"/>
            <a:ext cx="365760" cy="365760"/>
          </a:xfrm>
          <a:prstGeom prst="ellipse">
            <a:avLst/>
          </a:prstGeom>
          <a:solidFill>
            <a:srgbClr val="F2E1E3"/>
          </a:solidFill>
          <a:ln w="12700">
            <a:solidFill>
              <a:srgbClr val="F2E1E3"/>
            </a:solidFill>
            <a:prstDash val="solid"/>
          </a:ln>
        </p:spPr>
      </p:sp>
      <p:sp>
        <p:nvSpPr>
          <p:cNvPr id="25" name="Text 23"/>
          <p:cNvSpPr/>
          <p:nvPr/>
        </p:nvSpPr>
        <p:spPr>
          <a:xfrm>
            <a:off x="6446520" y="4069080"/>
            <a:ext cx="365760" cy="365760"/>
          </a:xfrm>
          <a:prstGeom prst="rect">
            <a:avLst/>
          </a:prstGeom>
          <a:noFill/>
          <a:ln/>
        </p:spPr>
        <p:txBody>
          <a:bodyPr wrap="square" rtlCol="0" anchor="ctr"/>
          <a:lstStyle/>
          <a:p>
            <a:pPr algn="ctr" indent="0" marL="0">
              <a:buNone/>
            </a:pPr>
            <a:r>
              <a:rPr lang="en-US" sz="1100" b="1" dirty="0">
                <a:solidFill>
                  <a:srgbClr val="9F5F6E"/>
                </a:solidFill>
              </a:rPr>
              <a:t>4</a:t>
            </a:r>
            <a:endParaRPr lang="en-US" sz="1100" dirty="0"/>
          </a:p>
        </p:txBody>
      </p:sp>
      <p:sp>
        <p:nvSpPr>
          <p:cNvPr id="26" name="Text 24"/>
          <p:cNvSpPr/>
          <p:nvPr/>
        </p:nvSpPr>
        <p:spPr>
          <a:xfrm>
            <a:off x="6903720" y="4041648"/>
            <a:ext cx="4297680" cy="365760"/>
          </a:xfrm>
          <a:prstGeom prst="rect">
            <a:avLst/>
          </a:prstGeom>
          <a:noFill/>
          <a:ln/>
        </p:spPr>
        <p:txBody>
          <a:bodyPr wrap="square" rtlCol="0" anchor="ctr"/>
          <a:lstStyle/>
          <a:p>
            <a:pPr indent="0" marL="0">
              <a:buNone/>
            </a:pPr>
            <a:r>
              <a:rPr lang="en-US" sz="1300" b="1" dirty="0">
                <a:solidFill>
                  <a:srgbClr val="352F35"/>
                </a:solidFill>
                <a:latin typeface="Arial" pitchFamily="34" charset="0"/>
                <a:ea typeface="Arial" pitchFamily="34" charset="-122"/>
                <a:cs typeface="Arial" pitchFamily="34" charset="-120"/>
              </a:rPr>
              <a:t>Inclusive &amp; Accessible</a:t>
            </a:r>
            <a:endParaRPr lang="en-US" sz="1300" dirty="0"/>
          </a:p>
        </p:txBody>
      </p:sp>
      <p:sp>
        <p:nvSpPr>
          <p:cNvPr id="27" name="Text 25"/>
          <p:cNvSpPr/>
          <p:nvPr/>
        </p:nvSpPr>
        <p:spPr>
          <a:xfrm>
            <a:off x="6446520" y="4526280"/>
            <a:ext cx="4709160" cy="914400"/>
          </a:xfrm>
          <a:prstGeom prst="rect">
            <a:avLst/>
          </a:prstGeom>
          <a:noFill/>
          <a:ln/>
        </p:spPr>
        <p:txBody>
          <a:bodyPr wrap="square" rtlCol="0" anchor="t"/>
          <a:lstStyle/>
          <a:p>
            <a:pPr indent="0" marL="0">
              <a:lnSpc>
                <a:spcPct val="115000"/>
              </a:lnSpc>
              <a:buNone/>
            </a:pPr>
            <a:r>
              <a:rPr lang="en-US" sz="1100" dirty="0">
                <a:solidFill>
                  <a:srgbClr val="352F35"/>
                </a:solidFill>
                <a:latin typeface="Arial" pitchFamily="34" charset="0"/>
                <a:ea typeface="Arial" pitchFamily="34" charset="-122"/>
                <a:cs typeface="Arial" pitchFamily="34" charset="-120"/>
              </a:rPr>
              <a:t>Non-technical design: large readable typography, calm palette, and planned multi-language support (English, Tamil, Telugu, Kannada, Hindi).</a:t>
            </a:r>
            <a:endParaRPr lang="en-US" sz="1100" dirty="0"/>
          </a:p>
        </p:txBody>
      </p:sp>
      <p:sp>
        <p:nvSpPr>
          <p:cNvPr id="28" name="Shape 26"/>
          <p:cNvSpPr/>
          <p:nvPr/>
        </p:nvSpPr>
        <p:spPr>
          <a:xfrm>
            <a:off x="731520" y="5715000"/>
            <a:ext cx="10652760" cy="594360"/>
          </a:xfrm>
          <a:prstGeom prst="roundRect">
            <a:avLst>
              <a:gd name="adj" fmla="val 15385"/>
            </a:avLst>
          </a:prstGeom>
          <a:solidFill>
            <a:srgbClr val="F2E1E3"/>
          </a:solidFill>
          <a:ln w="12700">
            <a:solidFill>
              <a:srgbClr val="E9DFDC"/>
            </a:solidFill>
            <a:prstDash val="solid"/>
          </a:ln>
        </p:spPr>
      </p:sp>
      <p:sp>
        <p:nvSpPr>
          <p:cNvPr id="29" name="Text 27"/>
          <p:cNvSpPr/>
          <p:nvPr/>
        </p:nvSpPr>
        <p:spPr>
          <a:xfrm>
            <a:off x="914400" y="5715000"/>
            <a:ext cx="10287000" cy="594360"/>
          </a:xfrm>
          <a:prstGeom prst="rect">
            <a:avLst/>
          </a:prstGeom>
          <a:noFill/>
          <a:ln/>
        </p:spPr>
        <p:txBody>
          <a:bodyPr wrap="square" rtlCol="0" anchor="ctr"/>
          <a:lstStyle/>
          <a:p>
            <a:pPr indent="0" marL="0">
              <a:buNone/>
            </a:pPr>
            <a:r>
              <a:rPr lang="en-US" sz="1000" b="1" dirty="0">
                <a:solidFill>
                  <a:srgbClr val="9F5F6E"/>
                </a:solidFill>
              </a:rPr>
              <a:t>CORE TAKEAWAY:  </a:t>
            </a:r>
            <a:pPr indent="0" marL="0">
              <a:buNone/>
            </a:pPr>
            <a:r>
              <a:rPr lang="en-US" sz="1050" dirty="0">
                <a:solidFill>
                  <a:srgbClr val="352F35"/>
                </a:solidFill>
              </a:rPr>
              <a:t>MomCare does not replace a doctor, nurse, or emergency room; it helps mothers notice changes and reach the right professional sooner.</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CF8F6"/>
        </a:solidFill>
      </p:bgPr>
    </p:bg>
    <p:spTree>
      <p:nvGrpSpPr>
        <p:cNvPr id="1" name=""/>
        <p:cNvGrpSpPr/>
        <p:nvPr/>
      </p:nvGrpSpPr>
      <p:grpSpPr>
        <a:xfrm>
          <a:off x="0" y="0"/>
          <a:ext cx="0" cy="0"/>
          <a:chOff x="0" y="0"/>
          <a:chExt cx="0" cy="0"/>
        </a:xfrm>
      </p:grpSpPr>
      <p:sp>
        <p:nvSpPr>
          <p:cNvPr id="2" name="Shape 0"/>
          <p:cNvSpPr/>
          <p:nvPr/>
        </p:nvSpPr>
        <p:spPr>
          <a:xfrm>
            <a:off x="0" y="0"/>
            <a:ext cx="9144000" cy="91440"/>
          </a:xfrm>
          <a:prstGeom prst="rect">
            <a:avLst/>
          </a:prstGeom>
          <a:solidFill>
            <a:srgbClr val="9F5F6E"/>
          </a:solidFill>
          <a:ln w="12700">
            <a:solidFill>
              <a:srgbClr val="9F5F6E"/>
            </a:solidFill>
            <a:prstDash val="solid"/>
          </a:ln>
        </p:spPr>
      </p:sp>
      <p:sp>
        <p:nvSpPr>
          <p:cNvPr id="3" name="Shape 1"/>
          <p:cNvSpPr/>
          <p:nvPr/>
        </p:nvSpPr>
        <p:spPr>
          <a:xfrm>
            <a:off x="731520" y="320040"/>
            <a:ext cx="2011680" cy="320040"/>
          </a:xfrm>
          <a:prstGeom prst="roundRect">
            <a:avLst>
              <a:gd name="adj" fmla="val 42857"/>
            </a:avLst>
          </a:prstGeom>
          <a:solidFill>
            <a:srgbClr val="F2E1E3"/>
          </a:solidFill>
          <a:ln w="12700">
            <a:solidFill>
              <a:srgbClr val="E9DFDC"/>
            </a:solidFill>
            <a:prstDash val="solid"/>
          </a:ln>
        </p:spPr>
      </p:sp>
      <p:sp>
        <p:nvSpPr>
          <p:cNvPr id="4" name="Text 2"/>
          <p:cNvSpPr/>
          <p:nvPr/>
        </p:nvSpPr>
        <p:spPr>
          <a:xfrm>
            <a:off x="731520" y="320040"/>
            <a:ext cx="2011680" cy="320040"/>
          </a:xfrm>
          <a:prstGeom prst="rect">
            <a:avLst/>
          </a:prstGeom>
          <a:noFill/>
          <a:ln/>
        </p:spPr>
        <p:txBody>
          <a:bodyPr wrap="square" rtlCol="0" anchor="ctr"/>
          <a:lstStyle/>
          <a:p>
            <a:pPr algn="ctr" indent="0" marL="0">
              <a:buNone/>
            </a:pPr>
            <a:r>
              <a:rPr lang="en-US" sz="1000" b="1" dirty="0">
                <a:solidFill>
                  <a:srgbClr val="9F5F6E"/>
                </a:solidFill>
              </a:rPr>
              <a:t>PRODUCT SOLUTION</a:t>
            </a:r>
            <a:endParaRPr lang="en-US" sz="1000" dirty="0"/>
          </a:p>
        </p:txBody>
      </p:sp>
      <p:sp>
        <p:nvSpPr>
          <p:cNvPr id="5" name="Text 3"/>
          <p:cNvSpPr/>
          <p:nvPr/>
        </p:nvSpPr>
        <p:spPr>
          <a:xfrm>
            <a:off x="9601200" y="320040"/>
            <a:ext cx="1828800" cy="320040"/>
          </a:xfrm>
          <a:prstGeom prst="rect">
            <a:avLst/>
          </a:prstGeom>
          <a:noFill/>
          <a:ln/>
        </p:spPr>
        <p:txBody>
          <a:bodyPr wrap="square" rtlCol="0" anchor="ctr"/>
          <a:lstStyle/>
          <a:p>
            <a:pPr algn="r" indent="0" marL="0">
              <a:buNone/>
            </a:pPr>
            <a:r>
              <a:rPr lang="en-US" sz="1100" dirty="0">
                <a:solidFill>
                  <a:srgbClr val="766D72"/>
                </a:solidFill>
              </a:rPr>
              <a:t>Slide 4 of 15</a:t>
            </a:r>
            <a:endParaRPr lang="en-US" sz="1100" dirty="0"/>
          </a:p>
        </p:txBody>
      </p:sp>
      <p:sp>
        <p:nvSpPr>
          <p:cNvPr id="6" name="Text 4"/>
          <p:cNvSpPr/>
          <p:nvPr/>
        </p:nvSpPr>
        <p:spPr>
          <a:xfrm>
            <a:off x="731520" y="777240"/>
            <a:ext cx="10698480" cy="640080"/>
          </a:xfrm>
          <a:prstGeom prst="rect">
            <a:avLst/>
          </a:prstGeom>
          <a:noFill/>
          <a:ln/>
        </p:spPr>
        <p:txBody>
          <a:bodyPr wrap="square" rtlCol="0" anchor="ctr"/>
          <a:lstStyle/>
          <a:p>
            <a:pPr indent="0" marL="0">
              <a:buNone/>
            </a:pPr>
            <a:r>
              <a:rPr lang="en-US" sz="2600" b="1" dirty="0">
                <a:solidFill>
                  <a:srgbClr val="352F35"/>
                </a:solidFill>
                <a:latin typeface="Arial" pitchFamily="34" charset="0"/>
                <a:ea typeface="Arial" pitchFamily="34" charset="-122"/>
                <a:cs typeface="Arial" pitchFamily="34" charset="-120"/>
              </a:rPr>
              <a:t>Our Solution</a:t>
            </a:r>
            <a:endParaRPr lang="en-US" sz="2600" dirty="0"/>
          </a:p>
        </p:txBody>
      </p:sp>
      <p:sp>
        <p:nvSpPr>
          <p:cNvPr id="7" name="Text 5"/>
          <p:cNvSpPr/>
          <p:nvPr/>
        </p:nvSpPr>
        <p:spPr>
          <a:xfrm>
            <a:off x="731520" y="1417320"/>
            <a:ext cx="10698480" cy="411480"/>
          </a:xfrm>
          <a:prstGeom prst="rect">
            <a:avLst/>
          </a:prstGeom>
          <a:noFill/>
          <a:ln/>
        </p:spPr>
        <p:txBody>
          <a:bodyPr wrap="square" rtlCol="0" anchor="ctr"/>
          <a:lstStyle/>
          <a:p>
            <a:pPr indent="0" marL="0">
              <a:buNone/>
            </a:pPr>
            <a:r>
              <a:rPr lang="en-US" sz="1300" dirty="0">
                <a:solidFill>
                  <a:srgbClr val="9F5F6E"/>
                </a:solidFill>
                <a:latin typeface="Arial" pitchFamily="34" charset="0"/>
                <a:ea typeface="Arial" pitchFamily="34" charset="-122"/>
                <a:cs typeface="Arial" pitchFamily="34" charset="-120"/>
              </a:rPr>
              <a:t>A personal pregnancy companion with four tightly connected pillars</a:t>
            </a:r>
            <a:endParaRPr lang="en-US" sz="1300" dirty="0"/>
          </a:p>
        </p:txBody>
      </p:sp>
      <p:sp>
        <p:nvSpPr>
          <p:cNvPr id="8" name="Shape 6"/>
          <p:cNvSpPr/>
          <p:nvPr/>
        </p:nvSpPr>
        <p:spPr>
          <a:xfrm>
            <a:off x="731520" y="1965960"/>
            <a:ext cx="5166360" cy="1691640"/>
          </a:xfrm>
          <a:prstGeom prst="roundRect">
            <a:avLst>
              <a:gd name="adj" fmla="val 6486"/>
            </a:avLst>
          </a:prstGeom>
          <a:solidFill>
            <a:srgbClr val="FFFFFF"/>
          </a:solidFill>
          <a:ln w="12700">
            <a:solidFill>
              <a:srgbClr val="E9DFDC"/>
            </a:solidFill>
            <a:prstDash val="solid"/>
          </a:ln>
        </p:spPr>
      </p:sp>
      <p:sp>
        <p:nvSpPr>
          <p:cNvPr id="9" name="Shape 7"/>
          <p:cNvSpPr/>
          <p:nvPr/>
        </p:nvSpPr>
        <p:spPr>
          <a:xfrm>
            <a:off x="960120" y="2194560"/>
            <a:ext cx="365760" cy="365760"/>
          </a:xfrm>
          <a:prstGeom prst="ellipse">
            <a:avLst/>
          </a:prstGeom>
          <a:solidFill>
            <a:srgbClr val="F2E1E3"/>
          </a:solidFill>
          <a:ln w="12700">
            <a:solidFill>
              <a:srgbClr val="F2E1E3"/>
            </a:solidFill>
            <a:prstDash val="solid"/>
          </a:ln>
        </p:spPr>
      </p:sp>
      <p:sp>
        <p:nvSpPr>
          <p:cNvPr id="10" name="Text 8"/>
          <p:cNvSpPr/>
          <p:nvPr/>
        </p:nvSpPr>
        <p:spPr>
          <a:xfrm>
            <a:off x="960120" y="2194560"/>
            <a:ext cx="365760" cy="365760"/>
          </a:xfrm>
          <a:prstGeom prst="rect">
            <a:avLst/>
          </a:prstGeom>
          <a:noFill/>
          <a:ln/>
        </p:spPr>
        <p:txBody>
          <a:bodyPr wrap="square" rtlCol="0" anchor="ctr"/>
          <a:lstStyle/>
          <a:p>
            <a:pPr algn="ctr" indent="0" marL="0">
              <a:buNone/>
            </a:pPr>
            <a:r>
              <a:rPr lang="en-US" sz="1100" b="1" dirty="0">
                <a:solidFill>
                  <a:srgbClr val="9F5F6E"/>
                </a:solidFill>
              </a:rPr>
              <a:t>1</a:t>
            </a:r>
            <a:endParaRPr lang="en-US" sz="1100" dirty="0"/>
          </a:p>
        </p:txBody>
      </p:sp>
      <p:sp>
        <p:nvSpPr>
          <p:cNvPr id="11" name="Text 9"/>
          <p:cNvSpPr/>
          <p:nvPr/>
        </p:nvSpPr>
        <p:spPr>
          <a:xfrm>
            <a:off x="1417320" y="2167128"/>
            <a:ext cx="4297680" cy="365760"/>
          </a:xfrm>
          <a:prstGeom prst="rect">
            <a:avLst/>
          </a:prstGeom>
          <a:noFill/>
          <a:ln/>
        </p:spPr>
        <p:txBody>
          <a:bodyPr wrap="square" rtlCol="0" anchor="ctr"/>
          <a:lstStyle/>
          <a:p>
            <a:pPr indent="0" marL="0">
              <a:buNone/>
            </a:pPr>
            <a:r>
              <a:rPr lang="en-US" sz="1300" b="1" dirty="0">
                <a:solidFill>
                  <a:srgbClr val="352F35"/>
                </a:solidFill>
                <a:latin typeface="Arial" pitchFamily="34" charset="0"/>
                <a:ea typeface="Arial" pitchFamily="34" charset="-122"/>
                <a:cs typeface="Arial" pitchFamily="34" charset="-120"/>
              </a:rPr>
              <a:t>Mother Profile &amp; Daily Check-in</a:t>
            </a:r>
            <a:endParaRPr lang="en-US" sz="1300" dirty="0"/>
          </a:p>
        </p:txBody>
      </p:sp>
      <p:sp>
        <p:nvSpPr>
          <p:cNvPr id="12" name="Text 10"/>
          <p:cNvSpPr/>
          <p:nvPr/>
        </p:nvSpPr>
        <p:spPr>
          <a:xfrm>
            <a:off x="960120" y="2651760"/>
            <a:ext cx="4709160" cy="914400"/>
          </a:xfrm>
          <a:prstGeom prst="rect">
            <a:avLst/>
          </a:prstGeom>
          <a:noFill/>
          <a:ln/>
        </p:spPr>
        <p:txBody>
          <a:bodyPr wrap="square" rtlCol="0" anchor="t"/>
          <a:lstStyle/>
          <a:p>
            <a:pPr indent="0" marL="0">
              <a:lnSpc>
                <a:spcPct val="115000"/>
              </a:lnSpc>
              <a:buNone/>
            </a:pPr>
            <a:r>
              <a:rPr lang="en-US" sz="1100" dirty="0">
                <a:solidFill>
                  <a:srgbClr val="352F35"/>
                </a:solidFill>
                <a:latin typeface="Arial" pitchFamily="34" charset="0"/>
                <a:ea typeface="Arial" pitchFamily="34" charset="-122"/>
                <a:cs typeface="Arial" pitchFamily="34" charset="-120"/>
              </a:rPr>
              <a:t>Captures daily mood, energy, sleep hours, baby movements, bodily discomfort locations, and symptoms.</a:t>
            </a:r>
            <a:endParaRPr lang="en-US" sz="1100" dirty="0"/>
          </a:p>
        </p:txBody>
      </p:sp>
      <p:sp>
        <p:nvSpPr>
          <p:cNvPr id="13" name="Shape 11"/>
          <p:cNvSpPr/>
          <p:nvPr/>
        </p:nvSpPr>
        <p:spPr>
          <a:xfrm>
            <a:off x="6217920" y="1965960"/>
            <a:ext cx="5166360" cy="1691640"/>
          </a:xfrm>
          <a:prstGeom prst="roundRect">
            <a:avLst>
              <a:gd name="adj" fmla="val 6486"/>
            </a:avLst>
          </a:prstGeom>
          <a:solidFill>
            <a:srgbClr val="FFFFFF"/>
          </a:solidFill>
          <a:ln w="12700">
            <a:solidFill>
              <a:srgbClr val="E9DFDC"/>
            </a:solidFill>
            <a:prstDash val="solid"/>
          </a:ln>
        </p:spPr>
      </p:sp>
      <p:sp>
        <p:nvSpPr>
          <p:cNvPr id="14" name="Shape 12"/>
          <p:cNvSpPr/>
          <p:nvPr/>
        </p:nvSpPr>
        <p:spPr>
          <a:xfrm>
            <a:off x="6446520" y="2194560"/>
            <a:ext cx="365760" cy="365760"/>
          </a:xfrm>
          <a:prstGeom prst="ellipse">
            <a:avLst/>
          </a:prstGeom>
          <a:solidFill>
            <a:srgbClr val="F2E1E3"/>
          </a:solidFill>
          <a:ln w="12700">
            <a:solidFill>
              <a:srgbClr val="F2E1E3"/>
            </a:solidFill>
            <a:prstDash val="solid"/>
          </a:ln>
        </p:spPr>
      </p:sp>
      <p:sp>
        <p:nvSpPr>
          <p:cNvPr id="15" name="Text 13"/>
          <p:cNvSpPr/>
          <p:nvPr/>
        </p:nvSpPr>
        <p:spPr>
          <a:xfrm>
            <a:off x="6446520" y="2194560"/>
            <a:ext cx="365760" cy="365760"/>
          </a:xfrm>
          <a:prstGeom prst="rect">
            <a:avLst/>
          </a:prstGeom>
          <a:noFill/>
          <a:ln/>
        </p:spPr>
        <p:txBody>
          <a:bodyPr wrap="square" rtlCol="0" anchor="ctr"/>
          <a:lstStyle/>
          <a:p>
            <a:pPr algn="ctr" indent="0" marL="0">
              <a:buNone/>
            </a:pPr>
            <a:r>
              <a:rPr lang="en-US" sz="1100" b="1" dirty="0">
                <a:solidFill>
                  <a:srgbClr val="9F5F6E"/>
                </a:solidFill>
              </a:rPr>
              <a:t>2</a:t>
            </a:r>
            <a:endParaRPr lang="en-US" sz="1100" dirty="0"/>
          </a:p>
        </p:txBody>
      </p:sp>
      <p:sp>
        <p:nvSpPr>
          <p:cNvPr id="16" name="Text 14"/>
          <p:cNvSpPr/>
          <p:nvPr/>
        </p:nvSpPr>
        <p:spPr>
          <a:xfrm>
            <a:off x="6903720" y="2167128"/>
            <a:ext cx="4297680" cy="365760"/>
          </a:xfrm>
          <a:prstGeom prst="rect">
            <a:avLst/>
          </a:prstGeom>
          <a:noFill/>
          <a:ln/>
        </p:spPr>
        <p:txBody>
          <a:bodyPr wrap="square" rtlCol="0" anchor="ctr"/>
          <a:lstStyle/>
          <a:p>
            <a:pPr indent="0" marL="0">
              <a:buNone/>
            </a:pPr>
            <a:r>
              <a:rPr lang="en-US" sz="1300" b="1" dirty="0">
                <a:solidFill>
                  <a:srgbClr val="352F35"/>
                </a:solidFill>
                <a:latin typeface="Arial" pitchFamily="34" charset="0"/>
                <a:ea typeface="Arial" pitchFamily="34" charset="-122"/>
                <a:cs typeface="Arial" pitchFamily="34" charset="-120"/>
              </a:rPr>
              <a:t>Safety Triage Engine</a:t>
            </a:r>
            <a:endParaRPr lang="en-US" sz="1300" dirty="0"/>
          </a:p>
        </p:txBody>
      </p:sp>
      <p:sp>
        <p:nvSpPr>
          <p:cNvPr id="17" name="Text 15"/>
          <p:cNvSpPr/>
          <p:nvPr/>
        </p:nvSpPr>
        <p:spPr>
          <a:xfrm>
            <a:off x="6446520" y="2651760"/>
            <a:ext cx="4709160" cy="914400"/>
          </a:xfrm>
          <a:prstGeom prst="rect">
            <a:avLst/>
          </a:prstGeom>
          <a:noFill/>
          <a:ln/>
        </p:spPr>
        <p:txBody>
          <a:bodyPr wrap="square" rtlCol="0" anchor="t"/>
          <a:lstStyle/>
          <a:p>
            <a:pPr indent="0" marL="0">
              <a:lnSpc>
                <a:spcPct val="115000"/>
              </a:lnSpc>
              <a:buNone/>
            </a:pPr>
            <a:r>
              <a:rPr lang="en-US" sz="1100" dirty="0">
                <a:solidFill>
                  <a:srgbClr val="352F35"/>
                </a:solidFill>
                <a:latin typeface="Arial" pitchFamily="34" charset="0"/>
                <a:ea typeface="Arial" pitchFamily="34" charset="-122"/>
                <a:cs typeface="Arial" pitchFamily="34" charset="-120"/>
              </a:rPr>
              <a:t>Automated clinical safety check evaluates red-flag warning signs before anything else occurs.</a:t>
            </a:r>
            <a:endParaRPr lang="en-US" sz="1100" dirty="0"/>
          </a:p>
        </p:txBody>
      </p:sp>
      <p:sp>
        <p:nvSpPr>
          <p:cNvPr id="18" name="Shape 16"/>
          <p:cNvSpPr/>
          <p:nvPr/>
        </p:nvSpPr>
        <p:spPr>
          <a:xfrm>
            <a:off x="731520" y="3840480"/>
            <a:ext cx="5166360" cy="1691640"/>
          </a:xfrm>
          <a:prstGeom prst="roundRect">
            <a:avLst>
              <a:gd name="adj" fmla="val 6486"/>
            </a:avLst>
          </a:prstGeom>
          <a:solidFill>
            <a:srgbClr val="FFFFFF"/>
          </a:solidFill>
          <a:ln w="12700">
            <a:solidFill>
              <a:srgbClr val="E9DFDC"/>
            </a:solidFill>
            <a:prstDash val="solid"/>
          </a:ln>
        </p:spPr>
      </p:sp>
      <p:sp>
        <p:nvSpPr>
          <p:cNvPr id="19" name="Shape 17"/>
          <p:cNvSpPr/>
          <p:nvPr/>
        </p:nvSpPr>
        <p:spPr>
          <a:xfrm>
            <a:off x="960120" y="4069080"/>
            <a:ext cx="365760" cy="365760"/>
          </a:xfrm>
          <a:prstGeom prst="ellipse">
            <a:avLst/>
          </a:prstGeom>
          <a:solidFill>
            <a:srgbClr val="F2E1E3"/>
          </a:solidFill>
          <a:ln w="12700">
            <a:solidFill>
              <a:srgbClr val="F2E1E3"/>
            </a:solidFill>
            <a:prstDash val="solid"/>
          </a:ln>
        </p:spPr>
      </p:sp>
      <p:sp>
        <p:nvSpPr>
          <p:cNvPr id="20" name="Text 18"/>
          <p:cNvSpPr/>
          <p:nvPr/>
        </p:nvSpPr>
        <p:spPr>
          <a:xfrm>
            <a:off x="960120" y="4069080"/>
            <a:ext cx="365760" cy="365760"/>
          </a:xfrm>
          <a:prstGeom prst="rect">
            <a:avLst/>
          </a:prstGeom>
          <a:noFill/>
          <a:ln/>
        </p:spPr>
        <p:txBody>
          <a:bodyPr wrap="square" rtlCol="0" anchor="ctr"/>
          <a:lstStyle/>
          <a:p>
            <a:pPr algn="ctr" indent="0" marL="0">
              <a:buNone/>
            </a:pPr>
            <a:r>
              <a:rPr lang="en-US" sz="1100" b="1" dirty="0">
                <a:solidFill>
                  <a:srgbClr val="9F5F6E"/>
                </a:solidFill>
              </a:rPr>
              <a:t>3</a:t>
            </a:r>
            <a:endParaRPr lang="en-US" sz="1100" dirty="0"/>
          </a:p>
        </p:txBody>
      </p:sp>
      <p:sp>
        <p:nvSpPr>
          <p:cNvPr id="21" name="Text 19"/>
          <p:cNvSpPr/>
          <p:nvPr/>
        </p:nvSpPr>
        <p:spPr>
          <a:xfrm>
            <a:off x="1417320" y="4041648"/>
            <a:ext cx="4297680" cy="365760"/>
          </a:xfrm>
          <a:prstGeom prst="rect">
            <a:avLst/>
          </a:prstGeom>
          <a:noFill/>
          <a:ln/>
        </p:spPr>
        <p:txBody>
          <a:bodyPr wrap="square" rtlCol="0" anchor="ctr"/>
          <a:lstStyle/>
          <a:p>
            <a:pPr indent="0" marL="0">
              <a:buNone/>
            </a:pPr>
            <a:r>
              <a:rPr lang="en-US" sz="1300" b="1" dirty="0">
                <a:solidFill>
                  <a:srgbClr val="352F35"/>
                </a:solidFill>
                <a:latin typeface="Arial" pitchFamily="34" charset="0"/>
                <a:ea typeface="Arial" pitchFamily="34" charset="-122"/>
                <a:cs typeface="Arial" pitchFamily="34" charset="-120"/>
              </a:rPr>
              <a:t>Contextual AI Assistant</a:t>
            </a:r>
            <a:endParaRPr lang="en-US" sz="1300" dirty="0"/>
          </a:p>
        </p:txBody>
      </p:sp>
      <p:sp>
        <p:nvSpPr>
          <p:cNvPr id="22" name="Text 20"/>
          <p:cNvSpPr/>
          <p:nvPr/>
        </p:nvSpPr>
        <p:spPr>
          <a:xfrm>
            <a:off x="960120" y="4526280"/>
            <a:ext cx="4709160" cy="914400"/>
          </a:xfrm>
          <a:prstGeom prst="rect">
            <a:avLst/>
          </a:prstGeom>
          <a:noFill/>
          <a:ln/>
        </p:spPr>
        <p:txBody>
          <a:bodyPr wrap="square" rtlCol="0" anchor="t"/>
          <a:lstStyle/>
          <a:p>
            <a:pPr indent="0" marL="0">
              <a:lnSpc>
                <a:spcPct val="115000"/>
              </a:lnSpc>
              <a:buNone/>
            </a:pPr>
            <a:r>
              <a:rPr lang="en-US" sz="1100" dirty="0">
                <a:solidFill>
                  <a:srgbClr val="352F35"/>
                </a:solidFill>
                <a:latin typeface="Arial" pitchFamily="34" charset="0"/>
                <a:ea typeface="Arial" pitchFamily="34" charset="-122"/>
                <a:cs typeface="Arial" pitchFamily="34" charset="-120"/>
              </a:rPr>
              <a:t>Maintains awareness of gestational week, recent check-ins, medical baseline, and conversation context.</a:t>
            </a:r>
            <a:endParaRPr lang="en-US" sz="1100" dirty="0"/>
          </a:p>
        </p:txBody>
      </p:sp>
      <p:sp>
        <p:nvSpPr>
          <p:cNvPr id="23" name="Shape 21"/>
          <p:cNvSpPr/>
          <p:nvPr/>
        </p:nvSpPr>
        <p:spPr>
          <a:xfrm>
            <a:off x="6217920" y="3840480"/>
            <a:ext cx="5166360" cy="1691640"/>
          </a:xfrm>
          <a:prstGeom prst="roundRect">
            <a:avLst>
              <a:gd name="adj" fmla="val 6486"/>
            </a:avLst>
          </a:prstGeom>
          <a:solidFill>
            <a:srgbClr val="FFFFFF"/>
          </a:solidFill>
          <a:ln w="12700">
            <a:solidFill>
              <a:srgbClr val="E9DFDC"/>
            </a:solidFill>
            <a:prstDash val="solid"/>
          </a:ln>
        </p:spPr>
      </p:sp>
      <p:sp>
        <p:nvSpPr>
          <p:cNvPr id="24" name="Shape 22"/>
          <p:cNvSpPr/>
          <p:nvPr/>
        </p:nvSpPr>
        <p:spPr>
          <a:xfrm>
            <a:off x="6446520" y="4069080"/>
            <a:ext cx="365760" cy="365760"/>
          </a:xfrm>
          <a:prstGeom prst="ellipse">
            <a:avLst/>
          </a:prstGeom>
          <a:solidFill>
            <a:srgbClr val="F2E1E3"/>
          </a:solidFill>
          <a:ln w="12700">
            <a:solidFill>
              <a:srgbClr val="F2E1E3"/>
            </a:solidFill>
            <a:prstDash val="solid"/>
          </a:ln>
        </p:spPr>
      </p:sp>
      <p:sp>
        <p:nvSpPr>
          <p:cNvPr id="25" name="Text 23"/>
          <p:cNvSpPr/>
          <p:nvPr/>
        </p:nvSpPr>
        <p:spPr>
          <a:xfrm>
            <a:off x="6446520" y="4069080"/>
            <a:ext cx="365760" cy="365760"/>
          </a:xfrm>
          <a:prstGeom prst="rect">
            <a:avLst/>
          </a:prstGeom>
          <a:noFill/>
          <a:ln/>
        </p:spPr>
        <p:txBody>
          <a:bodyPr wrap="square" rtlCol="0" anchor="ctr"/>
          <a:lstStyle/>
          <a:p>
            <a:pPr algn="ctr" indent="0" marL="0">
              <a:buNone/>
            </a:pPr>
            <a:r>
              <a:rPr lang="en-US" sz="1100" b="1" dirty="0">
                <a:solidFill>
                  <a:srgbClr val="9F5F6E"/>
                </a:solidFill>
              </a:rPr>
              <a:t>4</a:t>
            </a:r>
            <a:endParaRPr lang="en-US" sz="1100" dirty="0"/>
          </a:p>
        </p:txBody>
      </p:sp>
      <p:sp>
        <p:nvSpPr>
          <p:cNvPr id="26" name="Text 24"/>
          <p:cNvSpPr/>
          <p:nvPr/>
        </p:nvSpPr>
        <p:spPr>
          <a:xfrm>
            <a:off x="6903720" y="4041648"/>
            <a:ext cx="4297680" cy="365760"/>
          </a:xfrm>
          <a:prstGeom prst="rect">
            <a:avLst/>
          </a:prstGeom>
          <a:noFill/>
          <a:ln/>
        </p:spPr>
        <p:txBody>
          <a:bodyPr wrap="square" rtlCol="0" anchor="ctr"/>
          <a:lstStyle/>
          <a:p>
            <a:pPr indent="0" marL="0">
              <a:buNone/>
            </a:pPr>
            <a:r>
              <a:rPr lang="en-US" sz="1300" b="1" dirty="0">
                <a:solidFill>
                  <a:srgbClr val="352F35"/>
                </a:solidFill>
                <a:latin typeface="Arial" pitchFamily="34" charset="0"/>
                <a:ea typeface="Arial" pitchFamily="34" charset="-122"/>
                <a:cs typeface="Arial" pitchFamily="34" charset="-120"/>
              </a:rPr>
              <a:t>Intelligent Pattern Analysis</a:t>
            </a:r>
            <a:endParaRPr lang="en-US" sz="1300" dirty="0"/>
          </a:p>
        </p:txBody>
      </p:sp>
      <p:sp>
        <p:nvSpPr>
          <p:cNvPr id="27" name="Text 25"/>
          <p:cNvSpPr/>
          <p:nvPr/>
        </p:nvSpPr>
        <p:spPr>
          <a:xfrm>
            <a:off x="6446520" y="4526280"/>
            <a:ext cx="4709160" cy="914400"/>
          </a:xfrm>
          <a:prstGeom prst="rect">
            <a:avLst/>
          </a:prstGeom>
          <a:noFill/>
          <a:ln/>
        </p:spPr>
        <p:txBody>
          <a:bodyPr wrap="square" rtlCol="0" anchor="t"/>
          <a:lstStyle/>
          <a:p>
            <a:pPr indent="0" marL="0">
              <a:lnSpc>
                <a:spcPct val="115000"/>
              </a:lnSpc>
              <a:buNone/>
            </a:pPr>
            <a:r>
              <a:rPr lang="en-US" sz="1100" dirty="0">
                <a:solidFill>
                  <a:srgbClr val="352F35"/>
                </a:solidFill>
                <a:latin typeface="Arial" pitchFamily="34" charset="0"/>
                <a:ea typeface="Arial" pitchFamily="34" charset="-122"/>
                <a:cs typeface="Arial" pitchFamily="34" charset="-120"/>
              </a:rPr>
              <a:t>Converts daily entries into personalized observations and timely doctor discussion prompts.</a:t>
            </a:r>
            <a:endParaRPr lang="en-US" sz="1100" dirty="0"/>
          </a:p>
        </p:txBody>
      </p:sp>
      <p:sp>
        <p:nvSpPr>
          <p:cNvPr id="28" name="Shape 26"/>
          <p:cNvSpPr/>
          <p:nvPr/>
        </p:nvSpPr>
        <p:spPr>
          <a:xfrm>
            <a:off x="731520" y="5715000"/>
            <a:ext cx="10652760" cy="594360"/>
          </a:xfrm>
          <a:prstGeom prst="roundRect">
            <a:avLst>
              <a:gd name="adj" fmla="val 15385"/>
            </a:avLst>
          </a:prstGeom>
          <a:solidFill>
            <a:srgbClr val="F2E1E3"/>
          </a:solidFill>
          <a:ln w="12700">
            <a:solidFill>
              <a:srgbClr val="E9DFDC"/>
            </a:solidFill>
            <a:prstDash val="solid"/>
          </a:ln>
        </p:spPr>
      </p:sp>
      <p:sp>
        <p:nvSpPr>
          <p:cNvPr id="29" name="Text 27"/>
          <p:cNvSpPr/>
          <p:nvPr/>
        </p:nvSpPr>
        <p:spPr>
          <a:xfrm>
            <a:off x="914400" y="5715000"/>
            <a:ext cx="10287000" cy="594360"/>
          </a:xfrm>
          <a:prstGeom prst="rect">
            <a:avLst/>
          </a:prstGeom>
          <a:noFill/>
          <a:ln/>
        </p:spPr>
        <p:txBody>
          <a:bodyPr wrap="square" rtlCol="0" anchor="ctr"/>
          <a:lstStyle/>
          <a:p>
            <a:pPr indent="0" marL="0">
              <a:buNone/>
            </a:pPr>
            <a:r>
              <a:rPr lang="en-US" sz="1000" b="1" dirty="0">
                <a:solidFill>
                  <a:srgbClr val="9F5F6E"/>
                </a:solidFill>
              </a:rPr>
              <a:t>CORE TAKEAWAY:  </a:t>
            </a:r>
            <a:pPr indent="0" marL="0">
              <a:buNone/>
            </a:pPr>
            <a:r>
              <a:rPr lang="en-US" sz="1050" dirty="0">
                <a:solidFill>
                  <a:srgbClr val="352F35"/>
                </a:solidFill>
              </a:rPr>
              <a:t>Together, they give the mother a clear daily routine, a pregnancy record, and a prompt when clinical attention is needed.</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CF8F6"/>
        </a:solidFill>
      </p:bgPr>
    </p:bg>
    <p:spTree>
      <p:nvGrpSpPr>
        <p:cNvPr id="1" name=""/>
        <p:cNvGrpSpPr/>
        <p:nvPr/>
      </p:nvGrpSpPr>
      <p:grpSpPr>
        <a:xfrm>
          <a:off x="0" y="0"/>
          <a:ext cx="0" cy="0"/>
          <a:chOff x="0" y="0"/>
          <a:chExt cx="0" cy="0"/>
        </a:xfrm>
      </p:grpSpPr>
      <p:sp>
        <p:nvSpPr>
          <p:cNvPr id="2" name="Shape 0"/>
          <p:cNvSpPr/>
          <p:nvPr/>
        </p:nvSpPr>
        <p:spPr>
          <a:xfrm>
            <a:off x="0" y="0"/>
            <a:ext cx="9144000" cy="91440"/>
          </a:xfrm>
          <a:prstGeom prst="rect">
            <a:avLst/>
          </a:prstGeom>
          <a:solidFill>
            <a:srgbClr val="9F5F6E"/>
          </a:solidFill>
          <a:ln w="12700">
            <a:solidFill>
              <a:srgbClr val="9F5F6E"/>
            </a:solidFill>
            <a:prstDash val="solid"/>
          </a:ln>
        </p:spPr>
      </p:sp>
      <p:sp>
        <p:nvSpPr>
          <p:cNvPr id="3" name="Shape 1"/>
          <p:cNvSpPr/>
          <p:nvPr/>
        </p:nvSpPr>
        <p:spPr>
          <a:xfrm>
            <a:off x="731520" y="320040"/>
            <a:ext cx="2011680" cy="320040"/>
          </a:xfrm>
          <a:prstGeom prst="roundRect">
            <a:avLst>
              <a:gd name="adj" fmla="val 42857"/>
            </a:avLst>
          </a:prstGeom>
          <a:solidFill>
            <a:srgbClr val="F2E1E3"/>
          </a:solidFill>
          <a:ln w="12700">
            <a:solidFill>
              <a:srgbClr val="E9DFDC"/>
            </a:solidFill>
            <a:prstDash val="solid"/>
          </a:ln>
        </p:spPr>
      </p:sp>
      <p:sp>
        <p:nvSpPr>
          <p:cNvPr id="4" name="Text 2"/>
          <p:cNvSpPr/>
          <p:nvPr/>
        </p:nvSpPr>
        <p:spPr>
          <a:xfrm>
            <a:off x="731520" y="320040"/>
            <a:ext cx="2011680" cy="320040"/>
          </a:xfrm>
          <a:prstGeom prst="rect">
            <a:avLst/>
          </a:prstGeom>
          <a:noFill/>
          <a:ln/>
        </p:spPr>
        <p:txBody>
          <a:bodyPr wrap="square" rtlCol="0" anchor="ctr"/>
          <a:lstStyle/>
          <a:p>
            <a:pPr algn="ctr" indent="0" marL="0">
              <a:buNone/>
            </a:pPr>
            <a:r>
              <a:rPr lang="en-US" sz="1000" b="1" dirty="0">
                <a:solidFill>
                  <a:srgbClr val="9F5F6E"/>
                </a:solidFill>
              </a:rPr>
              <a:t>DIFFERENTIATOR</a:t>
            </a:r>
            <a:endParaRPr lang="en-US" sz="1000" dirty="0"/>
          </a:p>
        </p:txBody>
      </p:sp>
      <p:sp>
        <p:nvSpPr>
          <p:cNvPr id="5" name="Text 3"/>
          <p:cNvSpPr/>
          <p:nvPr/>
        </p:nvSpPr>
        <p:spPr>
          <a:xfrm>
            <a:off x="9601200" y="320040"/>
            <a:ext cx="1828800" cy="320040"/>
          </a:xfrm>
          <a:prstGeom prst="rect">
            <a:avLst/>
          </a:prstGeom>
          <a:noFill/>
          <a:ln/>
        </p:spPr>
        <p:txBody>
          <a:bodyPr wrap="square" rtlCol="0" anchor="ctr"/>
          <a:lstStyle/>
          <a:p>
            <a:pPr algn="r" indent="0" marL="0">
              <a:buNone/>
            </a:pPr>
            <a:r>
              <a:rPr lang="en-US" sz="1100" dirty="0">
                <a:solidFill>
                  <a:srgbClr val="766D72"/>
                </a:solidFill>
              </a:rPr>
              <a:t>Slide 5 of 15</a:t>
            </a:r>
            <a:endParaRPr lang="en-US" sz="1100" dirty="0"/>
          </a:p>
        </p:txBody>
      </p:sp>
      <p:sp>
        <p:nvSpPr>
          <p:cNvPr id="6" name="Text 4"/>
          <p:cNvSpPr/>
          <p:nvPr/>
        </p:nvSpPr>
        <p:spPr>
          <a:xfrm>
            <a:off x="731520" y="777240"/>
            <a:ext cx="10698480" cy="640080"/>
          </a:xfrm>
          <a:prstGeom prst="rect">
            <a:avLst/>
          </a:prstGeom>
          <a:noFill/>
          <a:ln/>
        </p:spPr>
        <p:txBody>
          <a:bodyPr wrap="square" rtlCol="0" anchor="ctr"/>
          <a:lstStyle/>
          <a:p>
            <a:pPr indent="0" marL="0">
              <a:buNone/>
            </a:pPr>
            <a:r>
              <a:rPr lang="en-US" sz="2600" b="1" dirty="0">
                <a:solidFill>
                  <a:srgbClr val="352F35"/>
                </a:solidFill>
                <a:latin typeface="Arial" pitchFamily="34" charset="0"/>
                <a:ea typeface="Arial" pitchFamily="34" charset="-122"/>
                <a:cs typeface="Arial" pitchFamily="34" charset="-120"/>
              </a:rPr>
              <a:t>What Makes MomCare Different</a:t>
            </a:r>
            <a:endParaRPr lang="en-US" sz="2600" dirty="0"/>
          </a:p>
        </p:txBody>
      </p:sp>
      <p:sp>
        <p:nvSpPr>
          <p:cNvPr id="7" name="Text 5"/>
          <p:cNvSpPr/>
          <p:nvPr/>
        </p:nvSpPr>
        <p:spPr>
          <a:xfrm>
            <a:off x="731520" y="1417320"/>
            <a:ext cx="10698480" cy="411480"/>
          </a:xfrm>
          <a:prstGeom prst="rect">
            <a:avLst/>
          </a:prstGeom>
          <a:noFill/>
          <a:ln/>
        </p:spPr>
        <p:txBody>
          <a:bodyPr wrap="square" rtlCol="0" anchor="ctr"/>
          <a:lstStyle/>
          <a:p>
            <a:pPr indent="0" marL="0">
              <a:buNone/>
            </a:pPr>
            <a:r>
              <a:rPr lang="en-US" sz="1300" dirty="0">
                <a:solidFill>
                  <a:srgbClr val="9F5F6E"/>
                </a:solidFill>
                <a:latin typeface="Arial" pitchFamily="34" charset="0"/>
                <a:ea typeface="Arial" pitchFamily="34" charset="-122"/>
                <a:cs typeface="Arial" pitchFamily="34" charset="-120"/>
              </a:rPr>
              <a:t>The fundamental difference lies in the sequence of operations: Safety First</a:t>
            </a:r>
            <a:endParaRPr lang="en-US" sz="1300" dirty="0"/>
          </a:p>
        </p:txBody>
      </p:sp>
      <p:sp>
        <p:nvSpPr>
          <p:cNvPr id="8" name="Shape 6"/>
          <p:cNvSpPr/>
          <p:nvPr/>
        </p:nvSpPr>
        <p:spPr>
          <a:xfrm>
            <a:off x="731520" y="1965960"/>
            <a:ext cx="5166360" cy="1691640"/>
          </a:xfrm>
          <a:prstGeom prst="roundRect">
            <a:avLst>
              <a:gd name="adj" fmla="val 6486"/>
            </a:avLst>
          </a:prstGeom>
          <a:solidFill>
            <a:srgbClr val="FFFFFF"/>
          </a:solidFill>
          <a:ln w="12700">
            <a:solidFill>
              <a:srgbClr val="E9DFDC"/>
            </a:solidFill>
            <a:prstDash val="solid"/>
          </a:ln>
        </p:spPr>
      </p:sp>
      <p:sp>
        <p:nvSpPr>
          <p:cNvPr id="9" name="Shape 7"/>
          <p:cNvSpPr/>
          <p:nvPr/>
        </p:nvSpPr>
        <p:spPr>
          <a:xfrm>
            <a:off x="960120" y="2194560"/>
            <a:ext cx="365760" cy="365760"/>
          </a:xfrm>
          <a:prstGeom prst="ellipse">
            <a:avLst/>
          </a:prstGeom>
          <a:solidFill>
            <a:srgbClr val="F2E1E3"/>
          </a:solidFill>
          <a:ln w="12700">
            <a:solidFill>
              <a:srgbClr val="F2E1E3"/>
            </a:solidFill>
            <a:prstDash val="solid"/>
          </a:ln>
        </p:spPr>
      </p:sp>
      <p:sp>
        <p:nvSpPr>
          <p:cNvPr id="10" name="Text 8"/>
          <p:cNvSpPr/>
          <p:nvPr/>
        </p:nvSpPr>
        <p:spPr>
          <a:xfrm>
            <a:off x="960120" y="2194560"/>
            <a:ext cx="365760" cy="365760"/>
          </a:xfrm>
          <a:prstGeom prst="rect">
            <a:avLst/>
          </a:prstGeom>
          <a:noFill/>
          <a:ln/>
        </p:spPr>
        <p:txBody>
          <a:bodyPr wrap="square" rtlCol="0" anchor="ctr"/>
          <a:lstStyle/>
          <a:p>
            <a:pPr algn="ctr" indent="0" marL="0">
              <a:buNone/>
            </a:pPr>
            <a:r>
              <a:rPr lang="en-US" sz="1100" b="1" dirty="0">
                <a:solidFill>
                  <a:srgbClr val="9F5F6E"/>
                </a:solidFill>
              </a:rPr>
              <a:t>1</a:t>
            </a:r>
            <a:endParaRPr lang="en-US" sz="1100" dirty="0"/>
          </a:p>
        </p:txBody>
      </p:sp>
      <p:sp>
        <p:nvSpPr>
          <p:cNvPr id="11" name="Text 9"/>
          <p:cNvSpPr/>
          <p:nvPr/>
        </p:nvSpPr>
        <p:spPr>
          <a:xfrm>
            <a:off x="1417320" y="2167128"/>
            <a:ext cx="4297680" cy="365760"/>
          </a:xfrm>
          <a:prstGeom prst="rect">
            <a:avLst/>
          </a:prstGeom>
          <a:noFill/>
          <a:ln/>
        </p:spPr>
        <p:txBody>
          <a:bodyPr wrap="square" rtlCol="0" anchor="ctr"/>
          <a:lstStyle/>
          <a:p>
            <a:pPr indent="0" marL="0">
              <a:buNone/>
            </a:pPr>
            <a:r>
              <a:rPr lang="en-US" sz="1300" b="1" dirty="0">
                <a:solidFill>
                  <a:srgbClr val="352F35"/>
                </a:solidFill>
                <a:latin typeface="Arial" pitchFamily="34" charset="0"/>
                <a:ea typeface="Arial" pitchFamily="34" charset="-122"/>
                <a:cs typeface="Arial" pitchFamily="34" charset="-120"/>
              </a:rPr>
              <a:t>Safety-First Pipeline Flow</a:t>
            </a:r>
            <a:endParaRPr lang="en-US" sz="1300" dirty="0"/>
          </a:p>
        </p:txBody>
      </p:sp>
      <p:sp>
        <p:nvSpPr>
          <p:cNvPr id="12" name="Text 10"/>
          <p:cNvSpPr/>
          <p:nvPr/>
        </p:nvSpPr>
        <p:spPr>
          <a:xfrm>
            <a:off x="960120" y="2651760"/>
            <a:ext cx="4709160" cy="914400"/>
          </a:xfrm>
          <a:prstGeom prst="rect">
            <a:avLst/>
          </a:prstGeom>
          <a:noFill/>
          <a:ln/>
        </p:spPr>
        <p:txBody>
          <a:bodyPr wrap="square" rtlCol="0" anchor="t"/>
          <a:lstStyle/>
          <a:p>
            <a:pPr indent="0" marL="0">
              <a:lnSpc>
                <a:spcPct val="115000"/>
              </a:lnSpc>
              <a:buNone/>
            </a:pPr>
            <a:r>
              <a:rPr lang="en-US" sz="1100" dirty="0">
                <a:solidFill>
                  <a:srgbClr val="352F35"/>
                </a:solidFill>
                <a:latin typeface="Arial" pitchFamily="34" charset="0"/>
                <a:ea typeface="Arial" pitchFamily="34" charset="-122"/>
                <a:cs typeface="Arial" pitchFamily="34" charset="-120"/>
              </a:rPr>
              <a:t>Mother's Data → AI Context Understanding → Pattern Analysis → Safety Check → Personalized Information.</a:t>
            </a:r>
            <a:endParaRPr lang="en-US" sz="1100" dirty="0"/>
          </a:p>
        </p:txBody>
      </p:sp>
      <p:sp>
        <p:nvSpPr>
          <p:cNvPr id="13" name="Shape 11"/>
          <p:cNvSpPr/>
          <p:nvPr/>
        </p:nvSpPr>
        <p:spPr>
          <a:xfrm>
            <a:off x="6217920" y="1965960"/>
            <a:ext cx="5166360" cy="1691640"/>
          </a:xfrm>
          <a:prstGeom prst="roundRect">
            <a:avLst>
              <a:gd name="adj" fmla="val 6486"/>
            </a:avLst>
          </a:prstGeom>
          <a:solidFill>
            <a:srgbClr val="FFFFFF"/>
          </a:solidFill>
          <a:ln w="12700">
            <a:solidFill>
              <a:srgbClr val="E9DFDC"/>
            </a:solidFill>
            <a:prstDash val="solid"/>
          </a:ln>
        </p:spPr>
      </p:sp>
      <p:sp>
        <p:nvSpPr>
          <p:cNvPr id="14" name="Shape 12"/>
          <p:cNvSpPr/>
          <p:nvPr/>
        </p:nvSpPr>
        <p:spPr>
          <a:xfrm>
            <a:off x="6446520" y="2194560"/>
            <a:ext cx="365760" cy="365760"/>
          </a:xfrm>
          <a:prstGeom prst="ellipse">
            <a:avLst/>
          </a:prstGeom>
          <a:solidFill>
            <a:srgbClr val="F2E1E3"/>
          </a:solidFill>
          <a:ln w="12700">
            <a:solidFill>
              <a:srgbClr val="F2E1E3"/>
            </a:solidFill>
            <a:prstDash val="solid"/>
          </a:ln>
        </p:spPr>
      </p:sp>
      <p:sp>
        <p:nvSpPr>
          <p:cNvPr id="15" name="Text 13"/>
          <p:cNvSpPr/>
          <p:nvPr/>
        </p:nvSpPr>
        <p:spPr>
          <a:xfrm>
            <a:off x="6446520" y="2194560"/>
            <a:ext cx="365760" cy="365760"/>
          </a:xfrm>
          <a:prstGeom prst="rect">
            <a:avLst/>
          </a:prstGeom>
          <a:noFill/>
          <a:ln/>
        </p:spPr>
        <p:txBody>
          <a:bodyPr wrap="square" rtlCol="0" anchor="ctr"/>
          <a:lstStyle/>
          <a:p>
            <a:pPr algn="ctr" indent="0" marL="0">
              <a:buNone/>
            </a:pPr>
            <a:r>
              <a:rPr lang="en-US" sz="1100" b="1" dirty="0">
                <a:solidFill>
                  <a:srgbClr val="9F5F6E"/>
                </a:solidFill>
              </a:rPr>
              <a:t>2</a:t>
            </a:r>
            <a:endParaRPr lang="en-US" sz="1100" dirty="0"/>
          </a:p>
        </p:txBody>
      </p:sp>
      <p:sp>
        <p:nvSpPr>
          <p:cNvPr id="16" name="Text 14"/>
          <p:cNvSpPr/>
          <p:nvPr/>
        </p:nvSpPr>
        <p:spPr>
          <a:xfrm>
            <a:off x="6903720" y="2167128"/>
            <a:ext cx="4297680" cy="365760"/>
          </a:xfrm>
          <a:prstGeom prst="rect">
            <a:avLst/>
          </a:prstGeom>
          <a:noFill/>
          <a:ln/>
        </p:spPr>
        <p:txBody>
          <a:bodyPr wrap="square" rtlCol="0" anchor="ctr"/>
          <a:lstStyle/>
          <a:p>
            <a:pPr indent="0" marL="0">
              <a:buNone/>
            </a:pPr>
            <a:r>
              <a:rPr lang="en-US" sz="1300" b="1" dirty="0">
                <a:solidFill>
                  <a:srgbClr val="352F35"/>
                </a:solidFill>
                <a:latin typeface="Arial" pitchFamily="34" charset="0"/>
                <a:ea typeface="Arial" pitchFamily="34" charset="-122"/>
                <a:cs typeface="Arial" pitchFamily="34" charset="-120"/>
              </a:rPr>
              <a:t>Conversational Memory</a:t>
            </a:r>
            <a:endParaRPr lang="en-US" sz="1300" dirty="0"/>
          </a:p>
        </p:txBody>
      </p:sp>
      <p:sp>
        <p:nvSpPr>
          <p:cNvPr id="17" name="Text 15"/>
          <p:cNvSpPr/>
          <p:nvPr/>
        </p:nvSpPr>
        <p:spPr>
          <a:xfrm>
            <a:off x="6446520" y="2651760"/>
            <a:ext cx="4709160" cy="914400"/>
          </a:xfrm>
          <a:prstGeom prst="rect">
            <a:avLst/>
          </a:prstGeom>
          <a:noFill/>
          <a:ln/>
        </p:spPr>
        <p:txBody>
          <a:bodyPr wrap="square" rtlCol="0" anchor="t"/>
          <a:lstStyle/>
          <a:p>
            <a:pPr indent="0" marL="0">
              <a:lnSpc>
                <a:spcPct val="115000"/>
              </a:lnSpc>
              <a:buNone/>
            </a:pPr>
            <a:r>
              <a:rPr lang="en-US" sz="1100" dirty="0">
                <a:solidFill>
                  <a:srgbClr val="352F35"/>
                </a:solidFill>
                <a:latin typeface="Arial" pitchFamily="34" charset="0"/>
                <a:ea typeface="Arial" pitchFamily="34" charset="-122"/>
                <a:cs typeface="Arial" pitchFamily="34" charset="-120"/>
              </a:rPr>
              <a:t>Resolves pronouns across messages: "I have stomach pain" followed by "it is getting worse" recognizes "it" refers to the stomach pain.</a:t>
            </a:r>
            <a:endParaRPr lang="en-US" sz="1100" dirty="0"/>
          </a:p>
        </p:txBody>
      </p:sp>
      <p:sp>
        <p:nvSpPr>
          <p:cNvPr id="18" name="Shape 16"/>
          <p:cNvSpPr/>
          <p:nvPr/>
        </p:nvSpPr>
        <p:spPr>
          <a:xfrm>
            <a:off x="731520" y="3840480"/>
            <a:ext cx="5166360" cy="1691640"/>
          </a:xfrm>
          <a:prstGeom prst="roundRect">
            <a:avLst>
              <a:gd name="adj" fmla="val 6486"/>
            </a:avLst>
          </a:prstGeom>
          <a:solidFill>
            <a:srgbClr val="FFFFFF"/>
          </a:solidFill>
          <a:ln w="12700">
            <a:solidFill>
              <a:srgbClr val="E9DFDC"/>
            </a:solidFill>
            <a:prstDash val="solid"/>
          </a:ln>
        </p:spPr>
      </p:sp>
      <p:sp>
        <p:nvSpPr>
          <p:cNvPr id="19" name="Shape 17"/>
          <p:cNvSpPr/>
          <p:nvPr/>
        </p:nvSpPr>
        <p:spPr>
          <a:xfrm>
            <a:off x="960120" y="4069080"/>
            <a:ext cx="365760" cy="365760"/>
          </a:xfrm>
          <a:prstGeom prst="ellipse">
            <a:avLst/>
          </a:prstGeom>
          <a:solidFill>
            <a:srgbClr val="F2E1E3"/>
          </a:solidFill>
          <a:ln w="12700">
            <a:solidFill>
              <a:srgbClr val="F2E1E3"/>
            </a:solidFill>
            <a:prstDash val="solid"/>
          </a:ln>
        </p:spPr>
      </p:sp>
      <p:sp>
        <p:nvSpPr>
          <p:cNvPr id="20" name="Text 18"/>
          <p:cNvSpPr/>
          <p:nvPr/>
        </p:nvSpPr>
        <p:spPr>
          <a:xfrm>
            <a:off x="960120" y="4069080"/>
            <a:ext cx="365760" cy="365760"/>
          </a:xfrm>
          <a:prstGeom prst="rect">
            <a:avLst/>
          </a:prstGeom>
          <a:noFill/>
          <a:ln/>
        </p:spPr>
        <p:txBody>
          <a:bodyPr wrap="square" rtlCol="0" anchor="ctr"/>
          <a:lstStyle/>
          <a:p>
            <a:pPr algn="ctr" indent="0" marL="0">
              <a:buNone/>
            </a:pPr>
            <a:r>
              <a:rPr lang="en-US" sz="1100" b="1" dirty="0">
                <a:solidFill>
                  <a:srgbClr val="9F5F6E"/>
                </a:solidFill>
              </a:rPr>
              <a:t>3</a:t>
            </a:r>
            <a:endParaRPr lang="en-US" sz="1100" dirty="0"/>
          </a:p>
        </p:txBody>
      </p:sp>
      <p:sp>
        <p:nvSpPr>
          <p:cNvPr id="21" name="Text 19"/>
          <p:cNvSpPr/>
          <p:nvPr/>
        </p:nvSpPr>
        <p:spPr>
          <a:xfrm>
            <a:off x="1417320" y="4041648"/>
            <a:ext cx="4297680" cy="365760"/>
          </a:xfrm>
          <a:prstGeom prst="rect">
            <a:avLst/>
          </a:prstGeom>
          <a:noFill/>
          <a:ln/>
        </p:spPr>
        <p:txBody>
          <a:bodyPr wrap="square" rtlCol="0" anchor="ctr"/>
          <a:lstStyle/>
          <a:p>
            <a:pPr indent="0" marL="0">
              <a:buNone/>
            </a:pPr>
            <a:r>
              <a:rPr lang="en-US" sz="1300" b="1" dirty="0">
                <a:solidFill>
                  <a:srgbClr val="352F35"/>
                </a:solidFill>
                <a:latin typeface="Arial" pitchFamily="34" charset="0"/>
                <a:ea typeface="Arial" pitchFamily="34" charset="-122"/>
                <a:cs typeface="Arial" pitchFamily="34" charset="-120"/>
              </a:rPr>
              <a:t>Pre-Emptive Safety Interception</a:t>
            </a:r>
            <a:endParaRPr lang="en-US" sz="1300" dirty="0"/>
          </a:p>
        </p:txBody>
      </p:sp>
      <p:sp>
        <p:nvSpPr>
          <p:cNvPr id="22" name="Text 20"/>
          <p:cNvSpPr/>
          <p:nvPr/>
        </p:nvSpPr>
        <p:spPr>
          <a:xfrm>
            <a:off x="960120" y="4526280"/>
            <a:ext cx="4709160" cy="914400"/>
          </a:xfrm>
          <a:prstGeom prst="rect">
            <a:avLst/>
          </a:prstGeom>
          <a:noFill/>
          <a:ln/>
        </p:spPr>
        <p:txBody>
          <a:bodyPr wrap="square" rtlCol="0" anchor="t"/>
          <a:lstStyle/>
          <a:p>
            <a:pPr indent="0" marL="0">
              <a:lnSpc>
                <a:spcPct val="115000"/>
              </a:lnSpc>
              <a:buNone/>
            </a:pPr>
            <a:r>
              <a:rPr lang="en-US" sz="1100" dirty="0">
                <a:solidFill>
                  <a:srgbClr val="352F35"/>
                </a:solidFill>
                <a:latin typeface="Arial" pitchFamily="34" charset="0"/>
                <a:ea typeface="Arial" pitchFamily="34" charset="-122"/>
                <a:cs typeface="Arial" pitchFamily="34" charset="-120"/>
              </a:rPr>
              <a:t>Safety rules intercept worsening symptoms before the AI responds, preventing casual dismissal of clinical red flags.</a:t>
            </a:r>
            <a:endParaRPr lang="en-US" sz="1100" dirty="0"/>
          </a:p>
        </p:txBody>
      </p:sp>
      <p:sp>
        <p:nvSpPr>
          <p:cNvPr id="23" name="Shape 21"/>
          <p:cNvSpPr/>
          <p:nvPr/>
        </p:nvSpPr>
        <p:spPr>
          <a:xfrm>
            <a:off x="6217920" y="3840480"/>
            <a:ext cx="5166360" cy="1691640"/>
          </a:xfrm>
          <a:prstGeom prst="roundRect">
            <a:avLst>
              <a:gd name="adj" fmla="val 6486"/>
            </a:avLst>
          </a:prstGeom>
          <a:solidFill>
            <a:srgbClr val="FFFFFF"/>
          </a:solidFill>
          <a:ln w="12700">
            <a:solidFill>
              <a:srgbClr val="E9DFDC"/>
            </a:solidFill>
            <a:prstDash val="solid"/>
          </a:ln>
        </p:spPr>
      </p:sp>
      <p:sp>
        <p:nvSpPr>
          <p:cNvPr id="24" name="Shape 22"/>
          <p:cNvSpPr/>
          <p:nvPr/>
        </p:nvSpPr>
        <p:spPr>
          <a:xfrm>
            <a:off x="6446520" y="4069080"/>
            <a:ext cx="365760" cy="365760"/>
          </a:xfrm>
          <a:prstGeom prst="ellipse">
            <a:avLst/>
          </a:prstGeom>
          <a:solidFill>
            <a:srgbClr val="F2E1E3"/>
          </a:solidFill>
          <a:ln w="12700">
            <a:solidFill>
              <a:srgbClr val="F2E1E3"/>
            </a:solidFill>
            <a:prstDash val="solid"/>
          </a:ln>
        </p:spPr>
      </p:sp>
      <p:sp>
        <p:nvSpPr>
          <p:cNvPr id="25" name="Text 23"/>
          <p:cNvSpPr/>
          <p:nvPr/>
        </p:nvSpPr>
        <p:spPr>
          <a:xfrm>
            <a:off x="6446520" y="4069080"/>
            <a:ext cx="365760" cy="365760"/>
          </a:xfrm>
          <a:prstGeom prst="rect">
            <a:avLst/>
          </a:prstGeom>
          <a:noFill/>
          <a:ln/>
        </p:spPr>
        <p:txBody>
          <a:bodyPr wrap="square" rtlCol="0" anchor="ctr"/>
          <a:lstStyle/>
          <a:p>
            <a:pPr algn="ctr" indent="0" marL="0">
              <a:buNone/>
            </a:pPr>
            <a:r>
              <a:rPr lang="en-US" sz="1100" b="1" dirty="0">
                <a:solidFill>
                  <a:srgbClr val="9F5F6E"/>
                </a:solidFill>
              </a:rPr>
              <a:t>4</a:t>
            </a:r>
            <a:endParaRPr lang="en-US" sz="1100" dirty="0"/>
          </a:p>
        </p:txBody>
      </p:sp>
      <p:sp>
        <p:nvSpPr>
          <p:cNvPr id="26" name="Text 24"/>
          <p:cNvSpPr/>
          <p:nvPr/>
        </p:nvSpPr>
        <p:spPr>
          <a:xfrm>
            <a:off x="6903720" y="4041648"/>
            <a:ext cx="4297680" cy="365760"/>
          </a:xfrm>
          <a:prstGeom prst="rect">
            <a:avLst/>
          </a:prstGeom>
          <a:noFill/>
          <a:ln/>
        </p:spPr>
        <p:txBody>
          <a:bodyPr wrap="square" rtlCol="0" anchor="ctr"/>
          <a:lstStyle/>
          <a:p>
            <a:pPr indent="0" marL="0">
              <a:buNone/>
            </a:pPr>
            <a:r>
              <a:rPr lang="en-US" sz="1300" b="1" dirty="0">
                <a:solidFill>
                  <a:srgbClr val="352F35"/>
                </a:solidFill>
                <a:latin typeface="Arial" pitchFamily="34" charset="0"/>
                <a:ea typeface="Arial" pitchFamily="34" charset="-122"/>
                <a:cs typeface="Arial" pitchFamily="34" charset="-120"/>
              </a:rPr>
              <a:t>Explainable Guidance</a:t>
            </a:r>
            <a:endParaRPr lang="en-US" sz="1300" dirty="0"/>
          </a:p>
        </p:txBody>
      </p:sp>
      <p:sp>
        <p:nvSpPr>
          <p:cNvPr id="27" name="Text 25"/>
          <p:cNvSpPr/>
          <p:nvPr/>
        </p:nvSpPr>
        <p:spPr>
          <a:xfrm>
            <a:off x="6446520" y="4526280"/>
            <a:ext cx="4709160" cy="914400"/>
          </a:xfrm>
          <a:prstGeom prst="rect">
            <a:avLst/>
          </a:prstGeom>
          <a:noFill/>
          <a:ln/>
        </p:spPr>
        <p:txBody>
          <a:bodyPr wrap="square" rtlCol="0" anchor="t"/>
          <a:lstStyle/>
          <a:p>
            <a:pPr indent="0" marL="0">
              <a:lnSpc>
                <a:spcPct val="115000"/>
              </a:lnSpc>
              <a:buNone/>
            </a:pPr>
            <a:r>
              <a:rPr lang="en-US" sz="1100" dirty="0">
                <a:solidFill>
                  <a:srgbClr val="352F35"/>
                </a:solidFill>
                <a:latin typeface="Arial" pitchFamily="34" charset="0"/>
                <a:ea typeface="Arial" pitchFamily="34" charset="-122"/>
                <a:cs typeface="Arial" pitchFamily="34" charset="-120"/>
              </a:rPr>
              <a:t>Every output provides transparent reasons, verifiable sources, and zero ungrounded health assertions.</a:t>
            </a:r>
            <a:endParaRPr lang="en-US" sz="1100" dirty="0"/>
          </a:p>
        </p:txBody>
      </p:sp>
      <p:sp>
        <p:nvSpPr>
          <p:cNvPr id="28" name="Shape 26"/>
          <p:cNvSpPr/>
          <p:nvPr/>
        </p:nvSpPr>
        <p:spPr>
          <a:xfrm>
            <a:off x="731520" y="5715000"/>
            <a:ext cx="10652760" cy="594360"/>
          </a:xfrm>
          <a:prstGeom prst="roundRect">
            <a:avLst>
              <a:gd name="adj" fmla="val 15385"/>
            </a:avLst>
          </a:prstGeom>
          <a:solidFill>
            <a:srgbClr val="F2E1E3"/>
          </a:solidFill>
          <a:ln w="12700">
            <a:solidFill>
              <a:srgbClr val="E9DFDC"/>
            </a:solidFill>
            <a:prstDash val="solid"/>
          </a:ln>
        </p:spPr>
      </p:sp>
      <p:sp>
        <p:nvSpPr>
          <p:cNvPr id="29" name="Text 27"/>
          <p:cNvSpPr/>
          <p:nvPr/>
        </p:nvSpPr>
        <p:spPr>
          <a:xfrm>
            <a:off x="914400" y="5715000"/>
            <a:ext cx="10287000" cy="594360"/>
          </a:xfrm>
          <a:prstGeom prst="rect">
            <a:avLst/>
          </a:prstGeom>
          <a:noFill/>
          <a:ln/>
        </p:spPr>
        <p:txBody>
          <a:bodyPr wrap="square" rtlCol="0" anchor="ctr"/>
          <a:lstStyle/>
          <a:p>
            <a:pPr indent="0" marL="0">
              <a:buNone/>
            </a:pPr>
            <a:r>
              <a:rPr lang="en-US" sz="1000" b="1" dirty="0">
                <a:solidFill>
                  <a:srgbClr val="9F5F6E"/>
                </a:solidFill>
              </a:rPr>
              <a:t>CORE TAKEAWAY:  </a:t>
            </a:r>
            <a:pPr indent="0" marL="0">
              <a:buNone/>
            </a:pPr>
            <a:r>
              <a:rPr lang="en-US" sz="1050" dirty="0">
                <a:solidFill>
                  <a:srgbClr val="352F35"/>
                </a:solidFill>
              </a:rPr>
              <a:t>MomCare is not an info library with a chatbot added on; its safety-gated sequence protects maternal health.</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CF8F6"/>
        </a:solidFill>
      </p:bgPr>
    </p:bg>
    <p:spTree>
      <p:nvGrpSpPr>
        <p:cNvPr id="1" name=""/>
        <p:cNvGrpSpPr/>
        <p:nvPr/>
      </p:nvGrpSpPr>
      <p:grpSpPr>
        <a:xfrm>
          <a:off x="0" y="0"/>
          <a:ext cx="0" cy="0"/>
          <a:chOff x="0" y="0"/>
          <a:chExt cx="0" cy="0"/>
        </a:xfrm>
      </p:grpSpPr>
      <p:sp>
        <p:nvSpPr>
          <p:cNvPr id="2" name="Shape 0"/>
          <p:cNvSpPr/>
          <p:nvPr/>
        </p:nvSpPr>
        <p:spPr>
          <a:xfrm>
            <a:off x="0" y="0"/>
            <a:ext cx="9144000" cy="91440"/>
          </a:xfrm>
          <a:prstGeom prst="rect">
            <a:avLst/>
          </a:prstGeom>
          <a:solidFill>
            <a:srgbClr val="9F5F6E"/>
          </a:solidFill>
          <a:ln w="12700">
            <a:solidFill>
              <a:srgbClr val="9F5F6E"/>
            </a:solidFill>
            <a:prstDash val="solid"/>
          </a:ln>
        </p:spPr>
      </p:sp>
      <p:sp>
        <p:nvSpPr>
          <p:cNvPr id="3" name="Shape 1"/>
          <p:cNvSpPr/>
          <p:nvPr/>
        </p:nvSpPr>
        <p:spPr>
          <a:xfrm>
            <a:off x="731520" y="320040"/>
            <a:ext cx="2011680" cy="320040"/>
          </a:xfrm>
          <a:prstGeom prst="roundRect">
            <a:avLst>
              <a:gd name="adj" fmla="val 42857"/>
            </a:avLst>
          </a:prstGeom>
          <a:solidFill>
            <a:srgbClr val="F2E1E3"/>
          </a:solidFill>
          <a:ln w="12700">
            <a:solidFill>
              <a:srgbClr val="E9DFDC"/>
            </a:solidFill>
            <a:prstDash val="solid"/>
          </a:ln>
        </p:spPr>
      </p:sp>
      <p:sp>
        <p:nvSpPr>
          <p:cNvPr id="4" name="Text 2"/>
          <p:cNvSpPr/>
          <p:nvPr/>
        </p:nvSpPr>
        <p:spPr>
          <a:xfrm>
            <a:off x="731520" y="320040"/>
            <a:ext cx="2011680" cy="320040"/>
          </a:xfrm>
          <a:prstGeom prst="rect">
            <a:avLst/>
          </a:prstGeom>
          <a:noFill/>
          <a:ln/>
        </p:spPr>
        <p:txBody>
          <a:bodyPr wrap="square" rtlCol="0" anchor="ctr"/>
          <a:lstStyle/>
          <a:p>
            <a:pPr algn="ctr" indent="0" marL="0">
              <a:buNone/>
            </a:pPr>
            <a:r>
              <a:rPr lang="en-US" sz="1000" b="1" dirty="0">
                <a:solidFill>
                  <a:srgbClr val="9F5F6E"/>
                </a:solidFill>
              </a:rPr>
              <a:t>CORE FEATURES</a:t>
            </a:r>
            <a:endParaRPr lang="en-US" sz="1000" dirty="0"/>
          </a:p>
        </p:txBody>
      </p:sp>
      <p:sp>
        <p:nvSpPr>
          <p:cNvPr id="5" name="Text 3"/>
          <p:cNvSpPr/>
          <p:nvPr/>
        </p:nvSpPr>
        <p:spPr>
          <a:xfrm>
            <a:off x="9601200" y="320040"/>
            <a:ext cx="1828800" cy="320040"/>
          </a:xfrm>
          <a:prstGeom prst="rect">
            <a:avLst/>
          </a:prstGeom>
          <a:noFill/>
          <a:ln/>
        </p:spPr>
        <p:txBody>
          <a:bodyPr wrap="square" rtlCol="0" anchor="ctr"/>
          <a:lstStyle/>
          <a:p>
            <a:pPr algn="r" indent="0" marL="0">
              <a:buNone/>
            </a:pPr>
            <a:r>
              <a:rPr lang="en-US" sz="1100" dirty="0">
                <a:solidFill>
                  <a:srgbClr val="766D72"/>
                </a:solidFill>
              </a:rPr>
              <a:t>Slide 6 of 15</a:t>
            </a:r>
            <a:endParaRPr lang="en-US" sz="1100" dirty="0"/>
          </a:p>
        </p:txBody>
      </p:sp>
      <p:sp>
        <p:nvSpPr>
          <p:cNvPr id="6" name="Text 4"/>
          <p:cNvSpPr/>
          <p:nvPr/>
        </p:nvSpPr>
        <p:spPr>
          <a:xfrm>
            <a:off x="731520" y="777240"/>
            <a:ext cx="10698480" cy="640080"/>
          </a:xfrm>
          <a:prstGeom prst="rect">
            <a:avLst/>
          </a:prstGeom>
          <a:noFill/>
          <a:ln/>
        </p:spPr>
        <p:txBody>
          <a:bodyPr wrap="square" rtlCol="0" anchor="ctr"/>
          <a:lstStyle/>
          <a:p>
            <a:pPr indent="0" marL="0">
              <a:buNone/>
            </a:pPr>
            <a:r>
              <a:rPr lang="en-US" sz="2600" b="1" dirty="0">
                <a:solidFill>
                  <a:srgbClr val="352F35"/>
                </a:solidFill>
                <a:latin typeface="Arial" pitchFamily="34" charset="0"/>
                <a:ea typeface="Arial" pitchFamily="34" charset="-122"/>
                <a:cs typeface="Arial" pitchFamily="34" charset="-120"/>
              </a:rPr>
              <a:t>Core Features</a:t>
            </a:r>
            <a:endParaRPr lang="en-US" sz="2600" dirty="0"/>
          </a:p>
        </p:txBody>
      </p:sp>
      <p:sp>
        <p:nvSpPr>
          <p:cNvPr id="7" name="Text 5"/>
          <p:cNvSpPr/>
          <p:nvPr/>
        </p:nvSpPr>
        <p:spPr>
          <a:xfrm>
            <a:off x="731520" y="1417320"/>
            <a:ext cx="10698480" cy="411480"/>
          </a:xfrm>
          <a:prstGeom prst="rect">
            <a:avLst/>
          </a:prstGeom>
          <a:noFill/>
          <a:ln/>
        </p:spPr>
        <p:txBody>
          <a:bodyPr wrap="square" rtlCol="0" anchor="ctr"/>
          <a:lstStyle/>
          <a:p>
            <a:pPr indent="0" marL="0">
              <a:buNone/>
            </a:pPr>
            <a:r>
              <a:rPr lang="en-US" sz="1300" dirty="0">
                <a:solidFill>
                  <a:srgbClr val="9F5F6E"/>
                </a:solidFill>
                <a:latin typeface="Arial" pitchFamily="34" charset="0"/>
                <a:ea typeface="Arial" pitchFamily="34" charset="-122"/>
                <a:cs typeface="Arial" pitchFamily="34" charset="-120"/>
              </a:rPr>
              <a:t>Evidence-based tools designed for daily maternal clarity and comfort</a:t>
            </a:r>
            <a:endParaRPr lang="en-US" sz="1300" dirty="0"/>
          </a:p>
        </p:txBody>
      </p:sp>
      <p:sp>
        <p:nvSpPr>
          <p:cNvPr id="8" name="Shape 6"/>
          <p:cNvSpPr/>
          <p:nvPr/>
        </p:nvSpPr>
        <p:spPr>
          <a:xfrm>
            <a:off x="731520" y="1965960"/>
            <a:ext cx="5166360" cy="1691640"/>
          </a:xfrm>
          <a:prstGeom prst="roundRect">
            <a:avLst>
              <a:gd name="adj" fmla="val 6486"/>
            </a:avLst>
          </a:prstGeom>
          <a:solidFill>
            <a:srgbClr val="FFFFFF"/>
          </a:solidFill>
          <a:ln w="12700">
            <a:solidFill>
              <a:srgbClr val="E9DFDC"/>
            </a:solidFill>
            <a:prstDash val="solid"/>
          </a:ln>
        </p:spPr>
      </p:sp>
      <p:sp>
        <p:nvSpPr>
          <p:cNvPr id="9" name="Shape 7"/>
          <p:cNvSpPr/>
          <p:nvPr/>
        </p:nvSpPr>
        <p:spPr>
          <a:xfrm>
            <a:off x="960120" y="2194560"/>
            <a:ext cx="365760" cy="365760"/>
          </a:xfrm>
          <a:prstGeom prst="ellipse">
            <a:avLst/>
          </a:prstGeom>
          <a:solidFill>
            <a:srgbClr val="F2E1E3"/>
          </a:solidFill>
          <a:ln w="12700">
            <a:solidFill>
              <a:srgbClr val="F2E1E3"/>
            </a:solidFill>
            <a:prstDash val="solid"/>
          </a:ln>
        </p:spPr>
      </p:sp>
      <p:sp>
        <p:nvSpPr>
          <p:cNvPr id="10" name="Text 8"/>
          <p:cNvSpPr/>
          <p:nvPr/>
        </p:nvSpPr>
        <p:spPr>
          <a:xfrm>
            <a:off x="960120" y="2194560"/>
            <a:ext cx="365760" cy="365760"/>
          </a:xfrm>
          <a:prstGeom prst="rect">
            <a:avLst/>
          </a:prstGeom>
          <a:noFill/>
          <a:ln/>
        </p:spPr>
        <p:txBody>
          <a:bodyPr wrap="square" rtlCol="0" anchor="ctr"/>
          <a:lstStyle/>
          <a:p>
            <a:pPr algn="ctr" indent="0" marL="0">
              <a:buNone/>
            </a:pPr>
            <a:r>
              <a:rPr lang="en-US" sz="1100" b="1" dirty="0">
                <a:solidFill>
                  <a:srgbClr val="9F5F6E"/>
                </a:solidFill>
              </a:rPr>
              <a:t>1</a:t>
            </a:r>
            <a:endParaRPr lang="en-US" sz="1100" dirty="0"/>
          </a:p>
        </p:txBody>
      </p:sp>
      <p:sp>
        <p:nvSpPr>
          <p:cNvPr id="11" name="Text 9"/>
          <p:cNvSpPr/>
          <p:nvPr/>
        </p:nvSpPr>
        <p:spPr>
          <a:xfrm>
            <a:off x="1417320" y="2167128"/>
            <a:ext cx="4297680" cy="365760"/>
          </a:xfrm>
          <a:prstGeom prst="rect">
            <a:avLst/>
          </a:prstGeom>
          <a:noFill/>
          <a:ln/>
        </p:spPr>
        <p:txBody>
          <a:bodyPr wrap="square" rtlCol="0" anchor="ctr"/>
          <a:lstStyle/>
          <a:p>
            <a:pPr indent="0" marL="0">
              <a:buNone/>
            </a:pPr>
            <a:r>
              <a:rPr lang="en-US" sz="1300" b="1" dirty="0">
                <a:solidFill>
                  <a:srgbClr val="352F35"/>
                </a:solidFill>
                <a:latin typeface="Arial" pitchFamily="34" charset="0"/>
                <a:ea typeface="Arial" pitchFamily="34" charset="-122"/>
                <a:cs typeface="Arial" pitchFamily="34" charset="-120"/>
              </a:rPr>
              <a:t>Comprehensive Mother Profile</a:t>
            </a:r>
            <a:endParaRPr lang="en-US" sz="1300" dirty="0"/>
          </a:p>
        </p:txBody>
      </p:sp>
      <p:sp>
        <p:nvSpPr>
          <p:cNvPr id="12" name="Text 10"/>
          <p:cNvSpPr/>
          <p:nvPr/>
        </p:nvSpPr>
        <p:spPr>
          <a:xfrm>
            <a:off x="960120" y="2651760"/>
            <a:ext cx="4709160" cy="914400"/>
          </a:xfrm>
          <a:prstGeom prst="rect">
            <a:avLst/>
          </a:prstGeom>
          <a:noFill/>
          <a:ln/>
        </p:spPr>
        <p:txBody>
          <a:bodyPr wrap="square" rtlCol="0" anchor="t"/>
          <a:lstStyle/>
          <a:p>
            <a:pPr indent="0" marL="0">
              <a:lnSpc>
                <a:spcPct val="115000"/>
              </a:lnSpc>
              <a:buNone/>
            </a:pPr>
            <a:r>
              <a:rPr lang="en-US" sz="1100" dirty="0">
                <a:solidFill>
                  <a:srgbClr val="352F35"/>
                </a:solidFill>
                <a:latin typeface="Arial" pitchFamily="34" charset="0"/>
                <a:ea typeface="Arial" pitchFamily="34" charset="-122"/>
                <a:cs typeface="Arial" pitchFamily="34" charset="-120"/>
              </a:rPr>
              <a:t>Tracks gestational week, expected delivery date, medical history, active medications, and clinic contacts.</a:t>
            </a:r>
            <a:endParaRPr lang="en-US" sz="1100" dirty="0"/>
          </a:p>
        </p:txBody>
      </p:sp>
      <p:sp>
        <p:nvSpPr>
          <p:cNvPr id="13" name="Shape 11"/>
          <p:cNvSpPr/>
          <p:nvPr/>
        </p:nvSpPr>
        <p:spPr>
          <a:xfrm>
            <a:off x="6217920" y="1965960"/>
            <a:ext cx="5166360" cy="1691640"/>
          </a:xfrm>
          <a:prstGeom prst="roundRect">
            <a:avLst>
              <a:gd name="adj" fmla="val 6486"/>
            </a:avLst>
          </a:prstGeom>
          <a:solidFill>
            <a:srgbClr val="FFFFFF"/>
          </a:solidFill>
          <a:ln w="12700">
            <a:solidFill>
              <a:srgbClr val="E9DFDC"/>
            </a:solidFill>
            <a:prstDash val="solid"/>
          </a:ln>
        </p:spPr>
      </p:sp>
      <p:sp>
        <p:nvSpPr>
          <p:cNvPr id="14" name="Shape 12"/>
          <p:cNvSpPr/>
          <p:nvPr/>
        </p:nvSpPr>
        <p:spPr>
          <a:xfrm>
            <a:off x="6446520" y="2194560"/>
            <a:ext cx="365760" cy="365760"/>
          </a:xfrm>
          <a:prstGeom prst="ellipse">
            <a:avLst/>
          </a:prstGeom>
          <a:solidFill>
            <a:srgbClr val="F2E1E3"/>
          </a:solidFill>
          <a:ln w="12700">
            <a:solidFill>
              <a:srgbClr val="F2E1E3"/>
            </a:solidFill>
            <a:prstDash val="solid"/>
          </a:ln>
        </p:spPr>
      </p:sp>
      <p:sp>
        <p:nvSpPr>
          <p:cNvPr id="15" name="Text 13"/>
          <p:cNvSpPr/>
          <p:nvPr/>
        </p:nvSpPr>
        <p:spPr>
          <a:xfrm>
            <a:off x="6446520" y="2194560"/>
            <a:ext cx="365760" cy="365760"/>
          </a:xfrm>
          <a:prstGeom prst="rect">
            <a:avLst/>
          </a:prstGeom>
          <a:noFill/>
          <a:ln/>
        </p:spPr>
        <p:txBody>
          <a:bodyPr wrap="square" rtlCol="0" anchor="ctr"/>
          <a:lstStyle/>
          <a:p>
            <a:pPr algn="ctr" indent="0" marL="0">
              <a:buNone/>
            </a:pPr>
            <a:r>
              <a:rPr lang="en-US" sz="1100" b="1" dirty="0">
                <a:solidFill>
                  <a:srgbClr val="9F5F6E"/>
                </a:solidFill>
              </a:rPr>
              <a:t>2</a:t>
            </a:r>
            <a:endParaRPr lang="en-US" sz="1100" dirty="0"/>
          </a:p>
        </p:txBody>
      </p:sp>
      <p:sp>
        <p:nvSpPr>
          <p:cNvPr id="16" name="Text 14"/>
          <p:cNvSpPr/>
          <p:nvPr/>
        </p:nvSpPr>
        <p:spPr>
          <a:xfrm>
            <a:off x="6903720" y="2167128"/>
            <a:ext cx="4297680" cy="365760"/>
          </a:xfrm>
          <a:prstGeom prst="rect">
            <a:avLst/>
          </a:prstGeom>
          <a:noFill/>
          <a:ln/>
        </p:spPr>
        <p:txBody>
          <a:bodyPr wrap="square" rtlCol="0" anchor="ctr"/>
          <a:lstStyle/>
          <a:p>
            <a:pPr indent="0" marL="0">
              <a:buNone/>
            </a:pPr>
            <a:r>
              <a:rPr lang="en-US" sz="1300" b="1" dirty="0">
                <a:solidFill>
                  <a:srgbClr val="352F35"/>
                </a:solidFill>
                <a:latin typeface="Arial" pitchFamily="34" charset="0"/>
                <a:ea typeface="Arial" pitchFamily="34" charset="-122"/>
                <a:cs typeface="Arial" pitchFamily="34" charset="-120"/>
              </a:rPr>
              <a:t>Weekly Womb Development</a:t>
            </a:r>
            <a:endParaRPr lang="en-US" sz="1300" dirty="0"/>
          </a:p>
        </p:txBody>
      </p:sp>
      <p:sp>
        <p:nvSpPr>
          <p:cNvPr id="17" name="Text 15"/>
          <p:cNvSpPr/>
          <p:nvPr/>
        </p:nvSpPr>
        <p:spPr>
          <a:xfrm>
            <a:off x="6446520" y="2651760"/>
            <a:ext cx="4709160" cy="914400"/>
          </a:xfrm>
          <a:prstGeom prst="rect">
            <a:avLst/>
          </a:prstGeom>
          <a:noFill/>
          <a:ln/>
        </p:spPr>
        <p:txBody>
          <a:bodyPr wrap="square" rtlCol="0" anchor="t"/>
          <a:lstStyle/>
          <a:p>
            <a:pPr indent="0" marL="0">
              <a:lnSpc>
                <a:spcPct val="115000"/>
              </a:lnSpc>
              <a:buNone/>
            </a:pPr>
            <a:r>
              <a:rPr lang="en-US" sz="1100" dirty="0">
                <a:solidFill>
                  <a:srgbClr val="352F35"/>
                </a:solidFill>
                <a:latin typeface="Arial" pitchFamily="34" charset="0"/>
                <a:ea typeface="Arial" pitchFamily="34" charset="-122"/>
                <a:cs typeface="Arial" pitchFamily="34" charset="-120"/>
              </a:rPr>
              <a:t>Visualizes gestational progress with dedicated BABY, MOM, and CARE tabs plus educational illustrations.</a:t>
            </a:r>
            <a:endParaRPr lang="en-US" sz="1100" dirty="0"/>
          </a:p>
        </p:txBody>
      </p:sp>
      <p:sp>
        <p:nvSpPr>
          <p:cNvPr id="18" name="Shape 16"/>
          <p:cNvSpPr/>
          <p:nvPr/>
        </p:nvSpPr>
        <p:spPr>
          <a:xfrm>
            <a:off x="731520" y="3840480"/>
            <a:ext cx="5166360" cy="1691640"/>
          </a:xfrm>
          <a:prstGeom prst="roundRect">
            <a:avLst>
              <a:gd name="adj" fmla="val 6486"/>
            </a:avLst>
          </a:prstGeom>
          <a:solidFill>
            <a:srgbClr val="FFFFFF"/>
          </a:solidFill>
          <a:ln w="12700">
            <a:solidFill>
              <a:srgbClr val="E9DFDC"/>
            </a:solidFill>
            <a:prstDash val="solid"/>
          </a:ln>
        </p:spPr>
      </p:sp>
      <p:sp>
        <p:nvSpPr>
          <p:cNvPr id="19" name="Shape 17"/>
          <p:cNvSpPr/>
          <p:nvPr/>
        </p:nvSpPr>
        <p:spPr>
          <a:xfrm>
            <a:off x="960120" y="4069080"/>
            <a:ext cx="365760" cy="365760"/>
          </a:xfrm>
          <a:prstGeom prst="ellipse">
            <a:avLst/>
          </a:prstGeom>
          <a:solidFill>
            <a:srgbClr val="F2E1E3"/>
          </a:solidFill>
          <a:ln w="12700">
            <a:solidFill>
              <a:srgbClr val="F2E1E3"/>
            </a:solidFill>
            <a:prstDash val="solid"/>
          </a:ln>
        </p:spPr>
      </p:sp>
      <p:sp>
        <p:nvSpPr>
          <p:cNvPr id="20" name="Text 18"/>
          <p:cNvSpPr/>
          <p:nvPr/>
        </p:nvSpPr>
        <p:spPr>
          <a:xfrm>
            <a:off x="960120" y="4069080"/>
            <a:ext cx="365760" cy="365760"/>
          </a:xfrm>
          <a:prstGeom prst="rect">
            <a:avLst/>
          </a:prstGeom>
          <a:noFill/>
          <a:ln/>
        </p:spPr>
        <p:txBody>
          <a:bodyPr wrap="square" rtlCol="0" anchor="ctr"/>
          <a:lstStyle/>
          <a:p>
            <a:pPr algn="ctr" indent="0" marL="0">
              <a:buNone/>
            </a:pPr>
            <a:r>
              <a:rPr lang="en-US" sz="1100" b="1" dirty="0">
                <a:solidFill>
                  <a:srgbClr val="9F5F6E"/>
                </a:solidFill>
              </a:rPr>
              <a:t>3</a:t>
            </a:r>
            <a:endParaRPr lang="en-US" sz="1100" dirty="0"/>
          </a:p>
        </p:txBody>
      </p:sp>
      <p:sp>
        <p:nvSpPr>
          <p:cNvPr id="21" name="Text 19"/>
          <p:cNvSpPr/>
          <p:nvPr/>
        </p:nvSpPr>
        <p:spPr>
          <a:xfrm>
            <a:off x="1417320" y="4041648"/>
            <a:ext cx="4297680" cy="365760"/>
          </a:xfrm>
          <a:prstGeom prst="rect">
            <a:avLst/>
          </a:prstGeom>
          <a:noFill/>
          <a:ln/>
        </p:spPr>
        <p:txBody>
          <a:bodyPr wrap="square" rtlCol="0" anchor="ctr"/>
          <a:lstStyle/>
          <a:p>
            <a:pPr indent="0" marL="0">
              <a:buNone/>
            </a:pPr>
            <a:r>
              <a:rPr lang="en-US" sz="1300" b="1" dirty="0">
                <a:solidFill>
                  <a:srgbClr val="352F35"/>
                </a:solidFill>
                <a:latin typeface="Arial" pitchFamily="34" charset="0"/>
                <a:ea typeface="Arial" pitchFamily="34" charset="-122"/>
                <a:cs typeface="Arial" pitchFamily="34" charset="-120"/>
              </a:rPr>
              <a:t>Daily Check-in &amp; History</a:t>
            </a:r>
            <a:endParaRPr lang="en-US" sz="1300" dirty="0"/>
          </a:p>
        </p:txBody>
      </p:sp>
      <p:sp>
        <p:nvSpPr>
          <p:cNvPr id="22" name="Text 20"/>
          <p:cNvSpPr/>
          <p:nvPr/>
        </p:nvSpPr>
        <p:spPr>
          <a:xfrm>
            <a:off x="960120" y="4526280"/>
            <a:ext cx="4709160" cy="914400"/>
          </a:xfrm>
          <a:prstGeom prst="rect">
            <a:avLst/>
          </a:prstGeom>
          <a:noFill/>
          <a:ln/>
        </p:spPr>
        <p:txBody>
          <a:bodyPr wrap="square" rtlCol="0" anchor="t"/>
          <a:lstStyle/>
          <a:p>
            <a:pPr indent="0" marL="0">
              <a:lnSpc>
                <a:spcPct val="115000"/>
              </a:lnSpc>
              <a:buNone/>
            </a:pPr>
            <a:r>
              <a:rPr lang="en-US" sz="1100" dirty="0">
                <a:solidFill>
                  <a:srgbClr val="352F35"/>
                </a:solidFill>
                <a:latin typeface="Arial" pitchFamily="34" charset="0"/>
                <a:ea typeface="Arial" pitchFamily="34" charset="-122"/>
                <a:cs typeface="Arial" pitchFamily="34" charset="-120"/>
              </a:rPr>
              <a:t>Stores longitudinal logs to visualize wellness, sleep, and symptom trends across trimesters.</a:t>
            </a:r>
            <a:endParaRPr lang="en-US" sz="1100" dirty="0"/>
          </a:p>
        </p:txBody>
      </p:sp>
      <p:sp>
        <p:nvSpPr>
          <p:cNvPr id="23" name="Shape 21"/>
          <p:cNvSpPr/>
          <p:nvPr/>
        </p:nvSpPr>
        <p:spPr>
          <a:xfrm>
            <a:off x="6217920" y="3840480"/>
            <a:ext cx="5166360" cy="1691640"/>
          </a:xfrm>
          <a:prstGeom prst="roundRect">
            <a:avLst>
              <a:gd name="adj" fmla="val 6486"/>
            </a:avLst>
          </a:prstGeom>
          <a:solidFill>
            <a:srgbClr val="FFFFFF"/>
          </a:solidFill>
          <a:ln w="12700">
            <a:solidFill>
              <a:srgbClr val="E9DFDC"/>
            </a:solidFill>
            <a:prstDash val="solid"/>
          </a:ln>
        </p:spPr>
      </p:sp>
      <p:sp>
        <p:nvSpPr>
          <p:cNvPr id="24" name="Shape 22"/>
          <p:cNvSpPr/>
          <p:nvPr/>
        </p:nvSpPr>
        <p:spPr>
          <a:xfrm>
            <a:off x="6446520" y="4069080"/>
            <a:ext cx="365760" cy="365760"/>
          </a:xfrm>
          <a:prstGeom prst="ellipse">
            <a:avLst/>
          </a:prstGeom>
          <a:solidFill>
            <a:srgbClr val="F2E1E3"/>
          </a:solidFill>
          <a:ln w="12700">
            <a:solidFill>
              <a:srgbClr val="F2E1E3"/>
            </a:solidFill>
            <a:prstDash val="solid"/>
          </a:ln>
        </p:spPr>
      </p:sp>
      <p:sp>
        <p:nvSpPr>
          <p:cNvPr id="25" name="Text 23"/>
          <p:cNvSpPr/>
          <p:nvPr/>
        </p:nvSpPr>
        <p:spPr>
          <a:xfrm>
            <a:off x="6446520" y="4069080"/>
            <a:ext cx="365760" cy="365760"/>
          </a:xfrm>
          <a:prstGeom prst="rect">
            <a:avLst/>
          </a:prstGeom>
          <a:noFill/>
          <a:ln/>
        </p:spPr>
        <p:txBody>
          <a:bodyPr wrap="square" rtlCol="0" anchor="ctr"/>
          <a:lstStyle/>
          <a:p>
            <a:pPr algn="ctr" indent="0" marL="0">
              <a:buNone/>
            </a:pPr>
            <a:r>
              <a:rPr lang="en-US" sz="1100" b="1" dirty="0">
                <a:solidFill>
                  <a:srgbClr val="9F5F6E"/>
                </a:solidFill>
              </a:rPr>
              <a:t>4</a:t>
            </a:r>
            <a:endParaRPr lang="en-US" sz="1100" dirty="0"/>
          </a:p>
        </p:txBody>
      </p:sp>
      <p:sp>
        <p:nvSpPr>
          <p:cNvPr id="26" name="Text 24"/>
          <p:cNvSpPr/>
          <p:nvPr/>
        </p:nvSpPr>
        <p:spPr>
          <a:xfrm>
            <a:off x="6903720" y="4041648"/>
            <a:ext cx="4297680" cy="365760"/>
          </a:xfrm>
          <a:prstGeom prst="rect">
            <a:avLst/>
          </a:prstGeom>
          <a:noFill/>
          <a:ln/>
        </p:spPr>
        <p:txBody>
          <a:bodyPr wrap="square" rtlCol="0" anchor="ctr"/>
          <a:lstStyle/>
          <a:p>
            <a:pPr indent="0" marL="0">
              <a:buNone/>
            </a:pPr>
            <a:r>
              <a:rPr lang="en-US" sz="1300" b="1" dirty="0">
                <a:solidFill>
                  <a:srgbClr val="352F35"/>
                </a:solidFill>
                <a:latin typeface="Arial" pitchFamily="34" charset="0"/>
                <a:ea typeface="Arial" pitchFamily="34" charset="-122"/>
                <a:cs typeface="Arial" pitchFamily="34" charset="-120"/>
              </a:rPr>
              <a:t>Honest Care Progress</a:t>
            </a:r>
            <a:endParaRPr lang="en-US" sz="1300" dirty="0"/>
          </a:p>
        </p:txBody>
      </p:sp>
      <p:sp>
        <p:nvSpPr>
          <p:cNvPr id="27" name="Text 25"/>
          <p:cNvSpPr/>
          <p:nvPr/>
        </p:nvSpPr>
        <p:spPr>
          <a:xfrm>
            <a:off x="6446520" y="4526280"/>
            <a:ext cx="4709160" cy="914400"/>
          </a:xfrm>
          <a:prstGeom prst="rect">
            <a:avLst/>
          </a:prstGeom>
          <a:noFill/>
          <a:ln/>
        </p:spPr>
        <p:txBody>
          <a:bodyPr wrap="square" rtlCol="0" anchor="t"/>
          <a:lstStyle/>
          <a:p>
            <a:pPr indent="0" marL="0">
              <a:lnSpc>
                <a:spcPct val="115000"/>
              </a:lnSpc>
              <a:buNone/>
            </a:pPr>
            <a:r>
              <a:rPr lang="en-US" sz="1100" dirty="0">
                <a:solidFill>
                  <a:srgbClr val="352F35"/>
                </a:solidFill>
                <a:latin typeface="Arial" pitchFamily="34" charset="0"/>
                <a:ea typeface="Arial" pitchFamily="34" charset="-122"/>
                <a:cs typeface="Arial" pitchFamily="34" charset="-120"/>
              </a:rPr>
              <a:t>Shows clear completion (e.g. 4/5 tasks done) while deliberately rejecting arbitrary, fake health scores.</a:t>
            </a:r>
            <a:endParaRPr lang="en-US" sz="1100" dirty="0"/>
          </a:p>
        </p:txBody>
      </p:sp>
      <p:sp>
        <p:nvSpPr>
          <p:cNvPr id="28" name="Shape 26"/>
          <p:cNvSpPr/>
          <p:nvPr/>
        </p:nvSpPr>
        <p:spPr>
          <a:xfrm>
            <a:off x="731520" y="5715000"/>
            <a:ext cx="10652760" cy="594360"/>
          </a:xfrm>
          <a:prstGeom prst="roundRect">
            <a:avLst>
              <a:gd name="adj" fmla="val 15385"/>
            </a:avLst>
          </a:prstGeom>
          <a:solidFill>
            <a:srgbClr val="F2E1E3"/>
          </a:solidFill>
          <a:ln w="12700">
            <a:solidFill>
              <a:srgbClr val="E9DFDC"/>
            </a:solidFill>
            <a:prstDash val="solid"/>
          </a:ln>
        </p:spPr>
      </p:sp>
      <p:sp>
        <p:nvSpPr>
          <p:cNvPr id="29" name="Text 27"/>
          <p:cNvSpPr/>
          <p:nvPr/>
        </p:nvSpPr>
        <p:spPr>
          <a:xfrm>
            <a:off x="914400" y="5715000"/>
            <a:ext cx="10287000" cy="594360"/>
          </a:xfrm>
          <a:prstGeom prst="rect">
            <a:avLst/>
          </a:prstGeom>
          <a:noFill/>
          <a:ln/>
        </p:spPr>
        <p:txBody>
          <a:bodyPr wrap="square" rtlCol="0" anchor="ctr"/>
          <a:lstStyle/>
          <a:p>
            <a:pPr indent="0" marL="0">
              <a:buNone/>
            </a:pPr>
            <a:r>
              <a:rPr lang="en-US" sz="1000" b="1" dirty="0">
                <a:solidFill>
                  <a:srgbClr val="9F5F6E"/>
                </a:solidFill>
              </a:rPr>
              <a:t>CORE TAKEAWAY:  </a:t>
            </a:r>
            <a:pPr indent="0" marL="0">
              <a:buNone/>
            </a:pPr>
            <a:r>
              <a:rPr lang="en-US" sz="1050" dirty="0">
                <a:solidFill>
                  <a:srgbClr val="352F35"/>
                </a:solidFill>
              </a:rPr>
              <a:t>My Pregnancy Story timeline preserves memories and clinical logs; baby images are clearly labeled educational aids.</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CF8F6"/>
        </a:solidFill>
      </p:bgPr>
    </p:bg>
    <p:spTree>
      <p:nvGrpSpPr>
        <p:cNvPr id="1" name=""/>
        <p:cNvGrpSpPr/>
        <p:nvPr/>
      </p:nvGrpSpPr>
      <p:grpSpPr>
        <a:xfrm>
          <a:off x="0" y="0"/>
          <a:ext cx="0" cy="0"/>
          <a:chOff x="0" y="0"/>
          <a:chExt cx="0" cy="0"/>
        </a:xfrm>
      </p:grpSpPr>
      <p:sp>
        <p:nvSpPr>
          <p:cNvPr id="2" name="Shape 0"/>
          <p:cNvSpPr/>
          <p:nvPr/>
        </p:nvSpPr>
        <p:spPr>
          <a:xfrm>
            <a:off x="0" y="0"/>
            <a:ext cx="9144000" cy="91440"/>
          </a:xfrm>
          <a:prstGeom prst="rect">
            <a:avLst/>
          </a:prstGeom>
          <a:solidFill>
            <a:srgbClr val="9F5F6E"/>
          </a:solidFill>
          <a:ln w="12700">
            <a:solidFill>
              <a:srgbClr val="9F5F6E"/>
            </a:solidFill>
            <a:prstDash val="solid"/>
          </a:ln>
        </p:spPr>
      </p:sp>
      <p:sp>
        <p:nvSpPr>
          <p:cNvPr id="3" name="Shape 1"/>
          <p:cNvSpPr/>
          <p:nvPr/>
        </p:nvSpPr>
        <p:spPr>
          <a:xfrm>
            <a:off x="731520" y="320040"/>
            <a:ext cx="2011680" cy="320040"/>
          </a:xfrm>
          <a:prstGeom prst="roundRect">
            <a:avLst>
              <a:gd name="adj" fmla="val 42857"/>
            </a:avLst>
          </a:prstGeom>
          <a:solidFill>
            <a:srgbClr val="F2E1E3"/>
          </a:solidFill>
          <a:ln w="12700">
            <a:solidFill>
              <a:srgbClr val="E9DFDC"/>
            </a:solidFill>
            <a:prstDash val="solid"/>
          </a:ln>
        </p:spPr>
      </p:sp>
      <p:sp>
        <p:nvSpPr>
          <p:cNvPr id="4" name="Text 2"/>
          <p:cNvSpPr/>
          <p:nvPr/>
        </p:nvSpPr>
        <p:spPr>
          <a:xfrm>
            <a:off x="731520" y="320040"/>
            <a:ext cx="2011680" cy="320040"/>
          </a:xfrm>
          <a:prstGeom prst="rect">
            <a:avLst/>
          </a:prstGeom>
          <a:noFill/>
          <a:ln/>
        </p:spPr>
        <p:txBody>
          <a:bodyPr wrap="square" rtlCol="0" anchor="ctr"/>
          <a:lstStyle/>
          <a:p>
            <a:pPr algn="ctr" indent="0" marL="0">
              <a:buNone/>
            </a:pPr>
            <a:r>
              <a:rPr lang="en-US" sz="1000" b="1" dirty="0">
                <a:solidFill>
                  <a:srgbClr val="9F5F6E"/>
                </a:solidFill>
              </a:rPr>
              <a:t>CLINICAL SAFETY</a:t>
            </a:r>
            <a:endParaRPr lang="en-US" sz="1000" dirty="0"/>
          </a:p>
        </p:txBody>
      </p:sp>
      <p:sp>
        <p:nvSpPr>
          <p:cNvPr id="5" name="Text 3"/>
          <p:cNvSpPr/>
          <p:nvPr/>
        </p:nvSpPr>
        <p:spPr>
          <a:xfrm>
            <a:off x="9601200" y="320040"/>
            <a:ext cx="1828800" cy="320040"/>
          </a:xfrm>
          <a:prstGeom prst="rect">
            <a:avLst/>
          </a:prstGeom>
          <a:noFill/>
          <a:ln/>
        </p:spPr>
        <p:txBody>
          <a:bodyPr wrap="square" rtlCol="0" anchor="ctr"/>
          <a:lstStyle/>
          <a:p>
            <a:pPr algn="r" indent="0" marL="0">
              <a:buNone/>
            </a:pPr>
            <a:r>
              <a:rPr lang="en-US" sz="1100" dirty="0">
                <a:solidFill>
                  <a:srgbClr val="766D72"/>
                </a:solidFill>
              </a:rPr>
              <a:t>Slide 7 of 15</a:t>
            </a:r>
            <a:endParaRPr lang="en-US" sz="1100" dirty="0"/>
          </a:p>
        </p:txBody>
      </p:sp>
      <p:sp>
        <p:nvSpPr>
          <p:cNvPr id="6" name="Text 4"/>
          <p:cNvSpPr/>
          <p:nvPr/>
        </p:nvSpPr>
        <p:spPr>
          <a:xfrm>
            <a:off x="731520" y="777240"/>
            <a:ext cx="10698480" cy="640080"/>
          </a:xfrm>
          <a:prstGeom prst="rect">
            <a:avLst/>
          </a:prstGeom>
          <a:noFill/>
          <a:ln/>
        </p:spPr>
        <p:txBody>
          <a:bodyPr wrap="square" rtlCol="0" anchor="ctr"/>
          <a:lstStyle/>
          <a:p>
            <a:pPr indent="0" marL="0">
              <a:buNone/>
            </a:pPr>
            <a:r>
              <a:rPr lang="en-US" sz="2600" b="1" dirty="0">
                <a:solidFill>
                  <a:srgbClr val="352F35"/>
                </a:solidFill>
                <a:latin typeface="Arial" pitchFamily="34" charset="0"/>
                <a:ea typeface="Arial" pitchFamily="34" charset="-122"/>
                <a:cs typeface="Arial" pitchFamily="34" charset="-120"/>
              </a:rPr>
              <a:t>Safety First - Three Risk Levels</a:t>
            </a:r>
            <a:endParaRPr lang="en-US" sz="2600" dirty="0"/>
          </a:p>
        </p:txBody>
      </p:sp>
      <p:sp>
        <p:nvSpPr>
          <p:cNvPr id="7" name="Text 5"/>
          <p:cNvSpPr/>
          <p:nvPr/>
        </p:nvSpPr>
        <p:spPr>
          <a:xfrm>
            <a:off x="731520" y="1417320"/>
            <a:ext cx="10698480" cy="411480"/>
          </a:xfrm>
          <a:prstGeom prst="rect">
            <a:avLst/>
          </a:prstGeom>
          <a:noFill/>
          <a:ln/>
        </p:spPr>
        <p:txBody>
          <a:bodyPr wrap="square" rtlCol="0" anchor="ctr"/>
          <a:lstStyle/>
          <a:p>
            <a:pPr indent="0" marL="0">
              <a:buNone/>
            </a:pPr>
            <a:r>
              <a:rPr lang="en-US" sz="1300" dirty="0">
                <a:solidFill>
                  <a:srgbClr val="9F5F6E"/>
                </a:solidFill>
                <a:latin typeface="Arial" pitchFamily="34" charset="0"/>
                <a:ea typeface="Arial" pitchFamily="34" charset="-122"/>
                <a:cs typeface="Arial" pitchFamily="34" charset="-120"/>
              </a:rPr>
              <a:t>Deterministic clinical triage protocol evaluating every check-in and question</a:t>
            </a:r>
            <a:endParaRPr lang="en-US" sz="1300" dirty="0"/>
          </a:p>
        </p:txBody>
      </p:sp>
      <p:sp>
        <p:nvSpPr>
          <p:cNvPr id="8" name="Shape 6"/>
          <p:cNvSpPr/>
          <p:nvPr/>
        </p:nvSpPr>
        <p:spPr>
          <a:xfrm>
            <a:off x="731520" y="1965960"/>
            <a:ext cx="5166360" cy="1691640"/>
          </a:xfrm>
          <a:prstGeom prst="roundRect">
            <a:avLst>
              <a:gd name="adj" fmla="val 6486"/>
            </a:avLst>
          </a:prstGeom>
          <a:solidFill>
            <a:srgbClr val="FFFFFF"/>
          </a:solidFill>
          <a:ln w="12700">
            <a:solidFill>
              <a:srgbClr val="E9DFDC"/>
            </a:solidFill>
            <a:prstDash val="solid"/>
          </a:ln>
        </p:spPr>
      </p:sp>
      <p:sp>
        <p:nvSpPr>
          <p:cNvPr id="9" name="Shape 7"/>
          <p:cNvSpPr/>
          <p:nvPr/>
        </p:nvSpPr>
        <p:spPr>
          <a:xfrm>
            <a:off x="960120" y="2194560"/>
            <a:ext cx="365760" cy="365760"/>
          </a:xfrm>
          <a:prstGeom prst="ellipse">
            <a:avLst/>
          </a:prstGeom>
          <a:solidFill>
            <a:srgbClr val="F2E1E3"/>
          </a:solidFill>
          <a:ln w="12700">
            <a:solidFill>
              <a:srgbClr val="F2E1E3"/>
            </a:solidFill>
            <a:prstDash val="solid"/>
          </a:ln>
        </p:spPr>
      </p:sp>
      <p:sp>
        <p:nvSpPr>
          <p:cNvPr id="10" name="Text 8"/>
          <p:cNvSpPr/>
          <p:nvPr/>
        </p:nvSpPr>
        <p:spPr>
          <a:xfrm>
            <a:off x="960120" y="2194560"/>
            <a:ext cx="365760" cy="365760"/>
          </a:xfrm>
          <a:prstGeom prst="rect">
            <a:avLst/>
          </a:prstGeom>
          <a:noFill/>
          <a:ln/>
        </p:spPr>
        <p:txBody>
          <a:bodyPr wrap="square" rtlCol="0" anchor="ctr"/>
          <a:lstStyle/>
          <a:p>
            <a:pPr algn="ctr" indent="0" marL="0">
              <a:buNone/>
            </a:pPr>
            <a:r>
              <a:rPr lang="en-US" sz="1100" b="1" dirty="0">
                <a:solidFill>
                  <a:srgbClr val="9F5F6E"/>
                </a:solidFill>
              </a:rPr>
              <a:t>1</a:t>
            </a:r>
            <a:endParaRPr lang="en-US" sz="1100" dirty="0"/>
          </a:p>
        </p:txBody>
      </p:sp>
      <p:sp>
        <p:nvSpPr>
          <p:cNvPr id="11" name="Text 9"/>
          <p:cNvSpPr/>
          <p:nvPr/>
        </p:nvSpPr>
        <p:spPr>
          <a:xfrm>
            <a:off x="1417320" y="2167128"/>
            <a:ext cx="4297680" cy="365760"/>
          </a:xfrm>
          <a:prstGeom prst="rect">
            <a:avLst/>
          </a:prstGeom>
          <a:noFill/>
          <a:ln/>
        </p:spPr>
        <p:txBody>
          <a:bodyPr wrap="square" rtlCol="0" anchor="ctr"/>
          <a:lstStyle/>
          <a:p>
            <a:pPr indent="0" marL="0">
              <a:buNone/>
            </a:pPr>
            <a:r>
              <a:rPr lang="en-US" sz="1300" b="1" dirty="0">
                <a:solidFill>
                  <a:srgbClr val="352F35"/>
                </a:solidFill>
                <a:latin typeface="Arial" pitchFamily="34" charset="0"/>
                <a:ea typeface="Arial" pitchFamily="34" charset="-122"/>
                <a:cs typeface="Arial" pitchFamily="34" charset="-120"/>
              </a:rPr>
              <a:t>🟢 Routine (Green)</a:t>
            </a:r>
            <a:endParaRPr lang="en-US" sz="1300" dirty="0"/>
          </a:p>
        </p:txBody>
      </p:sp>
      <p:sp>
        <p:nvSpPr>
          <p:cNvPr id="12" name="Text 10"/>
          <p:cNvSpPr/>
          <p:nvPr/>
        </p:nvSpPr>
        <p:spPr>
          <a:xfrm>
            <a:off x="960120" y="2651760"/>
            <a:ext cx="4709160" cy="914400"/>
          </a:xfrm>
          <a:prstGeom prst="rect">
            <a:avLst/>
          </a:prstGeom>
          <a:noFill/>
          <a:ln/>
        </p:spPr>
        <p:txBody>
          <a:bodyPr wrap="square" rtlCol="0" anchor="t"/>
          <a:lstStyle/>
          <a:p>
            <a:pPr indent="0" marL="0">
              <a:lnSpc>
                <a:spcPct val="115000"/>
              </a:lnSpc>
              <a:buNone/>
            </a:pPr>
            <a:r>
              <a:rPr lang="en-US" sz="1100" dirty="0">
                <a:solidFill>
                  <a:srgbClr val="352F35"/>
                </a:solidFill>
                <a:latin typeface="Arial" pitchFamily="34" charset="0"/>
                <a:ea typeface="Arial" pitchFamily="34" charset="-122"/>
                <a:cs typeface="Arial" pitchFamily="34" charset="-120"/>
              </a:rPr>
              <a:t>General information, expected bodily adaptations, and monitoring of standard prenatal sensations.</a:t>
            </a:r>
            <a:endParaRPr lang="en-US" sz="1100" dirty="0"/>
          </a:p>
        </p:txBody>
      </p:sp>
      <p:sp>
        <p:nvSpPr>
          <p:cNvPr id="13" name="Shape 11"/>
          <p:cNvSpPr/>
          <p:nvPr/>
        </p:nvSpPr>
        <p:spPr>
          <a:xfrm>
            <a:off x="6217920" y="1965960"/>
            <a:ext cx="5166360" cy="1691640"/>
          </a:xfrm>
          <a:prstGeom prst="roundRect">
            <a:avLst>
              <a:gd name="adj" fmla="val 6486"/>
            </a:avLst>
          </a:prstGeom>
          <a:solidFill>
            <a:srgbClr val="FFFFFF"/>
          </a:solidFill>
          <a:ln w="12700">
            <a:solidFill>
              <a:srgbClr val="E9DFDC"/>
            </a:solidFill>
            <a:prstDash val="solid"/>
          </a:ln>
        </p:spPr>
      </p:sp>
      <p:sp>
        <p:nvSpPr>
          <p:cNvPr id="14" name="Shape 12"/>
          <p:cNvSpPr/>
          <p:nvPr/>
        </p:nvSpPr>
        <p:spPr>
          <a:xfrm>
            <a:off x="6446520" y="2194560"/>
            <a:ext cx="365760" cy="365760"/>
          </a:xfrm>
          <a:prstGeom prst="ellipse">
            <a:avLst/>
          </a:prstGeom>
          <a:solidFill>
            <a:srgbClr val="F2E1E3"/>
          </a:solidFill>
          <a:ln w="12700">
            <a:solidFill>
              <a:srgbClr val="F2E1E3"/>
            </a:solidFill>
            <a:prstDash val="solid"/>
          </a:ln>
        </p:spPr>
      </p:sp>
      <p:sp>
        <p:nvSpPr>
          <p:cNvPr id="15" name="Text 13"/>
          <p:cNvSpPr/>
          <p:nvPr/>
        </p:nvSpPr>
        <p:spPr>
          <a:xfrm>
            <a:off x="6446520" y="2194560"/>
            <a:ext cx="365760" cy="365760"/>
          </a:xfrm>
          <a:prstGeom prst="rect">
            <a:avLst/>
          </a:prstGeom>
          <a:noFill/>
          <a:ln/>
        </p:spPr>
        <p:txBody>
          <a:bodyPr wrap="square" rtlCol="0" anchor="ctr"/>
          <a:lstStyle/>
          <a:p>
            <a:pPr algn="ctr" indent="0" marL="0">
              <a:buNone/>
            </a:pPr>
            <a:r>
              <a:rPr lang="en-US" sz="1100" b="1" dirty="0">
                <a:solidFill>
                  <a:srgbClr val="9F5F6E"/>
                </a:solidFill>
              </a:rPr>
              <a:t>2</a:t>
            </a:r>
            <a:endParaRPr lang="en-US" sz="1100" dirty="0"/>
          </a:p>
        </p:txBody>
      </p:sp>
      <p:sp>
        <p:nvSpPr>
          <p:cNvPr id="16" name="Text 14"/>
          <p:cNvSpPr/>
          <p:nvPr/>
        </p:nvSpPr>
        <p:spPr>
          <a:xfrm>
            <a:off x="6903720" y="2167128"/>
            <a:ext cx="4297680" cy="365760"/>
          </a:xfrm>
          <a:prstGeom prst="rect">
            <a:avLst/>
          </a:prstGeom>
          <a:noFill/>
          <a:ln/>
        </p:spPr>
        <p:txBody>
          <a:bodyPr wrap="square" rtlCol="0" anchor="ctr"/>
          <a:lstStyle/>
          <a:p>
            <a:pPr indent="0" marL="0">
              <a:buNone/>
            </a:pPr>
            <a:r>
              <a:rPr lang="en-US" sz="1300" b="1" dirty="0">
                <a:solidFill>
                  <a:srgbClr val="352F35"/>
                </a:solidFill>
                <a:latin typeface="Arial" pitchFamily="34" charset="0"/>
                <a:ea typeface="Arial" pitchFamily="34" charset="-122"/>
                <a:cs typeface="Arial" pitchFamily="34" charset="-120"/>
              </a:rPr>
              <a:t>🟡 Needs Attention (Yellow)</a:t>
            </a:r>
            <a:endParaRPr lang="en-US" sz="1300" dirty="0"/>
          </a:p>
        </p:txBody>
      </p:sp>
      <p:sp>
        <p:nvSpPr>
          <p:cNvPr id="17" name="Text 15"/>
          <p:cNvSpPr/>
          <p:nvPr/>
        </p:nvSpPr>
        <p:spPr>
          <a:xfrm>
            <a:off x="6446520" y="2651760"/>
            <a:ext cx="4709160" cy="914400"/>
          </a:xfrm>
          <a:prstGeom prst="rect">
            <a:avLst/>
          </a:prstGeom>
          <a:noFill/>
          <a:ln/>
        </p:spPr>
        <p:txBody>
          <a:bodyPr wrap="square" rtlCol="0" anchor="t"/>
          <a:lstStyle/>
          <a:p>
            <a:pPr indent="0" marL="0">
              <a:lnSpc>
                <a:spcPct val="115000"/>
              </a:lnSpc>
              <a:buNone/>
            </a:pPr>
            <a:r>
              <a:rPr lang="en-US" sz="1100" dirty="0">
                <a:solidFill>
                  <a:srgbClr val="352F35"/>
                </a:solidFill>
                <a:latin typeface="Arial" pitchFamily="34" charset="0"/>
                <a:ea typeface="Arial" pitchFamily="34" charset="-122"/>
                <a:cs typeface="Arial" pitchFamily="34" charset="-120"/>
              </a:rPr>
              <a:t>Recurring discomfort or notable shifts; recommends discussing with her healthcare provider at the next visit.</a:t>
            </a:r>
            <a:endParaRPr lang="en-US" sz="1100" dirty="0"/>
          </a:p>
        </p:txBody>
      </p:sp>
      <p:sp>
        <p:nvSpPr>
          <p:cNvPr id="18" name="Shape 16"/>
          <p:cNvSpPr/>
          <p:nvPr/>
        </p:nvSpPr>
        <p:spPr>
          <a:xfrm>
            <a:off x="731520" y="3840480"/>
            <a:ext cx="5166360" cy="1691640"/>
          </a:xfrm>
          <a:prstGeom prst="roundRect">
            <a:avLst>
              <a:gd name="adj" fmla="val 6486"/>
            </a:avLst>
          </a:prstGeom>
          <a:solidFill>
            <a:srgbClr val="FFFFFF"/>
          </a:solidFill>
          <a:ln w="12700">
            <a:solidFill>
              <a:srgbClr val="E9DFDC"/>
            </a:solidFill>
            <a:prstDash val="solid"/>
          </a:ln>
        </p:spPr>
      </p:sp>
      <p:sp>
        <p:nvSpPr>
          <p:cNvPr id="19" name="Shape 17"/>
          <p:cNvSpPr/>
          <p:nvPr/>
        </p:nvSpPr>
        <p:spPr>
          <a:xfrm>
            <a:off x="960120" y="4069080"/>
            <a:ext cx="365760" cy="365760"/>
          </a:xfrm>
          <a:prstGeom prst="ellipse">
            <a:avLst/>
          </a:prstGeom>
          <a:solidFill>
            <a:srgbClr val="F2E1E3"/>
          </a:solidFill>
          <a:ln w="12700">
            <a:solidFill>
              <a:srgbClr val="F2E1E3"/>
            </a:solidFill>
            <a:prstDash val="solid"/>
          </a:ln>
        </p:spPr>
      </p:sp>
      <p:sp>
        <p:nvSpPr>
          <p:cNvPr id="20" name="Text 18"/>
          <p:cNvSpPr/>
          <p:nvPr/>
        </p:nvSpPr>
        <p:spPr>
          <a:xfrm>
            <a:off x="960120" y="4069080"/>
            <a:ext cx="365760" cy="365760"/>
          </a:xfrm>
          <a:prstGeom prst="rect">
            <a:avLst/>
          </a:prstGeom>
          <a:noFill/>
          <a:ln/>
        </p:spPr>
        <p:txBody>
          <a:bodyPr wrap="square" rtlCol="0" anchor="ctr"/>
          <a:lstStyle/>
          <a:p>
            <a:pPr algn="ctr" indent="0" marL="0">
              <a:buNone/>
            </a:pPr>
            <a:r>
              <a:rPr lang="en-US" sz="1100" b="1" dirty="0">
                <a:solidFill>
                  <a:srgbClr val="9F5F6E"/>
                </a:solidFill>
              </a:rPr>
              <a:t>3</a:t>
            </a:r>
            <a:endParaRPr lang="en-US" sz="1100" dirty="0"/>
          </a:p>
        </p:txBody>
      </p:sp>
      <p:sp>
        <p:nvSpPr>
          <p:cNvPr id="21" name="Text 19"/>
          <p:cNvSpPr/>
          <p:nvPr/>
        </p:nvSpPr>
        <p:spPr>
          <a:xfrm>
            <a:off x="1417320" y="4041648"/>
            <a:ext cx="4297680" cy="365760"/>
          </a:xfrm>
          <a:prstGeom prst="rect">
            <a:avLst/>
          </a:prstGeom>
          <a:noFill/>
          <a:ln/>
        </p:spPr>
        <p:txBody>
          <a:bodyPr wrap="square" rtlCol="0" anchor="ctr"/>
          <a:lstStyle/>
          <a:p>
            <a:pPr indent="0" marL="0">
              <a:buNone/>
            </a:pPr>
            <a:r>
              <a:rPr lang="en-US" sz="1300" b="1" dirty="0">
                <a:solidFill>
                  <a:srgbClr val="352F35"/>
                </a:solidFill>
                <a:latin typeface="Arial" pitchFamily="34" charset="0"/>
                <a:ea typeface="Arial" pitchFamily="34" charset="-122"/>
                <a:cs typeface="Arial" pitchFamily="34" charset="-120"/>
              </a:rPr>
              <a:t>🔴 Urgent (Red)</a:t>
            </a:r>
            <a:endParaRPr lang="en-US" sz="1300" dirty="0"/>
          </a:p>
        </p:txBody>
      </p:sp>
      <p:sp>
        <p:nvSpPr>
          <p:cNvPr id="22" name="Text 20"/>
          <p:cNvSpPr/>
          <p:nvPr/>
        </p:nvSpPr>
        <p:spPr>
          <a:xfrm>
            <a:off x="960120" y="4526280"/>
            <a:ext cx="4709160" cy="914400"/>
          </a:xfrm>
          <a:prstGeom prst="rect">
            <a:avLst/>
          </a:prstGeom>
          <a:noFill/>
          <a:ln/>
        </p:spPr>
        <p:txBody>
          <a:bodyPr wrap="square" rtlCol="0" anchor="t"/>
          <a:lstStyle/>
          <a:p>
            <a:pPr indent="0" marL="0">
              <a:lnSpc>
                <a:spcPct val="115000"/>
              </a:lnSpc>
              <a:buNone/>
            </a:pPr>
            <a:r>
              <a:rPr lang="en-US" sz="1100" dirty="0">
                <a:solidFill>
                  <a:srgbClr val="352F35"/>
                </a:solidFill>
                <a:latin typeface="Arial" pitchFamily="34" charset="0"/>
                <a:ea typeface="Arial" pitchFamily="34" charset="-122"/>
                <a:cs typeface="Arial" pitchFamily="34" charset="-120"/>
              </a:rPr>
              <a:t>Red-flag signs (e.g. heavy bleeding, visual disturbance); triggers one-touch emergency call actions.</a:t>
            </a:r>
            <a:endParaRPr lang="en-US" sz="1100" dirty="0"/>
          </a:p>
        </p:txBody>
      </p:sp>
      <p:sp>
        <p:nvSpPr>
          <p:cNvPr id="23" name="Shape 21"/>
          <p:cNvSpPr/>
          <p:nvPr/>
        </p:nvSpPr>
        <p:spPr>
          <a:xfrm>
            <a:off x="6217920" y="3840480"/>
            <a:ext cx="5166360" cy="1691640"/>
          </a:xfrm>
          <a:prstGeom prst="roundRect">
            <a:avLst>
              <a:gd name="adj" fmla="val 6486"/>
            </a:avLst>
          </a:prstGeom>
          <a:solidFill>
            <a:srgbClr val="FFFFFF"/>
          </a:solidFill>
          <a:ln w="12700">
            <a:solidFill>
              <a:srgbClr val="E9DFDC"/>
            </a:solidFill>
            <a:prstDash val="solid"/>
          </a:ln>
        </p:spPr>
      </p:sp>
      <p:sp>
        <p:nvSpPr>
          <p:cNvPr id="24" name="Shape 22"/>
          <p:cNvSpPr/>
          <p:nvPr/>
        </p:nvSpPr>
        <p:spPr>
          <a:xfrm>
            <a:off x="6446520" y="4069080"/>
            <a:ext cx="365760" cy="365760"/>
          </a:xfrm>
          <a:prstGeom prst="ellipse">
            <a:avLst/>
          </a:prstGeom>
          <a:solidFill>
            <a:srgbClr val="F2E1E3"/>
          </a:solidFill>
          <a:ln w="12700">
            <a:solidFill>
              <a:srgbClr val="F2E1E3"/>
            </a:solidFill>
            <a:prstDash val="solid"/>
          </a:ln>
        </p:spPr>
      </p:sp>
      <p:sp>
        <p:nvSpPr>
          <p:cNvPr id="25" name="Text 23"/>
          <p:cNvSpPr/>
          <p:nvPr/>
        </p:nvSpPr>
        <p:spPr>
          <a:xfrm>
            <a:off x="6446520" y="4069080"/>
            <a:ext cx="365760" cy="365760"/>
          </a:xfrm>
          <a:prstGeom prst="rect">
            <a:avLst/>
          </a:prstGeom>
          <a:noFill/>
          <a:ln/>
        </p:spPr>
        <p:txBody>
          <a:bodyPr wrap="square" rtlCol="0" anchor="ctr"/>
          <a:lstStyle/>
          <a:p>
            <a:pPr algn="ctr" indent="0" marL="0">
              <a:buNone/>
            </a:pPr>
            <a:r>
              <a:rPr lang="en-US" sz="1100" b="1" dirty="0">
                <a:solidFill>
                  <a:srgbClr val="9F5F6E"/>
                </a:solidFill>
              </a:rPr>
              <a:t>4</a:t>
            </a:r>
            <a:endParaRPr lang="en-US" sz="1100" dirty="0"/>
          </a:p>
        </p:txBody>
      </p:sp>
      <p:sp>
        <p:nvSpPr>
          <p:cNvPr id="26" name="Text 24"/>
          <p:cNvSpPr/>
          <p:nvPr/>
        </p:nvSpPr>
        <p:spPr>
          <a:xfrm>
            <a:off x="6903720" y="4041648"/>
            <a:ext cx="4297680" cy="365760"/>
          </a:xfrm>
          <a:prstGeom prst="rect">
            <a:avLst/>
          </a:prstGeom>
          <a:noFill/>
          <a:ln/>
        </p:spPr>
        <p:txBody>
          <a:bodyPr wrap="square" rtlCol="0" anchor="ctr"/>
          <a:lstStyle/>
          <a:p>
            <a:pPr indent="0" marL="0">
              <a:buNone/>
            </a:pPr>
            <a:r>
              <a:rPr lang="en-US" sz="1300" b="1" dirty="0">
                <a:solidFill>
                  <a:srgbClr val="352F35"/>
                </a:solidFill>
                <a:latin typeface="Arial" pitchFamily="34" charset="0"/>
                <a:ea typeface="Arial" pitchFamily="34" charset="-122"/>
                <a:cs typeface="Arial" pitchFamily="34" charset="-120"/>
              </a:rPr>
              <a:t>Deterministic Override</a:t>
            </a:r>
            <a:endParaRPr lang="en-US" sz="1300" dirty="0"/>
          </a:p>
        </p:txBody>
      </p:sp>
      <p:sp>
        <p:nvSpPr>
          <p:cNvPr id="27" name="Text 25"/>
          <p:cNvSpPr/>
          <p:nvPr/>
        </p:nvSpPr>
        <p:spPr>
          <a:xfrm>
            <a:off x="6446520" y="4526280"/>
            <a:ext cx="4709160" cy="914400"/>
          </a:xfrm>
          <a:prstGeom prst="rect">
            <a:avLst/>
          </a:prstGeom>
          <a:noFill/>
          <a:ln/>
        </p:spPr>
        <p:txBody>
          <a:bodyPr wrap="square" rtlCol="0" anchor="t"/>
          <a:lstStyle/>
          <a:p>
            <a:pPr indent="0" marL="0">
              <a:lnSpc>
                <a:spcPct val="115000"/>
              </a:lnSpc>
              <a:buNone/>
            </a:pPr>
            <a:r>
              <a:rPr lang="en-US" sz="1100" dirty="0">
                <a:solidFill>
                  <a:srgbClr val="352F35"/>
                </a:solidFill>
                <a:latin typeface="Arial" pitchFamily="34" charset="0"/>
                <a:ea typeface="Arial" pitchFamily="34" charset="-122"/>
                <a:cs typeface="Arial" pitchFamily="34" charset="-120"/>
              </a:rPr>
              <a:t>In urgent situations, generative AI is completely bypassed in favor of hardcoded, verified safety instructions.</a:t>
            </a:r>
            <a:endParaRPr lang="en-US" sz="1100" dirty="0"/>
          </a:p>
        </p:txBody>
      </p:sp>
      <p:sp>
        <p:nvSpPr>
          <p:cNvPr id="28" name="Shape 26"/>
          <p:cNvSpPr/>
          <p:nvPr/>
        </p:nvSpPr>
        <p:spPr>
          <a:xfrm>
            <a:off x="731520" y="5715000"/>
            <a:ext cx="10652760" cy="594360"/>
          </a:xfrm>
          <a:prstGeom prst="roundRect">
            <a:avLst>
              <a:gd name="adj" fmla="val 15385"/>
            </a:avLst>
          </a:prstGeom>
          <a:solidFill>
            <a:srgbClr val="F2E1E3"/>
          </a:solidFill>
          <a:ln w="12700">
            <a:solidFill>
              <a:srgbClr val="E9DFDC"/>
            </a:solidFill>
            <a:prstDash val="solid"/>
          </a:ln>
        </p:spPr>
      </p:sp>
      <p:sp>
        <p:nvSpPr>
          <p:cNvPr id="29" name="Text 27"/>
          <p:cNvSpPr/>
          <p:nvPr/>
        </p:nvSpPr>
        <p:spPr>
          <a:xfrm>
            <a:off x="914400" y="5715000"/>
            <a:ext cx="10287000" cy="594360"/>
          </a:xfrm>
          <a:prstGeom prst="rect">
            <a:avLst/>
          </a:prstGeom>
          <a:noFill/>
          <a:ln/>
        </p:spPr>
        <p:txBody>
          <a:bodyPr wrap="square" rtlCol="0" anchor="ctr"/>
          <a:lstStyle/>
          <a:p>
            <a:pPr indent="0" marL="0">
              <a:buNone/>
            </a:pPr>
            <a:r>
              <a:rPr lang="en-US" sz="1000" b="1" dirty="0">
                <a:solidFill>
                  <a:srgbClr val="9F5F6E"/>
                </a:solidFill>
              </a:rPr>
              <a:t>CORE TAKEAWAY:  </a:t>
            </a:r>
            <a:pPr indent="0" marL="0">
              <a:buNone/>
            </a:pPr>
            <a:r>
              <a:rPr lang="en-US" sz="1050" dirty="0">
                <a:solidFill>
                  <a:srgbClr val="352F35"/>
                </a:solidFill>
              </a:rPr>
              <a:t>Lists exact triggering inputs and explicitly states it is not a diagnosis. Rules require clinician review before real use.</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CF8F6"/>
        </a:solidFill>
      </p:bgPr>
    </p:bg>
    <p:spTree>
      <p:nvGrpSpPr>
        <p:cNvPr id="1" name=""/>
        <p:cNvGrpSpPr/>
        <p:nvPr/>
      </p:nvGrpSpPr>
      <p:grpSpPr>
        <a:xfrm>
          <a:off x="0" y="0"/>
          <a:ext cx="0" cy="0"/>
          <a:chOff x="0" y="0"/>
          <a:chExt cx="0" cy="0"/>
        </a:xfrm>
      </p:grpSpPr>
      <p:sp>
        <p:nvSpPr>
          <p:cNvPr id="2" name="Shape 0"/>
          <p:cNvSpPr/>
          <p:nvPr/>
        </p:nvSpPr>
        <p:spPr>
          <a:xfrm>
            <a:off x="0" y="0"/>
            <a:ext cx="9144000" cy="91440"/>
          </a:xfrm>
          <a:prstGeom prst="rect">
            <a:avLst/>
          </a:prstGeom>
          <a:solidFill>
            <a:srgbClr val="9F5F6E"/>
          </a:solidFill>
          <a:ln w="12700">
            <a:solidFill>
              <a:srgbClr val="9F5F6E"/>
            </a:solidFill>
            <a:prstDash val="solid"/>
          </a:ln>
        </p:spPr>
      </p:sp>
      <p:sp>
        <p:nvSpPr>
          <p:cNvPr id="3" name="Shape 1"/>
          <p:cNvSpPr/>
          <p:nvPr/>
        </p:nvSpPr>
        <p:spPr>
          <a:xfrm>
            <a:off x="731520" y="320040"/>
            <a:ext cx="2011680" cy="320040"/>
          </a:xfrm>
          <a:prstGeom prst="roundRect">
            <a:avLst>
              <a:gd name="adj" fmla="val 42857"/>
            </a:avLst>
          </a:prstGeom>
          <a:solidFill>
            <a:srgbClr val="F2E1E3"/>
          </a:solidFill>
          <a:ln w="12700">
            <a:solidFill>
              <a:srgbClr val="E9DFDC"/>
            </a:solidFill>
            <a:prstDash val="solid"/>
          </a:ln>
        </p:spPr>
      </p:sp>
      <p:sp>
        <p:nvSpPr>
          <p:cNvPr id="4" name="Text 2"/>
          <p:cNvSpPr/>
          <p:nvPr/>
        </p:nvSpPr>
        <p:spPr>
          <a:xfrm>
            <a:off x="731520" y="320040"/>
            <a:ext cx="2011680" cy="320040"/>
          </a:xfrm>
          <a:prstGeom prst="rect">
            <a:avLst/>
          </a:prstGeom>
          <a:noFill/>
          <a:ln/>
        </p:spPr>
        <p:txBody>
          <a:bodyPr wrap="square" rtlCol="0" anchor="ctr"/>
          <a:lstStyle/>
          <a:p>
            <a:pPr algn="ctr" indent="0" marL="0">
              <a:buNone/>
            </a:pPr>
            <a:r>
              <a:rPr lang="en-US" sz="1000" b="1" dirty="0">
                <a:solidFill>
                  <a:srgbClr val="9F5F6E"/>
                </a:solidFill>
              </a:rPr>
              <a:t>AI ARCHITECTURE</a:t>
            </a:r>
            <a:endParaRPr lang="en-US" sz="1000" dirty="0"/>
          </a:p>
        </p:txBody>
      </p:sp>
      <p:sp>
        <p:nvSpPr>
          <p:cNvPr id="5" name="Text 3"/>
          <p:cNvSpPr/>
          <p:nvPr/>
        </p:nvSpPr>
        <p:spPr>
          <a:xfrm>
            <a:off x="9601200" y="320040"/>
            <a:ext cx="1828800" cy="320040"/>
          </a:xfrm>
          <a:prstGeom prst="rect">
            <a:avLst/>
          </a:prstGeom>
          <a:noFill/>
          <a:ln/>
        </p:spPr>
        <p:txBody>
          <a:bodyPr wrap="square" rtlCol="0" anchor="ctr"/>
          <a:lstStyle/>
          <a:p>
            <a:pPr algn="r" indent="0" marL="0">
              <a:buNone/>
            </a:pPr>
            <a:r>
              <a:rPr lang="en-US" sz="1100" dirty="0">
                <a:solidFill>
                  <a:srgbClr val="766D72"/>
                </a:solidFill>
              </a:rPr>
              <a:t>Slide 8 of 15</a:t>
            </a:r>
            <a:endParaRPr lang="en-US" sz="1100" dirty="0"/>
          </a:p>
        </p:txBody>
      </p:sp>
      <p:sp>
        <p:nvSpPr>
          <p:cNvPr id="6" name="Text 4"/>
          <p:cNvSpPr/>
          <p:nvPr/>
        </p:nvSpPr>
        <p:spPr>
          <a:xfrm>
            <a:off x="731520" y="777240"/>
            <a:ext cx="10698480" cy="640080"/>
          </a:xfrm>
          <a:prstGeom prst="rect">
            <a:avLst/>
          </a:prstGeom>
          <a:noFill/>
          <a:ln/>
        </p:spPr>
        <p:txBody>
          <a:bodyPr wrap="square" rtlCol="0" anchor="ctr"/>
          <a:lstStyle/>
          <a:p>
            <a:pPr indent="0" marL="0">
              <a:buNone/>
            </a:pPr>
            <a:r>
              <a:rPr lang="en-US" sz="2600" b="1" dirty="0">
                <a:solidFill>
                  <a:srgbClr val="352F35"/>
                </a:solidFill>
                <a:latin typeface="Arial" pitchFamily="34" charset="0"/>
                <a:ea typeface="Arial" pitchFamily="34" charset="-122"/>
                <a:cs typeface="Arial" pitchFamily="34" charset="-120"/>
              </a:rPr>
              <a:t>How Generative AI Is Used</a:t>
            </a:r>
            <a:endParaRPr lang="en-US" sz="2600" dirty="0"/>
          </a:p>
        </p:txBody>
      </p:sp>
      <p:sp>
        <p:nvSpPr>
          <p:cNvPr id="7" name="Text 5"/>
          <p:cNvSpPr/>
          <p:nvPr/>
        </p:nvSpPr>
        <p:spPr>
          <a:xfrm>
            <a:off x="731520" y="1417320"/>
            <a:ext cx="10698480" cy="411480"/>
          </a:xfrm>
          <a:prstGeom prst="rect">
            <a:avLst/>
          </a:prstGeom>
          <a:noFill/>
          <a:ln/>
        </p:spPr>
        <p:txBody>
          <a:bodyPr wrap="square" rtlCol="0" anchor="ctr"/>
          <a:lstStyle/>
          <a:p>
            <a:pPr indent="0" marL="0">
              <a:buNone/>
            </a:pPr>
            <a:r>
              <a:rPr lang="en-US" sz="1300" dirty="0">
                <a:solidFill>
                  <a:srgbClr val="9F5F6E"/>
                </a:solidFill>
                <a:latin typeface="Arial" pitchFamily="34" charset="0"/>
                <a:ea typeface="Arial" pitchFamily="34" charset="-122"/>
                <a:cs typeface="Arial" pitchFamily="34" charset="-120"/>
              </a:rPr>
              <a:t>Grounded Google Gemini deployment bounded by strict clinical references</a:t>
            </a:r>
            <a:endParaRPr lang="en-US" sz="1300" dirty="0"/>
          </a:p>
        </p:txBody>
      </p:sp>
      <p:sp>
        <p:nvSpPr>
          <p:cNvPr id="8" name="Shape 6"/>
          <p:cNvSpPr/>
          <p:nvPr/>
        </p:nvSpPr>
        <p:spPr>
          <a:xfrm>
            <a:off x="731520" y="1965960"/>
            <a:ext cx="5166360" cy="1691640"/>
          </a:xfrm>
          <a:prstGeom prst="roundRect">
            <a:avLst>
              <a:gd name="adj" fmla="val 6486"/>
            </a:avLst>
          </a:prstGeom>
          <a:solidFill>
            <a:srgbClr val="FFFFFF"/>
          </a:solidFill>
          <a:ln w="12700">
            <a:solidFill>
              <a:srgbClr val="E9DFDC"/>
            </a:solidFill>
            <a:prstDash val="solid"/>
          </a:ln>
        </p:spPr>
      </p:sp>
      <p:sp>
        <p:nvSpPr>
          <p:cNvPr id="9" name="Shape 7"/>
          <p:cNvSpPr/>
          <p:nvPr/>
        </p:nvSpPr>
        <p:spPr>
          <a:xfrm>
            <a:off x="960120" y="2194560"/>
            <a:ext cx="365760" cy="365760"/>
          </a:xfrm>
          <a:prstGeom prst="ellipse">
            <a:avLst/>
          </a:prstGeom>
          <a:solidFill>
            <a:srgbClr val="F2E1E3"/>
          </a:solidFill>
          <a:ln w="12700">
            <a:solidFill>
              <a:srgbClr val="F2E1E3"/>
            </a:solidFill>
            <a:prstDash val="solid"/>
          </a:ln>
        </p:spPr>
      </p:sp>
      <p:sp>
        <p:nvSpPr>
          <p:cNvPr id="10" name="Text 8"/>
          <p:cNvSpPr/>
          <p:nvPr/>
        </p:nvSpPr>
        <p:spPr>
          <a:xfrm>
            <a:off x="960120" y="2194560"/>
            <a:ext cx="365760" cy="365760"/>
          </a:xfrm>
          <a:prstGeom prst="rect">
            <a:avLst/>
          </a:prstGeom>
          <a:noFill/>
          <a:ln/>
        </p:spPr>
        <p:txBody>
          <a:bodyPr wrap="square" rtlCol="0" anchor="ctr"/>
          <a:lstStyle/>
          <a:p>
            <a:pPr algn="ctr" indent="0" marL="0">
              <a:buNone/>
            </a:pPr>
            <a:r>
              <a:rPr lang="en-US" sz="1100" b="1" dirty="0">
                <a:solidFill>
                  <a:srgbClr val="9F5F6E"/>
                </a:solidFill>
              </a:rPr>
              <a:t>1</a:t>
            </a:r>
            <a:endParaRPr lang="en-US" sz="1100" dirty="0"/>
          </a:p>
        </p:txBody>
      </p:sp>
      <p:sp>
        <p:nvSpPr>
          <p:cNvPr id="11" name="Text 9"/>
          <p:cNvSpPr/>
          <p:nvPr/>
        </p:nvSpPr>
        <p:spPr>
          <a:xfrm>
            <a:off x="1417320" y="2167128"/>
            <a:ext cx="4297680" cy="365760"/>
          </a:xfrm>
          <a:prstGeom prst="rect">
            <a:avLst/>
          </a:prstGeom>
          <a:noFill/>
          <a:ln/>
        </p:spPr>
        <p:txBody>
          <a:bodyPr wrap="square" rtlCol="0" anchor="ctr"/>
          <a:lstStyle/>
          <a:p>
            <a:pPr indent="0" marL="0">
              <a:buNone/>
            </a:pPr>
            <a:r>
              <a:rPr lang="en-US" sz="1300" b="1" dirty="0">
                <a:solidFill>
                  <a:srgbClr val="352F35"/>
                </a:solidFill>
                <a:latin typeface="Arial" pitchFamily="34" charset="0"/>
                <a:ea typeface="Arial" pitchFamily="34" charset="-122"/>
                <a:cs typeface="Arial" pitchFamily="34" charset="-120"/>
              </a:rPr>
              <a:t>Three Core Applications</a:t>
            </a:r>
            <a:endParaRPr lang="en-US" sz="1300" dirty="0"/>
          </a:p>
        </p:txBody>
      </p:sp>
      <p:sp>
        <p:nvSpPr>
          <p:cNvPr id="12" name="Text 10"/>
          <p:cNvSpPr/>
          <p:nvPr/>
        </p:nvSpPr>
        <p:spPr>
          <a:xfrm>
            <a:off x="960120" y="2651760"/>
            <a:ext cx="4709160" cy="914400"/>
          </a:xfrm>
          <a:prstGeom prst="rect">
            <a:avLst/>
          </a:prstGeom>
          <a:noFill/>
          <a:ln/>
        </p:spPr>
        <p:txBody>
          <a:bodyPr wrap="square" rtlCol="0" anchor="t"/>
          <a:lstStyle/>
          <a:p>
            <a:pPr indent="0" marL="0">
              <a:lnSpc>
                <a:spcPct val="115000"/>
              </a:lnSpc>
              <a:buNone/>
            </a:pPr>
            <a:r>
              <a:rPr lang="en-US" sz="1100" dirty="0">
                <a:solidFill>
                  <a:srgbClr val="352F35"/>
                </a:solidFill>
                <a:latin typeface="Arial" pitchFamily="34" charset="0"/>
                <a:ea typeface="Arial" pitchFamily="34" charset="-122"/>
                <a:cs typeface="Arial" pitchFamily="34" charset="-120"/>
              </a:rPr>
              <a:t>1) Contextual conversational assistant, 2) Medical report decoding, 3) Personalized health notices.</a:t>
            </a:r>
            <a:endParaRPr lang="en-US" sz="1100" dirty="0"/>
          </a:p>
        </p:txBody>
      </p:sp>
      <p:sp>
        <p:nvSpPr>
          <p:cNvPr id="13" name="Shape 11"/>
          <p:cNvSpPr/>
          <p:nvPr/>
        </p:nvSpPr>
        <p:spPr>
          <a:xfrm>
            <a:off x="6217920" y="1965960"/>
            <a:ext cx="5166360" cy="1691640"/>
          </a:xfrm>
          <a:prstGeom prst="roundRect">
            <a:avLst>
              <a:gd name="adj" fmla="val 6486"/>
            </a:avLst>
          </a:prstGeom>
          <a:solidFill>
            <a:srgbClr val="FFFFFF"/>
          </a:solidFill>
          <a:ln w="12700">
            <a:solidFill>
              <a:srgbClr val="E9DFDC"/>
            </a:solidFill>
            <a:prstDash val="solid"/>
          </a:ln>
        </p:spPr>
      </p:sp>
      <p:sp>
        <p:nvSpPr>
          <p:cNvPr id="14" name="Shape 12"/>
          <p:cNvSpPr/>
          <p:nvPr/>
        </p:nvSpPr>
        <p:spPr>
          <a:xfrm>
            <a:off x="6446520" y="2194560"/>
            <a:ext cx="365760" cy="365760"/>
          </a:xfrm>
          <a:prstGeom prst="ellipse">
            <a:avLst/>
          </a:prstGeom>
          <a:solidFill>
            <a:srgbClr val="F2E1E3"/>
          </a:solidFill>
          <a:ln w="12700">
            <a:solidFill>
              <a:srgbClr val="F2E1E3"/>
            </a:solidFill>
            <a:prstDash val="solid"/>
          </a:ln>
        </p:spPr>
      </p:sp>
      <p:sp>
        <p:nvSpPr>
          <p:cNvPr id="15" name="Text 13"/>
          <p:cNvSpPr/>
          <p:nvPr/>
        </p:nvSpPr>
        <p:spPr>
          <a:xfrm>
            <a:off x="6446520" y="2194560"/>
            <a:ext cx="365760" cy="365760"/>
          </a:xfrm>
          <a:prstGeom prst="rect">
            <a:avLst/>
          </a:prstGeom>
          <a:noFill/>
          <a:ln/>
        </p:spPr>
        <p:txBody>
          <a:bodyPr wrap="square" rtlCol="0" anchor="ctr"/>
          <a:lstStyle/>
          <a:p>
            <a:pPr algn="ctr" indent="0" marL="0">
              <a:buNone/>
            </a:pPr>
            <a:r>
              <a:rPr lang="en-US" sz="1100" b="1" dirty="0">
                <a:solidFill>
                  <a:srgbClr val="9F5F6E"/>
                </a:solidFill>
              </a:rPr>
              <a:t>2</a:t>
            </a:r>
            <a:endParaRPr lang="en-US" sz="1100" dirty="0"/>
          </a:p>
        </p:txBody>
      </p:sp>
      <p:sp>
        <p:nvSpPr>
          <p:cNvPr id="16" name="Text 14"/>
          <p:cNvSpPr/>
          <p:nvPr/>
        </p:nvSpPr>
        <p:spPr>
          <a:xfrm>
            <a:off x="6903720" y="2167128"/>
            <a:ext cx="4297680" cy="365760"/>
          </a:xfrm>
          <a:prstGeom prst="rect">
            <a:avLst/>
          </a:prstGeom>
          <a:noFill/>
          <a:ln/>
        </p:spPr>
        <p:txBody>
          <a:bodyPr wrap="square" rtlCol="0" anchor="ctr"/>
          <a:lstStyle/>
          <a:p>
            <a:pPr indent="0" marL="0">
              <a:buNone/>
            </a:pPr>
            <a:r>
              <a:rPr lang="en-US" sz="1300" b="1" dirty="0">
                <a:solidFill>
                  <a:srgbClr val="352F35"/>
                </a:solidFill>
                <a:latin typeface="Arial" pitchFamily="34" charset="0"/>
                <a:ea typeface="Arial" pitchFamily="34" charset="-122"/>
                <a:cs typeface="Arial" pitchFamily="34" charset="-120"/>
              </a:rPr>
              <a:t>Curated Knowledge Base</a:t>
            </a:r>
            <a:endParaRPr lang="en-US" sz="1300" dirty="0"/>
          </a:p>
        </p:txBody>
      </p:sp>
      <p:sp>
        <p:nvSpPr>
          <p:cNvPr id="17" name="Text 15"/>
          <p:cNvSpPr/>
          <p:nvPr/>
        </p:nvSpPr>
        <p:spPr>
          <a:xfrm>
            <a:off x="6446520" y="2651760"/>
            <a:ext cx="4709160" cy="914400"/>
          </a:xfrm>
          <a:prstGeom prst="rect">
            <a:avLst/>
          </a:prstGeom>
          <a:noFill/>
          <a:ln/>
        </p:spPr>
        <p:txBody>
          <a:bodyPr wrap="square" rtlCol="0" anchor="t"/>
          <a:lstStyle/>
          <a:p>
            <a:pPr indent="0" marL="0">
              <a:lnSpc>
                <a:spcPct val="115000"/>
              </a:lnSpc>
              <a:buNone/>
            </a:pPr>
            <a:r>
              <a:rPr lang="en-US" sz="1100" dirty="0">
                <a:solidFill>
                  <a:srgbClr val="352F35"/>
                </a:solidFill>
                <a:latin typeface="Arial" pitchFamily="34" charset="0"/>
                <a:ea typeface="Arial" pitchFamily="34" charset="-122"/>
                <a:cs typeface="Arial" pitchFamily="34" charset="-120"/>
              </a:rPr>
              <a:t>Ingests verified reference material from the World Health Organization (WHO) and India's Ministry of Health (MoHFW).</a:t>
            </a:r>
            <a:endParaRPr lang="en-US" sz="1100" dirty="0"/>
          </a:p>
        </p:txBody>
      </p:sp>
      <p:sp>
        <p:nvSpPr>
          <p:cNvPr id="18" name="Shape 16"/>
          <p:cNvSpPr/>
          <p:nvPr/>
        </p:nvSpPr>
        <p:spPr>
          <a:xfrm>
            <a:off x="731520" y="3840480"/>
            <a:ext cx="5166360" cy="1691640"/>
          </a:xfrm>
          <a:prstGeom prst="roundRect">
            <a:avLst>
              <a:gd name="adj" fmla="val 6486"/>
            </a:avLst>
          </a:prstGeom>
          <a:solidFill>
            <a:srgbClr val="FFFFFF"/>
          </a:solidFill>
          <a:ln w="12700">
            <a:solidFill>
              <a:srgbClr val="E9DFDC"/>
            </a:solidFill>
            <a:prstDash val="solid"/>
          </a:ln>
        </p:spPr>
      </p:sp>
      <p:sp>
        <p:nvSpPr>
          <p:cNvPr id="19" name="Shape 17"/>
          <p:cNvSpPr/>
          <p:nvPr/>
        </p:nvSpPr>
        <p:spPr>
          <a:xfrm>
            <a:off x="960120" y="4069080"/>
            <a:ext cx="365760" cy="365760"/>
          </a:xfrm>
          <a:prstGeom prst="ellipse">
            <a:avLst/>
          </a:prstGeom>
          <a:solidFill>
            <a:srgbClr val="F2E1E3"/>
          </a:solidFill>
          <a:ln w="12700">
            <a:solidFill>
              <a:srgbClr val="F2E1E3"/>
            </a:solidFill>
            <a:prstDash val="solid"/>
          </a:ln>
        </p:spPr>
      </p:sp>
      <p:sp>
        <p:nvSpPr>
          <p:cNvPr id="20" name="Text 18"/>
          <p:cNvSpPr/>
          <p:nvPr/>
        </p:nvSpPr>
        <p:spPr>
          <a:xfrm>
            <a:off x="960120" y="4069080"/>
            <a:ext cx="365760" cy="365760"/>
          </a:xfrm>
          <a:prstGeom prst="rect">
            <a:avLst/>
          </a:prstGeom>
          <a:noFill/>
          <a:ln/>
        </p:spPr>
        <p:txBody>
          <a:bodyPr wrap="square" rtlCol="0" anchor="ctr"/>
          <a:lstStyle/>
          <a:p>
            <a:pPr algn="ctr" indent="0" marL="0">
              <a:buNone/>
            </a:pPr>
            <a:r>
              <a:rPr lang="en-US" sz="1100" b="1" dirty="0">
                <a:solidFill>
                  <a:srgbClr val="9F5F6E"/>
                </a:solidFill>
              </a:rPr>
              <a:t>3</a:t>
            </a:r>
            <a:endParaRPr lang="en-US" sz="1100" dirty="0"/>
          </a:p>
        </p:txBody>
      </p:sp>
      <p:sp>
        <p:nvSpPr>
          <p:cNvPr id="21" name="Text 19"/>
          <p:cNvSpPr/>
          <p:nvPr/>
        </p:nvSpPr>
        <p:spPr>
          <a:xfrm>
            <a:off x="1417320" y="4041648"/>
            <a:ext cx="4297680" cy="365760"/>
          </a:xfrm>
          <a:prstGeom prst="rect">
            <a:avLst/>
          </a:prstGeom>
          <a:noFill/>
          <a:ln/>
        </p:spPr>
        <p:txBody>
          <a:bodyPr wrap="square" rtlCol="0" anchor="ctr"/>
          <a:lstStyle/>
          <a:p>
            <a:pPr indent="0" marL="0">
              <a:buNone/>
            </a:pPr>
            <a:r>
              <a:rPr lang="en-US" sz="1300" b="1" dirty="0">
                <a:solidFill>
                  <a:srgbClr val="352F35"/>
                </a:solidFill>
                <a:latin typeface="Arial" pitchFamily="34" charset="0"/>
                <a:ea typeface="Arial" pitchFamily="34" charset="-122"/>
                <a:cs typeface="Arial" pitchFamily="34" charset="-120"/>
              </a:rPr>
              <a:t>Strict Guardrails &amp; Constraints</a:t>
            </a:r>
            <a:endParaRPr lang="en-US" sz="1300" dirty="0"/>
          </a:p>
        </p:txBody>
      </p:sp>
      <p:sp>
        <p:nvSpPr>
          <p:cNvPr id="22" name="Text 20"/>
          <p:cNvSpPr/>
          <p:nvPr/>
        </p:nvSpPr>
        <p:spPr>
          <a:xfrm>
            <a:off x="960120" y="4526280"/>
            <a:ext cx="4709160" cy="914400"/>
          </a:xfrm>
          <a:prstGeom prst="rect">
            <a:avLst/>
          </a:prstGeom>
          <a:noFill/>
          <a:ln/>
        </p:spPr>
        <p:txBody>
          <a:bodyPr wrap="square" rtlCol="0" anchor="t"/>
          <a:lstStyle/>
          <a:p>
            <a:pPr indent="0" marL="0">
              <a:lnSpc>
                <a:spcPct val="115000"/>
              </a:lnSpc>
              <a:buNone/>
            </a:pPr>
            <a:r>
              <a:rPr lang="en-US" sz="1100" dirty="0">
                <a:solidFill>
                  <a:srgbClr val="352F35"/>
                </a:solidFill>
                <a:latin typeface="Arial" pitchFamily="34" charset="0"/>
                <a:ea typeface="Arial" pitchFamily="34" charset="-122"/>
                <a:cs typeface="Arial" pitchFamily="34" charset="-120"/>
              </a:rPr>
              <a:t>Instructed to use only the knowledge base for medical facts, admit when info is unavailable, and never diagnose or alter medication.</a:t>
            </a:r>
            <a:endParaRPr lang="en-US" sz="1100" dirty="0"/>
          </a:p>
        </p:txBody>
      </p:sp>
      <p:sp>
        <p:nvSpPr>
          <p:cNvPr id="23" name="Shape 21"/>
          <p:cNvSpPr/>
          <p:nvPr/>
        </p:nvSpPr>
        <p:spPr>
          <a:xfrm>
            <a:off x="6217920" y="3840480"/>
            <a:ext cx="5166360" cy="1691640"/>
          </a:xfrm>
          <a:prstGeom prst="roundRect">
            <a:avLst>
              <a:gd name="adj" fmla="val 6486"/>
            </a:avLst>
          </a:prstGeom>
          <a:solidFill>
            <a:srgbClr val="FFFFFF"/>
          </a:solidFill>
          <a:ln w="12700">
            <a:solidFill>
              <a:srgbClr val="E9DFDC"/>
            </a:solidFill>
            <a:prstDash val="solid"/>
          </a:ln>
        </p:spPr>
      </p:sp>
      <p:sp>
        <p:nvSpPr>
          <p:cNvPr id="24" name="Shape 22"/>
          <p:cNvSpPr/>
          <p:nvPr/>
        </p:nvSpPr>
        <p:spPr>
          <a:xfrm>
            <a:off x="6446520" y="4069080"/>
            <a:ext cx="365760" cy="365760"/>
          </a:xfrm>
          <a:prstGeom prst="ellipse">
            <a:avLst/>
          </a:prstGeom>
          <a:solidFill>
            <a:srgbClr val="F2E1E3"/>
          </a:solidFill>
          <a:ln w="12700">
            <a:solidFill>
              <a:srgbClr val="F2E1E3"/>
            </a:solidFill>
            <a:prstDash val="solid"/>
          </a:ln>
        </p:spPr>
      </p:sp>
      <p:sp>
        <p:nvSpPr>
          <p:cNvPr id="25" name="Text 23"/>
          <p:cNvSpPr/>
          <p:nvPr/>
        </p:nvSpPr>
        <p:spPr>
          <a:xfrm>
            <a:off x="6446520" y="4069080"/>
            <a:ext cx="365760" cy="365760"/>
          </a:xfrm>
          <a:prstGeom prst="rect">
            <a:avLst/>
          </a:prstGeom>
          <a:noFill/>
          <a:ln/>
        </p:spPr>
        <p:txBody>
          <a:bodyPr wrap="square" rtlCol="0" anchor="ctr"/>
          <a:lstStyle/>
          <a:p>
            <a:pPr algn="ctr" indent="0" marL="0">
              <a:buNone/>
            </a:pPr>
            <a:r>
              <a:rPr lang="en-US" sz="1100" b="1" dirty="0">
                <a:solidFill>
                  <a:srgbClr val="9F5F6E"/>
                </a:solidFill>
              </a:rPr>
              <a:t>4</a:t>
            </a:r>
            <a:endParaRPr lang="en-US" sz="1100" dirty="0"/>
          </a:p>
        </p:txBody>
      </p:sp>
      <p:sp>
        <p:nvSpPr>
          <p:cNvPr id="26" name="Text 24"/>
          <p:cNvSpPr/>
          <p:nvPr/>
        </p:nvSpPr>
        <p:spPr>
          <a:xfrm>
            <a:off x="6903720" y="4041648"/>
            <a:ext cx="4297680" cy="365760"/>
          </a:xfrm>
          <a:prstGeom prst="rect">
            <a:avLst/>
          </a:prstGeom>
          <a:noFill/>
          <a:ln/>
        </p:spPr>
        <p:txBody>
          <a:bodyPr wrap="square" rtlCol="0" anchor="ctr"/>
          <a:lstStyle/>
          <a:p>
            <a:pPr indent="0" marL="0">
              <a:buNone/>
            </a:pPr>
            <a:r>
              <a:rPr lang="en-US" sz="1300" b="1" dirty="0">
                <a:solidFill>
                  <a:srgbClr val="352F35"/>
                </a:solidFill>
                <a:latin typeface="Arial" pitchFamily="34" charset="0"/>
                <a:ea typeface="Arial" pitchFamily="34" charset="-122"/>
                <a:cs typeface="Arial" pitchFamily="34" charset="-120"/>
              </a:rPr>
              <a:t>Transparent Attribution</a:t>
            </a:r>
            <a:endParaRPr lang="en-US" sz="1300" dirty="0"/>
          </a:p>
        </p:txBody>
      </p:sp>
      <p:sp>
        <p:nvSpPr>
          <p:cNvPr id="27" name="Text 25"/>
          <p:cNvSpPr/>
          <p:nvPr/>
        </p:nvSpPr>
        <p:spPr>
          <a:xfrm>
            <a:off x="6446520" y="4526280"/>
            <a:ext cx="4709160" cy="914400"/>
          </a:xfrm>
          <a:prstGeom prst="rect">
            <a:avLst/>
          </a:prstGeom>
          <a:noFill/>
          <a:ln/>
        </p:spPr>
        <p:txBody>
          <a:bodyPr wrap="square" rtlCol="0" anchor="t"/>
          <a:lstStyle/>
          <a:p>
            <a:pPr indent="0" marL="0">
              <a:lnSpc>
                <a:spcPct val="115000"/>
              </a:lnSpc>
              <a:buNone/>
            </a:pPr>
            <a:r>
              <a:rPr lang="en-US" sz="1100" dirty="0">
                <a:solidFill>
                  <a:srgbClr val="352F35"/>
                </a:solidFill>
                <a:latin typeface="Arial" pitchFamily="34" charset="0"/>
                <a:ea typeface="Arial" pitchFamily="34" charset="-122"/>
                <a:cs typeface="Arial" pitchFamily="34" charset="-120"/>
              </a:rPr>
              <a:t>Every answer displays source references, rationale, and system confidence scores.</a:t>
            </a:r>
            <a:endParaRPr lang="en-US" sz="1100" dirty="0"/>
          </a:p>
        </p:txBody>
      </p:sp>
      <p:sp>
        <p:nvSpPr>
          <p:cNvPr id="28" name="Shape 26"/>
          <p:cNvSpPr/>
          <p:nvPr/>
        </p:nvSpPr>
        <p:spPr>
          <a:xfrm>
            <a:off x="731520" y="5715000"/>
            <a:ext cx="10652760" cy="594360"/>
          </a:xfrm>
          <a:prstGeom prst="roundRect">
            <a:avLst>
              <a:gd name="adj" fmla="val 15385"/>
            </a:avLst>
          </a:prstGeom>
          <a:solidFill>
            <a:srgbClr val="F2E1E3"/>
          </a:solidFill>
          <a:ln w="12700">
            <a:solidFill>
              <a:srgbClr val="E9DFDC"/>
            </a:solidFill>
            <a:prstDash val="solid"/>
          </a:ln>
        </p:spPr>
      </p:sp>
      <p:sp>
        <p:nvSpPr>
          <p:cNvPr id="29" name="Text 27"/>
          <p:cNvSpPr/>
          <p:nvPr/>
        </p:nvSpPr>
        <p:spPr>
          <a:xfrm>
            <a:off x="914400" y="5715000"/>
            <a:ext cx="10287000" cy="594360"/>
          </a:xfrm>
          <a:prstGeom prst="rect">
            <a:avLst/>
          </a:prstGeom>
          <a:noFill/>
          <a:ln/>
        </p:spPr>
        <p:txBody>
          <a:bodyPr wrap="square" rtlCol="0" anchor="ctr"/>
          <a:lstStyle/>
          <a:p>
            <a:pPr indent="0" marL="0">
              <a:buNone/>
            </a:pPr>
            <a:r>
              <a:rPr lang="en-US" sz="1000" b="1" dirty="0">
                <a:solidFill>
                  <a:srgbClr val="9F5F6E"/>
                </a:solidFill>
              </a:rPr>
              <a:t>CORE TAKEAWAY:  </a:t>
            </a:r>
            <a:pPr indent="0" marL="0">
              <a:buNone/>
            </a:pPr>
            <a:r>
              <a:rPr lang="en-US" sz="1050" dirty="0">
                <a:solidFill>
                  <a:srgbClr val="352F35"/>
                </a:solidFill>
              </a:rPr>
              <a:t>Generative AI is strictly bounded by curated medical references and explicit uncertainty communication.</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CF8F6"/>
        </a:solidFill>
      </p:bgPr>
    </p:bg>
    <p:spTree>
      <p:nvGrpSpPr>
        <p:cNvPr id="1" name=""/>
        <p:cNvGrpSpPr/>
        <p:nvPr/>
      </p:nvGrpSpPr>
      <p:grpSpPr>
        <a:xfrm>
          <a:off x="0" y="0"/>
          <a:ext cx="0" cy="0"/>
          <a:chOff x="0" y="0"/>
          <a:chExt cx="0" cy="0"/>
        </a:xfrm>
      </p:grpSpPr>
      <p:sp>
        <p:nvSpPr>
          <p:cNvPr id="2" name="Shape 0"/>
          <p:cNvSpPr/>
          <p:nvPr/>
        </p:nvSpPr>
        <p:spPr>
          <a:xfrm>
            <a:off x="0" y="0"/>
            <a:ext cx="9144000" cy="91440"/>
          </a:xfrm>
          <a:prstGeom prst="rect">
            <a:avLst/>
          </a:prstGeom>
          <a:solidFill>
            <a:srgbClr val="9F5F6E"/>
          </a:solidFill>
          <a:ln w="12700">
            <a:solidFill>
              <a:srgbClr val="9F5F6E"/>
            </a:solidFill>
            <a:prstDash val="solid"/>
          </a:ln>
        </p:spPr>
      </p:sp>
      <p:sp>
        <p:nvSpPr>
          <p:cNvPr id="3" name="Shape 1"/>
          <p:cNvSpPr/>
          <p:nvPr/>
        </p:nvSpPr>
        <p:spPr>
          <a:xfrm>
            <a:off x="731520" y="320040"/>
            <a:ext cx="2011680" cy="320040"/>
          </a:xfrm>
          <a:prstGeom prst="roundRect">
            <a:avLst>
              <a:gd name="adj" fmla="val 42857"/>
            </a:avLst>
          </a:prstGeom>
          <a:solidFill>
            <a:srgbClr val="F2E1E3"/>
          </a:solidFill>
          <a:ln w="12700">
            <a:solidFill>
              <a:srgbClr val="E9DFDC"/>
            </a:solidFill>
            <a:prstDash val="solid"/>
          </a:ln>
        </p:spPr>
      </p:sp>
      <p:sp>
        <p:nvSpPr>
          <p:cNvPr id="4" name="Text 2"/>
          <p:cNvSpPr/>
          <p:nvPr/>
        </p:nvSpPr>
        <p:spPr>
          <a:xfrm>
            <a:off x="731520" y="320040"/>
            <a:ext cx="2011680" cy="320040"/>
          </a:xfrm>
          <a:prstGeom prst="rect">
            <a:avLst/>
          </a:prstGeom>
          <a:noFill/>
          <a:ln/>
        </p:spPr>
        <p:txBody>
          <a:bodyPr wrap="square" rtlCol="0" anchor="ctr"/>
          <a:lstStyle/>
          <a:p>
            <a:pPr algn="ctr" indent="0" marL="0">
              <a:buNone/>
            </a:pPr>
            <a:r>
              <a:rPr lang="en-US" sz="1000" b="1" dirty="0">
                <a:solidFill>
                  <a:srgbClr val="9F5F6E"/>
                </a:solidFill>
              </a:rPr>
              <a:t>MACHINE LEARNING</a:t>
            </a:r>
            <a:endParaRPr lang="en-US" sz="1000" dirty="0"/>
          </a:p>
        </p:txBody>
      </p:sp>
      <p:sp>
        <p:nvSpPr>
          <p:cNvPr id="5" name="Text 3"/>
          <p:cNvSpPr/>
          <p:nvPr/>
        </p:nvSpPr>
        <p:spPr>
          <a:xfrm>
            <a:off x="9601200" y="320040"/>
            <a:ext cx="1828800" cy="320040"/>
          </a:xfrm>
          <a:prstGeom prst="rect">
            <a:avLst/>
          </a:prstGeom>
          <a:noFill/>
          <a:ln/>
        </p:spPr>
        <p:txBody>
          <a:bodyPr wrap="square" rtlCol="0" anchor="ctr"/>
          <a:lstStyle/>
          <a:p>
            <a:pPr algn="r" indent="0" marL="0">
              <a:buNone/>
            </a:pPr>
            <a:r>
              <a:rPr lang="en-US" sz="1100" dirty="0">
                <a:solidFill>
                  <a:srgbClr val="766D72"/>
                </a:solidFill>
              </a:rPr>
              <a:t>Slide 9 of 15</a:t>
            </a:r>
            <a:endParaRPr lang="en-US" sz="1100" dirty="0"/>
          </a:p>
        </p:txBody>
      </p:sp>
      <p:sp>
        <p:nvSpPr>
          <p:cNvPr id="6" name="Text 4"/>
          <p:cNvSpPr/>
          <p:nvPr/>
        </p:nvSpPr>
        <p:spPr>
          <a:xfrm>
            <a:off x="731520" y="777240"/>
            <a:ext cx="10698480" cy="640080"/>
          </a:xfrm>
          <a:prstGeom prst="rect">
            <a:avLst/>
          </a:prstGeom>
          <a:noFill/>
          <a:ln/>
        </p:spPr>
        <p:txBody>
          <a:bodyPr wrap="square" rtlCol="0" anchor="ctr"/>
          <a:lstStyle/>
          <a:p>
            <a:pPr indent="0" marL="0">
              <a:buNone/>
            </a:pPr>
            <a:r>
              <a:rPr lang="en-US" sz="2600" b="1" dirty="0">
                <a:solidFill>
                  <a:srgbClr val="352F35"/>
                </a:solidFill>
                <a:latin typeface="Arial" pitchFamily="34" charset="0"/>
                <a:ea typeface="Arial" pitchFamily="34" charset="-122"/>
                <a:cs typeface="Arial" pitchFamily="34" charset="-120"/>
              </a:rPr>
              <a:t>Machine Learning &amp; Pattern Analysis</a:t>
            </a:r>
            <a:endParaRPr lang="en-US" sz="2600" dirty="0"/>
          </a:p>
        </p:txBody>
      </p:sp>
      <p:sp>
        <p:nvSpPr>
          <p:cNvPr id="7" name="Text 5"/>
          <p:cNvSpPr/>
          <p:nvPr/>
        </p:nvSpPr>
        <p:spPr>
          <a:xfrm>
            <a:off x="731520" y="1417320"/>
            <a:ext cx="10698480" cy="411480"/>
          </a:xfrm>
          <a:prstGeom prst="rect">
            <a:avLst/>
          </a:prstGeom>
          <a:noFill/>
          <a:ln/>
        </p:spPr>
        <p:txBody>
          <a:bodyPr wrap="square" rtlCol="0" anchor="ctr"/>
          <a:lstStyle/>
          <a:p>
            <a:pPr indent="0" marL="0">
              <a:buNone/>
            </a:pPr>
            <a:r>
              <a:rPr lang="en-US" sz="1300" dirty="0">
                <a:solidFill>
                  <a:srgbClr val="9F5F6E"/>
                </a:solidFill>
                <a:latin typeface="Arial" pitchFamily="34" charset="0"/>
                <a:ea typeface="Arial" pitchFamily="34" charset="-122"/>
                <a:cs typeface="Arial" pitchFamily="34" charset="-120"/>
              </a:rPr>
              <a:t>Surfacing longitudinal correlations hidden across everyday check-ins</a:t>
            </a:r>
            <a:endParaRPr lang="en-US" sz="1300" dirty="0"/>
          </a:p>
        </p:txBody>
      </p:sp>
      <p:sp>
        <p:nvSpPr>
          <p:cNvPr id="8" name="Shape 6"/>
          <p:cNvSpPr/>
          <p:nvPr/>
        </p:nvSpPr>
        <p:spPr>
          <a:xfrm>
            <a:off x="731520" y="1965960"/>
            <a:ext cx="5166360" cy="1691640"/>
          </a:xfrm>
          <a:prstGeom prst="roundRect">
            <a:avLst>
              <a:gd name="adj" fmla="val 6486"/>
            </a:avLst>
          </a:prstGeom>
          <a:solidFill>
            <a:srgbClr val="FFFFFF"/>
          </a:solidFill>
          <a:ln w="12700">
            <a:solidFill>
              <a:srgbClr val="E9DFDC"/>
            </a:solidFill>
            <a:prstDash val="solid"/>
          </a:ln>
        </p:spPr>
      </p:sp>
      <p:sp>
        <p:nvSpPr>
          <p:cNvPr id="9" name="Shape 7"/>
          <p:cNvSpPr/>
          <p:nvPr/>
        </p:nvSpPr>
        <p:spPr>
          <a:xfrm>
            <a:off x="960120" y="2194560"/>
            <a:ext cx="365760" cy="365760"/>
          </a:xfrm>
          <a:prstGeom prst="ellipse">
            <a:avLst/>
          </a:prstGeom>
          <a:solidFill>
            <a:srgbClr val="F2E1E3"/>
          </a:solidFill>
          <a:ln w="12700">
            <a:solidFill>
              <a:srgbClr val="F2E1E3"/>
            </a:solidFill>
            <a:prstDash val="solid"/>
          </a:ln>
        </p:spPr>
      </p:sp>
      <p:sp>
        <p:nvSpPr>
          <p:cNvPr id="10" name="Text 8"/>
          <p:cNvSpPr/>
          <p:nvPr/>
        </p:nvSpPr>
        <p:spPr>
          <a:xfrm>
            <a:off x="960120" y="2194560"/>
            <a:ext cx="365760" cy="365760"/>
          </a:xfrm>
          <a:prstGeom prst="rect">
            <a:avLst/>
          </a:prstGeom>
          <a:noFill/>
          <a:ln/>
        </p:spPr>
        <p:txBody>
          <a:bodyPr wrap="square" rtlCol="0" anchor="ctr"/>
          <a:lstStyle/>
          <a:p>
            <a:pPr algn="ctr" indent="0" marL="0">
              <a:buNone/>
            </a:pPr>
            <a:r>
              <a:rPr lang="en-US" sz="1100" b="1" dirty="0">
                <a:solidFill>
                  <a:srgbClr val="9F5F6E"/>
                </a:solidFill>
              </a:rPr>
              <a:t>1</a:t>
            </a:r>
            <a:endParaRPr lang="en-US" sz="1100" dirty="0"/>
          </a:p>
        </p:txBody>
      </p:sp>
      <p:sp>
        <p:nvSpPr>
          <p:cNvPr id="11" name="Text 9"/>
          <p:cNvSpPr/>
          <p:nvPr/>
        </p:nvSpPr>
        <p:spPr>
          <a:xfrm>
            <a:off x="1417320" y="2167128"/>
            <a:ext cx="4297680" cy="365760"/>
          </a:xfrm>
          <a:prstGeom prst="rect">
            <a:avLst/>
          </a:prstGeom>
          <a:noFill/>
          <a:ln/>
        </p:spPr>
        <p:txBody>
          <a:bodyPr wrap="square" rtlCol="0" anchor="ctr"/>
          <a:lstStyle/>
          <a:p>
            <a:pPr indent="0" marL="0">
              <a:buNone/>
            </a:pPr>
            <a:r>
              <a:rPr lang="en-US" sz="1300" b="1" dirty="0">
                <a:solidFill>
                  <a:srgbClr val="352F35"/>
                </a:solidFill>
                <a:latin typeface="Arial" pitchFamily="34" charset="0"/>
                <a:ea typeface="Arial" pitchFamily="34" charset="-122"/>
                <a:cs typeface="Arial" pitchFamily="34" charset="-120"/>
              </a:rPr>
              <a:t>Repeated Symptoms Detection</a:t>
            </a:r>
            <a:endParaRPr lang="en-US" sz="1300" dirty="0"/>
          </a:p>
        </p:txBody>
      </p:sp>
      <p:sp>
        <p:nvSpPr>
          <p:cNvPr id="12" name="Text 10"/>
          <p:cNvSpPr/>
          <p:nvPr/>
        </p:nvSpPr>
        <p:spPr>
          <a:xfrm>
            <a:off x="960120" y="2651760"/>
            <a:ext cx="4709160" cy="914400"/>
          </a:xfrm>
          <a:prstGeom prst="rect">
            <a:avLst/>
          </a:prstGeom>
          <a:noFill/>
          <a:ln/>
        </p:spPr>
        <p:txBody>
          <a:bodyPr wrap="square" rtlCol="0" anchor="t"/>
          <a:lstStyle/>
          <a:p>
            <a:pPr indent="0" marL="0">
              <a:lnSpc>
                <a:spcPct val="115000"/>
              </a:lnSpc>
              <a:buNone/>
            </a:pPr>
            <a:r>
              <a:rPr lang="en-US" sz="1100" dirty="0">
                <a:solidFill>
                  <a:srgbClr val="352F35"/>
                </a:solidFill>
                <a:latin typeface="Arial" pitchFamily="34" charset="0"/>
                <a:ea typeface="Arial" pitchFamily="34" charset="-122"/>
                <a:cs typeface="Arial" pitchFamily="34" charset="-120"/>
              </a:rPr>
              <a:t>Identifies chronic patterns, such as lower back discomfort mentioned on 4 of the last 7 days.</a:t>
            </a:r>
            <a:endParaRPr lang="en-US" sz="1100" dirty="0"/>
          </a:p>
        </p:txBody>
      </p:sp>
      <p:sp>
        <p:nvSpPr>
          <p:cNvPr id="13" name="Shape 11"/>
          <p:cNvSpPr/>
          <p:nvPr/>
        </p:nvSpPr>
        <p:spPr>
          <a:xfrm>
            <a:off x="6217920" y="1965960"/>
            <a:ext cx="5166360" cy="1691640"/>
          </a:xfrm>
          <a:prstGeom prst="roundRect">
            <a:avLst>
              <a:gd name="adj" fmla="val 6486"/>
            </a:avLst>
          </a:prstGeom>
          <a:solidFill>
            <a:srgbClr val="FFFFFF"/>
          </a:solidFill>
          <a:ln w="12700">
            <a:solidFill>
              <a:srgbClr val="E9DFDC"/>
            </a:solidFill>
            <a:prstDash val="solid"/>
          </a:ln>
        </p:spPr>
      </p:sp>
      <p:sp>
        <p:nvSpPr>
          <p:cNvPr id="14" name="Shape 12"/>
          <p:cNvSpPr/>
          <p:nvPr/>
        </p:nvSpPr>
        <p:spPr>
          <a:xfrm>
            <a:off x="6446520" y="2194560"/>
            <a:ext cx="365760" cy="365760"/>
          </a:xfrm>
          <a:prstGeom prst="ellipse">
            <a:avLst/>
          </a:prstGeom>
          <a:solidFill>
            <a:srgbClr val="F2E1E3"/>
          </a:solidFill>
          <a:ln w="12700">
            <a:solidFill>
              <a:srgbClr val="F2E1E3"/>
            </a:solidFill>
            <a:prstDash val="solid"/>
          </a:ln>
        </p:spPr>
      </p:sp>
      <p:sp>
        <p:nvSpPr>
          <p:cNvPr id="15" name="Text 13"/>
          <p:cNvSpPr/>
          <p:nvPr/>
        </p:nvSpPr>
        <p:spPr>
          <a:xfrm>
            <a:off x="6446520" y="2194560"/>
            <a:ext cx="365760" cy="365760"/>
          </a:xfrm>
          <a:prstGeom prst="rect">
            <a:avLst/>
          </a:prstGeom>
          <a:noFill/>
          <a:ln/>
        </p:spPr>
        <p:txBody>
          <a:bodyPr wrap="square" rtlCol="0" anchor="ctr"/>
          <a:lstStyle/>
          <a:p>
            <a:pPr algn="ctr" indent="0" marL="0">
              <a:buNone/>
            </a:pPr>
            <a:r>
              <a:rPr lang="en-US" sz="1100" b="1" dirty="0">
                <a:solidFill>
                  <a:srgbClr val="9F5F6E"/>
                </a:solidFill>
              </a:rPr>
              <a:t>2</a:t>
            </a:r>
            <a:endParaRPr lang="en-US" sz="1100" dirty="0"/>
          </a:p>
        </p:txBody>
      </p:sp>
      <p:sp>
        <p:nvSpPr>
          <p:cNvPr id="16" name="Text 14"/>
          <p:cNvSpPr/>
          <p:nvPr/>
        </p:nvSpPr>
        <p:spPr>
          <a:xfrm>
            <a:off x="6903720" y="2167128"/>
            <a:ext cx="4297680" cy="365760"/>
          </a:xfrm>
          <a:prstGeom prst="rect">
            <a:avLst/>
          </a:prstGeom>
          <a:noFill/>
          <a:ln/>
        </p:spPr>
        <p:txBody>
          <a:bodyPr wrap="square" rtlCol="0" anchor="ctr"/>
          <a:lstStyle/>
          <a:p>
            <a:pPr indent="0" marL="0">
              <a:buNone/>
            </a:pPr>
            <a:r>
              <a:rPr lang="en-US" sz="1300" b="1" dirty="0">
                <a:solidFill>
                  <a:srgbClr val="352F35"/>
                </a:solidFill>
                <a:latin typeface="Arial" pitchFamily="34" charset="0"/>
                <a:ea typeface="Arial" pitchFamily="34" charset="-122"/>
                <a:cs typeface="Arial" pitchFamily="34" charset="-120"/>
              </a:rPr>
              <a:t>Multivariate Trend Tracking</a:t>
            </a:r>
            <a:endParaRPr lang="en-US" sz="1300" dirty="0"/>
          </a:p>
        </p:txBody>
      </p:sp>
      <p:sp>
        <p:nvSpPr>
          <p:cNvPr id="17" name="Text 15"/>
          <p:cNvSpPr/>
          <p:nvPr/>
        </p:nvSpPr>
        <p:spPr>
          <a:xfrm>
            <a:off x="6446520" y="2651760"/>
            <a:ext cx="4709160" cy="914400"/>
          </a:xfrm>
          <a:prstGeom prst="rect">
            <a:avLst/>
          </a:prstGeom>
          <a:noFill/>
          <a:ln/>
        </p:spPr>
        <p:txBody>
          <a:bodyPr wrap="square" rtlCol="0" anchor="t"/>
          <a:lstStyle/>
          <a:p>
            <a:pPr indent="0" marL="0">
              <a:lnSpc>
                <a:spcPct val="115000"/>
              </a:lnSpc>
              <a:buNone/>
            </a:pPr>
            <a:r>
              <a:rPr lang="en-US" sz="1100" dirty="0">
                <a:solidFill>
                  <a:srgbClr val="352F35"/>
                </a:solidFill>
                <a:latin typeface="Arial" pitchFamily="34" charset="0"/>
                <a:ea typeface="Arial" pitchFamily="34" charset="-122"/>
                <a:cs typeface="Arial" pitchFamily="34" charset="-120"/>
              </a:rPr>
              <a:t>Detects multi-day trajectories: progressive drop in sleep hours or declining energy levels.</a:t>
            </a:r>
            <a:endParaRPr lang="en-US" sz="1100" dirty="0"/>
          </a:p>
        </p:txBody>
      </p:sp>
      <p:sp>
        <p:nvSpPr>
          <p:cNvPr id="18" name="Shape 16"/>
          <p:cNvSpPr/>
          <p:nvPr/>
        </p:nvSpPr>
        <p:spPr>
          <a:xfrm>
            <a:off x="731520" y="3840480"/>
            <a:ext cx="5166360" cy="1691640"/>
          </a:xfrm>
          <a:prstGeom prst="roundRect">
            <a:avLst>
              <a:gd name="adj" fmla="val 6486"/>
            </a:avLst>
          </a:prstGeom>
          <a:solidFill>
            <a:srgbClr val="FFFFFF"/>
          </a:solidFill>
          <a:ln w="12700">
            <a:solidFill>
              <a:srgbClr val="E9DFDC"/>
            </a:solidFill>
            <a:prstDash val="solid"/>
          </a:ln>
        </p:spPr>
      </p:sp>
      <p:sp>
        <p:nvSpPr>
          <p:cNvPr id="19" name="Shape 17"/>
          <p:cNvSpPr/>
          <p:nvPr/>
        </p:nvSpPr>
        <p:spPr>
          <a:xfrm>
            <a:off x="960120" y="4069080"/>
            <a:ext cx="365760" cy="365760"/>
          </a:xfrm>
          <a:prstGeom prst="ellipse">
            <a:avLst/>
          </a:prstGeom>
          <a:solidFill>
            <a:srgbClr val="F2E1E3"/>
          </a:solidFill>
          <a:ln w="12700">
            <a:solidFill>
              <a:srgbClr val="F2E1E3"/>
            </a:solidFill>
            <a:prstDash val="solid"/>
          </a:ln>
        </p:spPr>
      </p:sp>
      <p:sp>
        <p:nvSpPr>
          <p:cNvPr id="20" name="Text 18"/>
          <p:cNvSpPr/>
          <p:nvPr/>
        </p:nvSpPr>
        <p:spPr>
          <a:xfrm>
            <a:off x="960120" y="4069080"/>
            <a:ext cx="365760" cy="365760"/>
          </a:xfrm>
          <a:prstGeom prst="rect">
            <a:avLst/>
          </a:prstGeom>
          <a:noFill/>
          <a:ln/>
        </p:spPr>
        <p:txBody>
          <a:bodyPr wrap="square" rtlCol="0" anchor="ctr"/>
          <a:lstStyle/>
          <a:p>
            <a:pPr algn="ctr" indent="0" marL="0">
              <a:buNone/>
            </a:pPr>
            <a:r>
              <a:rPr lang="en-US" sz="1100" b="1" dirty="0">
                <a:solidFill>
                  <a:srgbClr val="9F5F6E"/>
                </a:solidFill>
              </a:rPr>
              <a:t>3</a:t>
            </a:r>
            <a:endParaRPr lang="en-US" sz="1100" dirty="0"/>
          </a:p>
        </p:txBody>
      </p:sp>
      <p:sp>
        <p:nvSpPr>
          <p:cNvPr id="21" name="Text 19"/>
          <p:cNvSpPr/>
          <p:nvPr/>
        </p:nvSpPr>
        <p:spPr>
          <a:xfrm>
            <a:off x="1417320" y="4041648"/>
            <a:ext cx="4297680" cy="365760"/>
          </a:xfrm>
          <a:prstGeom prst="rect">
            <a:avLst/>
          </a:prstGeom>
          <a:noFill/>
          <a:ln/>
        </p:spPr>
        <p:txBody>
          <a:bodyPr wrap="square" rtlCol="0" anchor="ctr"/>
          <a:lstStyle/>
          <a:p>
            <a:pPr indent="0" marL="0">
              <a:buNone/>
            </a:pPr>
            <a:r>
              <a:rPr lang="en-US" sz="1300" b="1" dirty="0">
                <a:solidFill>
                  <a:srgbClr val="352F35"/>
                </a:solidFill>
                <a:latin typeface="Arial" pitchFamily="34" charset="0"/>
                <a:ea typeface="Arial" pitchFamily="34" charset="-122"/>
                <a:cs typeface="Arial" pitchFamily="34" charset="-120"/>
              </a:rPr>
              <a:t>Check-in Adherence</a:t>
            </a:r>
            <a:endParaRPr lang="en-US" sz="1300" dirty="0"/>
          </a:p>
        </p:txBody>
      </p:sp>
      <p:sp>
        <p:nvSpPr>
          <p:cNvPr id="22" name="Text 20"/>
          <p:cNvSpPr/>
          <p:nvPr/>
        </p:nvSpPr>
        <p:spPr>
          <a:xfrm>
            <a:off x="960120" y="4526280"/>
            <a:ext cx="4709160" cy="914400"/>
          </a:xfrm>
          <a:prstGeom prst="rect">
            <a:avLst/>
          </a:prstGeom>
          <a:noFill/>
          <a:ln/>
        </p:spPr>
        <p:txBody>
          <a:bodyPr wrap="square" rtlCol="0" anchor="t"/>
          <a:lstStyle/>
          <a:p>
            <a:pPr indent="0" marL="0">
              <a:lnSpc>
                <a:spcPct val="115000"/>
              </a:lnSpc>
              <a:buNone/>
            </a:pPr>
            <a:r>
              <a:rPr lang="en-US" sz="1100" dirty="0">
                <a:solidFill>
                  <a:srgbClr val="352F35"/>
                </a:solidFill>
                <a:latin typeface="Arial" pitchFamily="34" charset="0"/>
                <a:ea typeface="Arial" pitchFamily="34" charset="-122"/>
                <a:cs typeface="Arial" pitchFamily="34" charset="-120"/>
              </a:rPr>
              <a:t>Notices missed daily entries and sends gentle, non-judgmental check-in nudges.</a:t>
            </a:r>
            <a:endParaRPr lang="en-US" sz="1100" dirty="0"/>
          </a:p>
        </p:txBody>
      </p:sp>
      <p:sp>
        <p:nvSpPr>
          <p:cNvPr id="23" name="Shape 21"/>
          <p:cNvSpPr/>
          <p:nvPr/>
        </p:nvSpPr>
        <p:spPr>
          <a:xfrm>
            <a:off x="6217920" y="3840480"/>
            <a:ext cx="5166360" cy="1691640"/>
          </a:xfrm>
          <a:prstGeom prst="roundRect">
            <a:avLst>
              <a:gd name="adj" fmla="val 6486"/>
            </a:avLst>
          </a:prstGeom>
          <a:solidFill>
            <a:srgbClr val="FFFFFF"/>
          </a:solidFill>
          <a:ln w="12700">
            <a:solidFill>
              <a:srgbClr val="E9DFDC"/>
            </a:solidFill>
            <a:prstDash val="solid"/>
          </a:ln>
        </p:spPr>
      </p:sp>
      <p:sp>
        <p:nvSpPr>
          <p:cNvPr id="24" name="Shape 22"/>
          <p:cNvSpPr/>
          <p:nvPr/>
        </p:nvSpPr>
        <p:spPr>
          <a:xfrm>
            <a:off x="6446520" y="4069080"/>
            <a:ext cx="365760" cy="365760"/>
          </a:xfrm>
          <a:prstGeom prst="ellipse">
            <a:avLst/>
          </a:prstGeom>
          <a:solidFill>
            <a:srgbClr val="F2E1E3"/>
          </a:solidFill>
          <a:ln w="12700">
            <a:solidFill>
              <a:srgbClr val="F2E1E3"/>
            </a:solidFill>
            <a:prstDash val="solid"/>
          </a:ln>
        </p:spPr>
      </p:sp>
      <p:sp>
        <p:nvSpPr>
          <p:cNvPr id="25" name="Text 23"/>
          <p:cNvSpPr/>
          <p:nvPr/>
        </p:nvSpPr>
        <p:spPr>
          <a:xfrm>
            <a:off x="6446520" y="4069080"/>
            <a:ext cx="365760" cy="365760"/>
          </a:xfrm>
          <a:prstGeom prst="rect">
            <a:avLst/>
          </a:prstGeom>
          <a:noFill/>
          <a:ln/>
        </p:spPr>
        <p:txBody>
          <a:bodyPr wrap="square" rtlCol="0" anchor="ctr"/>
          <a:lstStyle/>
          <a:p>
            <a:pPr algn="ctr" indent="0" marL="0">
              <a:buNone/>
            </a:pPr>
            <a:r>
              <a:rPr lang="en-US" sz="1100" b="1" dirty="0">
                <a:solidFill>
                  <a:srgbClr val="9F5F6E"/>
                </a:solidFill>
              </a:rPr>
              <a:t>4</a:t>
            </a:r>
            <a:endParaRPr lang="en-US" sz="1100" dirty="0"/>
          </a:p>
        </p:txBody>
      </p:sp>
      <p:sp>
        <p:nvSpPr>
          <p:cNvPr id="26" name="Text 24"/>
          <p:cNvSpPr/>
          <p:nvPr/>
        </p:nvSpPr>
        <p:spPr>
          <a:xfrm>
            <a:off x="6903720" y="4041648"/>
            <a:ext cx="4297680" cy="365760"/>
          </a:xfrm>
          <a:prstGeom prst="rect">
            <a:avLst/>
          </a:prstGeom>
          <a:noFill/>
          <a:ln/>
        </p:spPr>
        <p:txBody>
          <a:bodyPr wrap="square" rtlCol="0" anchor="ctr"/>
          <a:lstStyle/>
          <a:p>
            <a:pPr indent="0" marL="0">
              <a:buNone/>
            </a:pPr>
            <a:r>
              <a:rPr lang="en-US" sz="1300" b="1" dirty="0">
                <a:solidFill>
                  <a:srgbClr val="352F35"/>
                </a:solidFill>
                <a:latin typeface="Arial" pitchFamily="34" charset="0"/>
                <a:ea typeface="Arial" pitchFamily="34" charset="-122"/>
                <a:cs typeface="Arial" pitchFamily="34" charset="-120"/>
              </a:rPr>
              <a:t>Transparent Risk Screening Demo</a:t>
            </a:r>
            <a:endParaRPr lang="en-US" sz="1300" dirty="0"/>
          </a:p>
        </p:txBody>
      </p:sp>
      <p:sp>
        <p:nvSpPr>
          <p:cNvPr id="27" name="Text 25"/>
          <p:cNvSpPr/>
          <p:nvPr/>
        </p:nvSpPr>
        <p:spPr>
          <a:xfrm>
            <a:off x="6446520" y="4526280"/>
            <a:ext cx="4709160" cy="914400"/>
          </a:xfrm>
          <a:prstGeom prst="rect">
            <a:avLst/>
          </a:prstGeom>
          <a:noFill/>
          <a:ln/>
        </p:spPr>
        <p:txBody>
          <a:bodyPr wrap="square" rtlCol="0" anchor="t"/>
          <a:lstStyle/>
          <a:p>
            <a:pPr indent="0" marL="0">
              <a:lnSpc>
                <a:spcPct val="115000"/>
              </a:lnSpc>
              <a:buNone/>
            </a:pPr>
            <a:r>
              <a:rPr lang="en-US" sz="1100" dirty="0">
                <a:solidFill>
                  <a:srgbClr val="352F35"/>
                </a:solidFill>
                <a:latin typeface="Arial" pitchFamily="34" charset="0"/>
                <a:ea typeface="Arial" pitchFamily="34" charset="-122"/>
                <a:cs typeface="Arial" pitchFamily="34" charset="-120"/>
              </a:rPr>
              <a:t>Explores vital parameters (age, BP, blood sugar, temp) and displays exact contributing factors.</a:t>
            </a:r>
            <a:endParaRPr lang="en-US" sz="1100" dirty="0"/>
          </a:p>
        </p:txBody>
      </p:sp>
      <p:sp>
        <p:nvSpPr>
          <p:cNvPr id="28" name="Shape 26"/>
          <p:cNvSpPr/>
          <p:nvPr/>
        </p:nvSpPr>
        <p:spPr>
          <a:xfrm>
            <a:off x="731520" y="5715000"/>
            <a:ext cx="10652760" cy="594360"/>
          </a:xfrm>
          <a:prstGeom prst="roundRect">
            <a:avLst>
              <a:gd name="adj" fmla="val 15385"/>
            </a:avLst>
          </a:prstGeom>
          <a:solidFill>
            <a:srgbClr val="F2E1E3"/>
          </a:solidFill>
          <a:ln w="12700">
            <a:solidFill>
              <a:srgbClr val="E9DFDC"/>
            </a:solidFill>
            <a:prstDash val="solid"/>
          </a:ln>
        </p:spPr>
      </p:sp>
      <p:sp>
        <p:nvSpPr>
          <p:cNvPr id="29" name="Text 27"/>
          <p:cNvSpPr/>
          <p:nvPr/>
        </p:nvSpPr>
        <p:spPr>
          <a:xfrm>
            <a:off x="914400" y="5715000"/>
            <a:ext cx="10287000" cy="594360"/>
          </a:xfrm>
          <a:prstGeom prst="rect">
            <a:avLst/>
          </a:prstGeom>
          <a:noFill/>
          <a:ln/>
        </p:spPr>
        <p:txBody>
          <a:bodyPr wrap="square" rtlCol="0" anchor="ctr"/>
          <a:lstStyle/>
          <a:p>
            <a:pPr indent="0" marL="0">
              <a:buNone/>
            </a:pPr>
            <a:r>
              <a:rPr lang="en-US" sz="1000" b="1" dirty="0">
                <a:solidFill>
                  <a:srgbClr val="9F5F6E"/>
                </a:solidFill>
              </a:rPr>
              <a:t>CORE TAKEAWAY:  </a:t>
            </a:r>
            <a:pPr indent="0" marL="0">
              <a:buNone/>
            </a:pPr>
            <a:r>
              <a:rPr lang="en-US" sz="1050" dirty="0">
                <a:solidFill>
                  <a:srgbClr val="352F35"/>
                </a:solidFill>
              </a:rPr>
              <a:t>The screening model is a demonstration, not a clinical diagnostic; next step is training on public maternal datasets.</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CF8F6"/>
        </a:solidFill>
      </p:bgPr>
    </p:bg>
    <p:spTree>
      <p:nvGrpSpPr>
        <p:cNvPr id="1" name=""/>
        <p:cNvGrpSpPr/>
        <p:nvPr/>
      </p:nvGrpSpPr>
      <p:grpSpPr>
        <a:xfrm>
          <a:off x="0" y="0"/>
          <a:ext cx="0" cy="0"/>
          <a:chOff x="0" y="0"/>
          <a:chExt cx="0" cy="0"/>
        </a:xfrm>
      </p:grpSpPr>
      <p:sp>
        <p:nvSpPr>
          <p:cNvPr id="2" name="Shape 0"/>
          <p:cNvSpPr/>
          <p:nvPr/>
        </p:nvSpPr>
        <p:spPr>
          <a:xfrm>
            <a:off x="0" y="0"/>
            <a:ext cx="9144000" cy="91440"/>
          </a:xfrm>
          <a:prstGeom prst="rect">
            <a:avLst/>
          </a:prstGeom>
          <a:solidFill>
            <a:srgbClr val="9F5F6E"/>
          </a:solidFill>
          <a:ln w="12700">
            <a:solidFill>
              <a:srgbClr val="9F5F6E"/>
            </a:solidFill>
            <a:prstDash val="solid"/>
          </a:ln>
        </p:spPr>
      </p:sp>
      <p:sp>
        <p:nvSpPr>
          <p:cNvPr id="3" name="Shape 1"/>
          <p:cNvSpPr/>
          <p:nvPr/>
        </p:nvSpPr>
        <p:spPr>
          <a:xfrm>
            <a:off x="731520" y="320040"/>
            <a:ext cx="2011680" cy="320040"/>
          </a:xfrm>
          <a:prstGeom prst="roundRect">
            <a:avLst>
              <a:gd name="adj" fmla="val 42857"/>
            </a:avLst>
          </a:prstGeom>
          <a:solidFill>
            <a:srgbClr val="F2E1E3"/>
          </a:solidFill>
          <a:ln w="12700">
            <a:solidFill>
              <a:srgbClr val="E9DFDC"/>
            </a:solidFill>
            <a:prstDash val="solid"/>
          </a:ln>
        </p:spPr>
      </p:sp>
      <p:sp>
        <p:nvSpPr>
          <p:cNvPr id="4" name="Text 2"/>
          <p:cNvSpPr/>
          <p:nvPr/>
        </p:nvSpPr>
        <p:spPr>
          <a:xfrm>
            <a:off x="731520" y="320040"/>
            <a:ext cx="2011680" cy="320040"/>
          </a:xfrm>
          <a:prstGeom prst="rect">
            <a:avLst/>
          </a:prstGeom>
          <a:noFill/>
          <a:ln/>
        </p:spPr>
        <p:txBody>
          <a:bodyPr wrap="square" rtlCol="0" anchor="ctr"/>
          <a:lstStyle/>
          <a:p>
            <a:pPr algn="ctr" indent="0" marL="0">
              <a:buNone/>
            </a:pPr>
            <a:r>
              <a:rPr lang="en-US" sz="1000" b="1" dirty="0">
                <a:solidFill>
                  <a:srgbClr val="9F5F6E"/>
                </a:solidFill>
              </a:rPr>
              <a:t>PERSONALISATION</a:t>
            </a:r>
            <a:endParaRPr lang="en-US" sz="1000" dirty="0"/>
          </a:p>
        </p:txBody>
      </p:sp>
      <p:sp>
        <p:nvSpPr>
          <p:cNvPr id="5" name="Text 3"/>
          <p:cNvSpPr/>
          <p:nvPr/>
        </p:nvSpPr>
        <p:spPr>
          <a:xfrm>
            <a:off x="9601200" y="320040"/>
            <a:ext cx="1828800" cy="320040"/>
          </a:xfrm>
          <a:prstGeom prst="rect">
            <a:avLst/>
          </a:prstGeom>
          <a:noFill/>
          <a:ln/>
        </p:spPr>
        <p:txBody>
          <a:bodyPr wrap="square" rtlCol="0" anchor="ctr"/>
          <a:lstStyle/>
          <a:p>
            <a:pPr algn="r" indent="0" marL="0">
              <a:buNone/>
            </a:pPr>
            <a:r>
              <a:rPr lang="en-US" sz="1100" dirty="0">
                <a:solidFill>
                  <a:srgbClr val="766D72"/>
                </a:solidFill>
              </a:rPr>
              <a:t>Slide 10 of 15</a:t>
            </a:r>
            <a:endParaRPr lang="en-US" sz="1100" dirty="0"/>
          </a:p>
        </p:txBody>
      </p:sp>
      <p:sp>
        <p:nvSpPr>
          <p:cNvPr id="6" name="Text 4"/>
          <p:cNvSpPr/>
          <p:nvPr/>
        </p:nvSpPr>
        <p:spPr>
          <a:xfrm>
            <a:off x="731520" y="777240"/>
            <a:ext cx="10698480" cy="640080"/>
          </a:xfrm>
          <a:prstGeom prst="rect">
            <a:avLst/>
          </a:prstGeom>
          <a:noFill/>
          <a:ln/>
        </p:spPr>
        <p:txBody>
          <a:bodyPr wrap="square" rtlCol="0" anchor="ctr"/>
          <a:lstStyle/>
          <a:p>
            <a:pPr indent="0" marL="0">
              <a:buNone/>
            </a:pPr>
            <a:r>
              <a:rPr lang="en-US" sz="2600" b="1" dirty="0">
                <a:solidFill>
                  <a:srgbClr val="352F35"/>
                </a:solidFill>
                <a:latin typeface="Arial" pitchFamily="34" charset="0"/>
                <a:ea typeface="Arial" pitchFamily="34" charset="-122"/>
                <a:cs typeface="Arial" pitchFamily="34" charset="-120"/>
              </a:rPr>
              <a:t>Personalisation &amp; Medical Report Understanding</a:t>
            </a:r>
            <a:endParaRPr lang="en-US" sz="2600" dirty="0"/>
          </a:p>
        </p:txBody>
      </p:sp>
      <p:sp>
        <p:nvSpPr>
          <p:cNvPr id="7" name="Text 5"/>
          <p:cNvSpPr/>
          <p:nvPr/>
        </p:nvSpPr>
        <p:spPr>
          <a:xfrm>
            <a:off x="731520" y="1417320"/>
            <a:ext cx="10698480" cy="411480"/>
          </a:xfrm>
          <a:prstGeom prst="rect">
            <a:avLst/>
          </a:prstGeom>
          <a:noFill/>
          <a:ln/>
        </p:spPr>
        <p:txBody>
          <a:bodyPr wrap="square" rtlCol="0" anchor="ctr"/>
          <a:lstStyle/>
          <a:p>
            <a:pPr indent="0" marL="0">
              <a:buNone/>
            </a:pPr>
            <a:r>
              <a:rPr lang="en-US" sz="1300" dirty="0">
                <a:solidFill>
                  <a:srgbClr val="9F5F6E"/>
                </a:solidFill>
                <a:latin typeface="Arial" pitchFamily="34" charset="0"/>
                <a:ea typeface="Arial" pitchFamily="34" charset="-122"/>
                <a:cs typeface="Arial" pitchFamily="34" charset="-120"/>
              </a:rPr>
              <a:t>Translating complex clinical lab tests and ultrasound scans into plain language</a:t>
            </a:r>
            <a:endParaRPr lang="en-US" sz="1300" dirty="0"/>
          </a:p>
        </p:txBody>
      </p:sp>
      <p:sp>
        <p:nvSpPr>
          <p:cNvPr id="8" name="Shape 6"/>
          <p:cNvSpPr/>
          <p:nvPr/>
        </p:nvSpPr>
        <p:spPr>
          <a:xfrm>
            <a:off x="731520" y="1965960"/>
            <a:ext cx="5166360" cy="1691640"/>
          </a:xfrm>
          <a:prstGeom prst="roundRect">
            <a:avLst>
              <a:gd name="adj" fmla="val 6486"/>
            </a:avLst>
          </a:prstGeom>
          <a:solidFill>
            <a:srgbClr val="FFFFFF"/>
          </a:solidFill>
          <a:ln w="12700">
            <a:solidFill>
              <a:srgbClr val="E9DFDC"/>
            </a:solidFill>
            <a:prstDash val="solid"/>
          </a:ln>
        </p:spPr>
      </p:sp>
      <p:sp>
        <p:nvSpPr>
          <p:cNvPr id="9" name="Shape 7"/>
          <p:cNvSpPr/>
          <p:nvPr/>
        </p:nvSpPr>
        <p:spPr>
          <a:xfrm>
            <a:off x="960120" y="2194560"/>
            <a:ext cx="365760" cy="365760"/>
          </a:xfrm>
          <a:prstGeom prst="ellipse">
            <a:avLst/>
          </a:prstGeom>
          <a:solidFill>
            <a:srgbClr val="F2E1E3"/>
          </a:solidFill>
          <a:ln w="12700">
            <a:solidFill>
              <a:srgbClr val="F2E1E3"/>
            </a:solidFill>
            <a:prstDash val="solid"/>
          </a:ln>
        </p:spPr>
      </p:sp>
      <p:sp>
        <p:nvSpPr>
          <p:cNvPr id="10" name="Text 8"/>
          <p:cNvSpPr/>
          <p:nvPr/>
        </p:nvSpPr>
        <p:spPr>
          <a:xfrm>
            <a:off x="960120" y="2194560"/>
            <a:ext cx="365760" cy="365760"/>
          </a:xfrm>
          <a:prstGeom prst="rect">
            <a:avLst/>
          </a:prstGeom>
          <a:noFill/>
          <a:ln/>
        </p:spPr>
        <p:txBody>
          <a:bodyPr wrap="square" rtlCol="0" anchor="ctr"/>
          <a:lstStyle/>
          <a:p>
            <a:pPr algn="ctr" indent="0" marL="0">
              <a:buNone/>
            </a:pPr>
            <a:r>
              <a:rPr lang="en-US" sz="1100" b="1" dirty="0">
                <a:solidFill>
                  <a:srgbClr val="9F5F6E"/>
                </a:solidFill>
              </a:rPr>
              <a:t>1</a:t>
            </a:r>
            <a:endParaRPr lang="en-US" sz="1100" dirty="0"/>
          </a:p>
        </p:txBody>
      </p:sp>
      <p:sp>
        <p:nvSpPr>
          <p:cNvPr id="11" name="Text 9"/>
          <p:cNvSpPr/>
          <p:nvPr/>
        </p:nvSpPr>
        <p:spPr>
          <a:xfrm>
            <a:off x="1417320" y="2167128"/>
            <a:ext cx="4297680" cy="365760"/>
          </a:xfrm>
          <a:prstGeom prst="rect">
            <a:avLst/>
          </a:prstGeom>
          <a:noFill/>
          <a:ln/>
        </p:spPr>
        <p:txBody>
          <a:bodyPr wrap="square" rtlCol="0" anchor="ctr"/>
          <a:lstStyle/>
          <a:p>
            <a:pPr indent="0" marL="0">
              <a:buNone/>
            </a:pPr>
            <a:r>
              <a:rPr lang="en-US" sz="1300" b="1" dirty="0">
                <a:solidFill>
                  <a:srgbClr val="352F35"/>
                </a:solidFill>
                <a:latin typeface="Arial" pitchFamily="34" charset="0"/>
                <a:ea typeface="Arial" pitchFamily="34" charset="-122"/>
                <a:cs typeface="Arial" pitchFamily="34" charset="-120"/>
              </a:rPr>
              <a:t>Activity-Driven Notices</a:t>
            </a:r>
            <a:endParaRPr lang="en-US" sz="1300" dirty="0"/>
          </a:p>
        </p:txBody>
      </p:sp>
      <p:sp>
        <p:nvSpPr>
          <p:cNvPr id="12" name="Text 10"/>
          <p:cNvSpPr/>
          <p:nvPr/>
        </p:nvSpPr>
        <p:spPr>
          <a:xfrm>
            <a:off x="960120" y="2651760"/>
            <a:ext cx="4709160" cy="914400"/>
          </a:xfrm>
          <a:prstGeom prst="rect">
            <a:avLst/>
          </a:prstGeom>
          <a:noFill/>
          <a:ln/>
        </p:spPr>
        <p:txBody>
          <a:bodyPr wrap="square" rtlCol="0" anchor="t"/>
          <a:lstStyle/>
          <a:p>
            <a:pPr indent="0" marL="0">
              <a:lnSpc>
                <a:spcPct val="115000"/>
              </a:lnSpc>
              <a:buNone/>
            </a:pPr>
            <a:r>
              <a:rPr lang="en-US" sz="1100" dirty="0">
                <a:solidFill>
                  <a:srgbClr val="352F35"/>
                </a:solidFill>
                <a:latin typeface="Arial" pitchFamily="34" charset="0"/>
                <a:ea typeface="Arial" pitchFamily="34" charset="-122"/>
                <a:cs typeface="Arial" pitchFamily="34" charset="-120"/>
              </a:rPr>
              <a:t>Prompts stem from actual user logs (e.g. "You mentioned this symptom before. If continuing or worsening, consider contacting your provider").</a:t>
            </a:r>
            <a:endParaRPr lang="en-US" sz="1100" dirty="0"/>
          </a:p>
        </p:txBody>
      </p:sp>
      <p:sp>
        <p:nvSpPr>
          <p:cNvPr id="13" name="Shape 11"/>
          <p:cNvSpPr/>
          <p:nvPr/>
        </p:nvSpPr>
        <p:spPr>
          <a:xfrm>
            <a:off x="6217920" y="1965960"/>
            <a:ext cx="5166360" cy="1691640"/>
          </a:xfrm>
          <a:prstGeom prst="roundRect">
            <a:avLst>
              <a:gd name="adj" fmla="val 6486"/>
            </a:avLst>
          </a:prstGeom>
          <a:solidFill>
            <a:srgbClr val="FFFFFF"/>
          </a:solidFill>
          <a:ln w="12700">
            <a:solidFill>
              <a:srgbClr val="E9DFDC"/>
            </a:solidFill>
            <a:prstDash val="solid"/>
          </a:ln>
        </p:spPr>
      </p:sp>
      <p:sp>
        <p:nvSpPr>
          <p:cNvPr id="14" name="Shape 12"/>
          <p:cNvSpPr/>
          <p:nvPr/>
        </p:nvSpPr>
        <p:spPr>
          <a:xfrm>
            <a:off x="6446520" y="2194560"/>
            <a:ext cx="365760" cy="365760"/>
          </a:xfrm>
          <a:prstGeom prst="ellipse">
            <a:avLst/>
          </a:prstGeom>
          <a:solidFill>
            <a:srgbClr val="F2E1E3"/>
          </a:solidFill>
          <a:ln w="12700">
            <a:solidFill>
              <a:srgbClr val="F2E1E3"/>
            </a:solidFill>
            <a:prstDash val="solid"/>
          </a:ln>
        </p:spPr>
      </p:sp>
      <p:sp>
        <p:nvSpPr>
          <p:cNvPr id="15" name="Text 13"/>
          <p:cNvSpPr/>
          <p:nvPr/>
        </p:nvSpPr>
        <p:spPr>
          <a:xfrm>
            <a:off x="6446520" y="2194560"/>
            <a:ext cx="365760" cy="365760"/>
          </a:xfrm>
          <a:prstGeom prst="rect">
            <a:avLst/>
          </a:prstGeom>
          <a:noFill/>
          <a:ln/>
        </p:spPr>
        <p:txBody>
          <a:bodyPr wrap="square" rtlCol="0" anchor="ctr"/>
          <a:lstStyle/>
          <a:p>
            <a:pPr algn="ctr" indent="0" marL="0">
              <a:buNone/>
            </a:pPr>
            <a:r>
              <a:rPr lang="en-US" sz="1100" b="1" dirty="0">
                <a:solidFill>
                  <a:srgbClr val="9F5F6E"/>
                </a:solidFill>
              </a:rPr>
              <a:t>2</a:t>
            </a:r>
            <a:endParaRPr lang="en-US" sz="1100" dirty="0"/>
          </a:p>
        </p:txBody>
      </p:sp>
      <p:sp>
        <p:nvSpPr>
          <p:cNvPr id="16" name="Text 14"/>
          <p:cNvSpPr/>
          <p:nvPr/>
        </p:nvSpPr>
        <p:spPr>
          <a:xfrm>
            <a:off x="6903720" y="2167128"/>
            <a:ext cx="4297680" cy="365760"/>
          </a:xfrm>
          <a:prstGeom prst="rect">
            <a:avLst/>
          </a:prstGeom>
          <a:noFill/>
          <a:ln/>
        </p:spPr>
        <p:txBody>
          <a:bodyPr wrap="square" rtlCol="0" anchor="ctr"/>
          <a:lstStyle/>
          <a:p>
            <a:pPr indent="0" marL="0">
              <a:buNone/>
            </a:pPr>
            <a:r>
              <a:rPr lang="en-US" sz="1300" b="1" dirty="0">
                <a:solidFill>
                  <a:srgbClr val="352F35"/>
                </a:solidFill>
                <a:latin typeface="Arial" pitchFamily="34" charset="0"/>
                <a:ea typeface="Arial" pitchFamily="34" charset="-122"/>
                <a:cs typeface="Arial" pitchFamily="34" charset="-120"/>
              </a:rPr>
              <a:t>"Why am I seeing this?"</a:t>
            </a:r>
            <a:endParaRPr lang="en-US" sz="1300" dirty="0"/>
          </a:p>
        </p:txBody>
      </p:sp>
      <p:sp>
        <p:nvSpPr>
          <p:cNvPr id="17" name="Text 15"/>
          <p:cNvSpPr/>
          <p:nvPr/>
        </p:nvSpPr>
        <p:spPr>
          <a:xfrm>
            <a:off x="6446520" y="2651760"/>
            <a:ext cx="4709160" cy="914400"/>
          </a:xfrm>
          <a:prstGeom prst="rect">
            <a:avLst/>
          </a:prstGeom>
          <a:noFill/>
          <a:ln/>
        </p:spPr>
        <p:txBody>
          <a:bodyPr wrap="square" rtlCol="0" anchor="t"/>
          <a:lstStyle/>
          <a:p>
            <a:pPr indent="0" marL="0">
              <a:lnSpc>
                <a:spcPct val="115000"/>
              </a:lnSpc>
              <a:buNone/>
            </a:pPr>
            <a:r>
              <a:rPr lang="en-US" sz="1100" dirty="0">
                <a:solidFill>
                  <a:srgbClr val="352F35"/>
                </a:solidFill>
                <a:latin typeface="Arial" pitchFamily="34" charset="0"/>
                <a:ea typeface="Arial" pitchFamily="34" charset="-122"/>
                <a:cs typeface="Arial" pitchFamily="34" charset="-120"/>
              </a:rPr>
              <a:t>Every card provides a transparent audit trail showing the exact historical entries that triggered it.</a:t>
            </a:r>
            <a:endParaRPr lang="en-US" sz="1100" dirty="0"/>
          </a:p>
        </p:txBody>
      </p:sp>
      <p:sp>
        <p:nvSpPr>
          <p:cNvPr id="18" name="Shape 16"/>
          <p:cNvSpPr/>
          <p:nvPr/>
        </p:nvSpPr>
        <p:spPr>
          <a:xfrm>
            <a:off x="731520" y="3840480"/>
            <a:ext cx="5166360" cy="1691640"/>
          </a:xfrm>
          <a:prstGeom prst="roundRect">
            <a:avLst>
              <a:gd name="adj" fmla="val 6486"/>
            </a:avLst>
          </a:prstGeom>
          <a:solidFill>
            <a:srgbClr val="FFFFFF"/>
          </a:solidFill>
          <a:ln w="12700">
            <a:solidFill>
              <a:srgbClr val="E9DFDC"/>
            </a:solidFill>
            <a:prstDash val="solid"/>
          </a:ln>
        </p:spPr>
      </p:sp>
      <p:sp>
        <p:nvSpPr>
          <p:cNvPr id="19" name="Shape 17"/>
          <p:cNvSpPr/>
          <p:nvPr/>
        </p:nvSpPr>
        <p:spPr>
          <a:xfrm>
            <a:off x="960120" y="4069080"/>
            <a:ext cx="365760" cy="365760"/>
          </a:xfrm>
          <a:prstGeom prst="ellipse">
            <a:avLst/>
          </a:prstGeom>
          <a:solidFill>
            <a:srgbClr val="F2E1E3"/>
          </a:solidFill>
          <a:ln w="12700">
            <a:solidFill>
              <a:srgbClr val="F2E1E3"/>
            </a:solidFill>
            <a:prstDash val="solid"/>
          </a:ln>
        </p:spPr>
      </p:sp>
      <p:sp>
        <p:nvSpPr>
          <p:cNvPr id="20" name="Text 18"/>
          <p:cNvSpPr/>
          <p:nvPr/>
        </p:nvSpPr>
        <p:spPr>
          <a:xfrm>
            <a:off x="960120" y="4069080"/>
            <a:ext cx="365760" cy="365760"/>
          </a:xfrm>
          <a:prstGeom prst="rect">
            <a:avLst/>
          </a:prstGeom>
          <a:noFill/>
          <a:ln/>
        </p:spPr>
        <p:txBody>
          <a:bodyPr wrap="square" rtlCol="0" anchor="ctr"/>
          <a:lstStyle/>
          <a:p>
            <a:pPr algn="ctr" indent="0" marL="0">
              <a:buNone/>
            </a:pPr>
            <a:r>
              <a:rPr lang="en-US" sz="1100" b="1" dirty="0">
                <a:solidFill>
                  <a:srgbClr val="9F5F6E"/>
                </a:solidFill>
              </a:rPr>
              <a:t>3</a:t>
            </a:r>
            <a:endParaRPr lang="en-US" sz="1100" dirty="0"/>
          </a:p>
        </p:txBody>
      </p:sp>
      <p:sp>
        <p:nvSpPr>
          <p:cNvPr id="21" name="Text 19"/>
          <p:cNvSpPr/>
          <p:nvPr/>
        </p:nvSpPr>
        <p:spPr>
          <a:xfrm>
            <a:off x="1417320" y="4041648"/>
            <a:ext cx="4297680" cy="365760"/>
          </a:xfrm>
          <a:prstGeom prst="rect">
            <a:avLst/>
          </a:prstGeom>
          <a:noFill/>
          <a:ln/>
        </p:spPr>
        <p:txBody>
          <a:bodyPr wrap="square" rtlCol="0" anchor="ctr"/>
          <a:lstStyle/>
          <a:p>
            <a:pPr indent="0" marL="0">
              <a:buNone/>
            </a:pPr>
            <a:r>
              <a:rPr lang="en-US" sz="1300" b="1" dirty="0">
                <a:solidFill>
                  <a:srgbClr val="352F35"/>
                </a:solidFill>
                <a:latin typeface="Arial" pitchFamily="34" charset="0"/>
                <a:ea typeface="Arial" pitchFamily="34" charset="-122"/>
                <a:cs typeface="Arial" pitchFamily="34" charset="-120"/>
              </a:rPr>
              <a:t>Medical Report Decoding</a:t>
            </a:r>
            <a:endParaRPr lang="en-US" sz="1300" dirty="0"/>
          </a:p>
        </p:txBody>
      </p:sp>
      <p:sp>
        <p:nvSpPr>
          <p:cNvPr id="22" name="Text 20"/>
          <p:cNvSpPr/>
          <p:nvPr/>
        </p:nvSpPr>
        <p:spPr>
          <a:xfrm>
            <a:off x="960120" y="4526280"/>
            <a:ext cx="4709160" cy="914400"/>
          </a:xfrm>
          <a:prstGeom prst="rect">
            <a:avLst/>
          </a:prstGeom>
          <a:noFill/>
          <a:ln/>
        </p:spPr>
        <p:txBody>
          <a:bodyPr wrap="square" rtlCol="0" anchor="t"/>
          <a:lstStyle/>
          <a:p>
            <a:pPr indent="0" marL="0">
              <a:lnSpc>
                <a:spcPct val="115000"/>
              </a:lnSpc>
              <a:buNone/>
            </a:pPr>
            <a:r>
              <a:rPr lang="en-US" sz="1100" dirty="0">
                <a:solidFill>
                  <a:srgbClr val="352F35"/>
                </a:solidFill>
                <a:latin typeface="Arial" pitchFamily="34" charset="0"/>
                <a:ea typeface="Arial" pitchFamily="34" charset="-122"/>
                <a:cs typeface="Arial" pitchFamily="34" charset="-120"/>
              </a:rPr>
              <a:t>Mothers upload ultrasounds or lab reports; MomCare translates medical acronyms (AFI, EFW, Glucose test) into plain language.</a:t>
            </a:r>
            <a:endParaRPr lang="en-US" sz="1100" dirty="0"/>
          </a:p>
        </p:txBody>
      </p:sp>
      <p:sp>
        <p:nvSpPr>
          <p:cNvPr id="23" name="Shape 21"/>
          <p:cNvSpPr/>
          <p:nvPr/>
        </p:nvSpPr>
        <p:spPr>
          <a:xfrm>
            <a:off x="6217920" y="3840480"/>
            <a:ext cx="5166360" cy="1691640"/>
          </a:xfrm>
          <a:prstGeom prst="roundRect">
            <a:avLst>
              <a:gd name="adj" fmla="val 6486"/>
            </a:avLst>
          </a:prstGeom>
          <a:solidFill>
            <a:srgbClr val="FFFFFF"/>
          </a:solidFill>
          <a:ln w="12700">
            <a:solidFill>
              <a:srgbClr val="E9DFDC"/>
            </a:solidFill>
            <a:prstDash val="solid"/>
          </a:ln>
        </p:spPr>
      </p:sp>
      <p:sp>
        <p:nvSpPr>
          <p:cNvPr id="24" name="Shape 22"/>
          <p:cNvSpPr/>
          <p:nvPr/>
        </p:nvSpPr>
        <p:spPr>
          <a:xfrm>
            <a:off x="6446520" y="4069080"/>
            <a:ext cx="365760" cy="365760"/>
          </a:xfrm>
          <a:prstGeom prst="ellipse">
            <a:avLst/>
          </a:prstGeom>
          <a:solidFill>
            <a:srgbClr val="F2E1E3"/>
          </a:solidFill>
          <a:ln w="12700">
            <a:solidFill>
              <a:srgbClr val="F2E1E3"/>
            </a:solidFill>
            <a:prstDash val="solid"/>
          </a:ln>
        </p:spPr>
      </p:sp>
      <p:sp>
        <p:nvSpPr>
          <p:cNvPr id="25" name="Text 23"/>
          <p:cNvSpPr/>
          <p:nvPr/>
        </p:nvSpPr>
        <p:spPr>
          <a:xfrm>
            <a:off x="6446520" y="4069080"/>
            <a:ext cx="365760" cy="365760"/>
          </a:xfrm>
          <a:prstGeom prst="rect">
            <a:avLst/>
          </a:prstGeom>
          <a:noFill/>
          <a:ln/>
        </p:spPr>
        <p:txBody>
          <a:bodyPr wrap="square" rtlCol="0" anchor="ctr"/>
          <a:lstStyle/>
          <a:p>
            <a:pPr algn="ctr" indent="0" marL="0">
              <a:buNone/>
            </a:pPr>
            <a:r>
              <a:rPr lang="en-US" sz="1100" b="1" dirty="0">
                <a:solidFill>
                  <a:srgbClr val="9F5F6E"/>
                </a:solidFill>
              </a:rPr>
              <a:t>4</a:t>
            </a:r>
            <a:endParaRPr lang="en-US" sz="1100" dirty="0"/>
          </a:p>
        </p:txBody>
      </p:sp>
      <p:sp>
        <p:nvSpPr>
          <p:cNvPr id="26" name="Text 24"/>
          <p:cNvSpPr/>
          <p:nvPr/>
        </p:nvSpPr>
        <p:spPr>
          <a:xfrm>
            <a:off x="6903720" y="4041648"/>
            <a:ext cx="4297680" cy="365760"/>
          </a:xfrm>
          <a:prstGeom prst="rect">
            <a:avLst/>
          </a:prstGeom>
          <a:noFill/>
          <a:ln/>
        </p:spPr>
        <p:txBody>
          <a:bodyPr wrap="square" rtlCol="0" anchor="ctr"/>
          <a:lstStyle/>
          <a:p>
            <a:pPr indent="0" marL="0">
              <a:buNone/>
            </a:pPr>
            <a:r>
              <a:rPr lang="en-US" sz="1300" b="1" dirty="0">
                <a:solidFill>
                  <a:srgbClr val="352F35"/>
                </a:solidFill>
                <a:latin typeface="Arial" pitchFamily="34" charset="0"/>
                <a:ea typeface="Arial" pitchFamily="34" charset="-122"/>
                <a:cs typeface="Arial" pitchFamily="34" charset="-120"/>
              </a:rPr>
              <a:t>Doctor Discussion Guidance</a:t>
            </a:r>
            <a:endParaRPr lang="en-US" sz="1300" dirty="0"/>
          </a:p>
        </p:txBody>
      </p:sp>
      <p:sp>
        <p:nvSpPr>
          <p:cNvPr id="27" name="Text 25"/>
          <p:cNvSpPr/>
          <p:nvPr/>
        </p:nvSpPr>
        <p:spPr>
          <a:xfrm>
            <a:off x="6446520" y="4526280"/>
            <a:ext cx="4709160" cy="914400"/>
          </a:xfrm>
          <a:prstGeom prst="rect">
            <a:avLst/>
          </a:prstGeom>
          <a:noFill/>
          <a:ln/>
        </p:spPr>
        <p:txBody>
          <a:bodyPr wrap="square" rtlCol="0" anchor="t"/>
          <a:lstStyle/>
          <a:p>
            <a:pPr indent="0" marL="0">
              <a:lnSpc>
                <a:spcPct val="115000"/>
              </a:lnSpc>
              <a:buNone/>
            </a:pPr>
            <a:r>
              <a:rPr lang="en-US" sz="1100" dirty="0">
                <a:solidFill>
                  <a:srgbClr val="352F35"/>
                </a:solidFill>
                <a:latin typeface="Arial" pitchFamily="34" charset="0"/>
                <a:ea typeface="Arial" pitchFamily="34" charset="-122"/>
                <a:cs typeface="Arial" pitchFamily="34" charset="-120"/>
              </a:rPr>
              <a:t>Does not diagnose or modify treatments; flags unusual findings with "Discuss with your doctor" and generates question prompts.</a:t>
            </a:r>
            <a:endParaRPr lang="en-US" sz="1100" dirty="0"/>
          </a:p>
        </p:txBody>
      </p:sp>
      <p:sp>
        <p:nvSpPr>
          <p:cNvPr id="28" name="Shape 26"/>
          <p:cNvSpPr/>
          <p:nvPr/>
        </p:nvSpPr>
        <p:spPr>
          <a:xfrm>
            <a:off x="731520" y="5715000"/>
            <a:ext cx="10652760" cy="594360"/>
          </a:xfrm>
          <a:prstGeom prst="roundRect">
            <a:avLst>
              <a:gd name="adj" fmla="val 15385"/>
            </a:avLst>
          </a:prstGeom>
          <a:solidFill>
            <a:srgbClr val="F2E1E3"/>
          </a:solidFill>
          <a:ln w="12700">
            <a:solidFill>
              <a:srgbClr val="E9DFDC"/>
            </a:solidFill>
            <a:prstDash val="solid"/>
          </a:ln>
        </p:spPr>
      </p:sp>
      <p:sp>
        <p:nvSpPr>
          <p:cNvPr id="29" name="Text 27"/>
          <p:cNvSpPr/>
          <p:nvPr/>
        </p:nvSpPr>
        <p:spPr>
          <a:xfrm>
            <a:off x="914400" y="5715000"/>
            <a:ext cx="10287000" cy="594360"/>
          </a:xfrm>
          <a:prstGeom prst="rect">
            <a:avLst/>
          </a:prstGeom>
          <a:noFill/>
          <a:ln/>
        </p:spPr>
        <p:txBody>
          <a:bodyPr wrap="square" rtlCol="0" anchor="ctr"/>
          <a:lstStyle/>
          <a:p>
            <a:pPr indent="0" marL="0">
              <a:buNone/>
            </a:pPr>
            <a:r>
              <a:rPr lang="en-US" sz="1000" b="1" dirty="0">
                <a:solidFill>
                  <a:srgbClr val="9F5F6E"/>
                </a:solidFill>
              </a:rPr>
              <a:t>CORE TAKEAWAY:  </a:t>
            </a:r>
            <a:pPr indent="0" marL="0">
              <a:buNone/>
            </a:pPr>
            <a:r>
              <a:rPr lang="en-US" sz="1050" dirty="0">
                <a:solidFill>
                  <a:srgbClr val="352F35"/>
                </a:solidFill>
              </a:rPr>
              <a:t>Demystifying complex prenatal reports to empower mothers with clarity during clinical appointments.</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CF8F6"/>
        </a:solidFill>
      </p:bgPr>
    </p:bg>
    <p:spTree>
      <p:nvGrpSpPr>
        <p:cNvPr id="1" name=""/>
        <p:cNvGrpSpPr/>
        <p:nvPr/>
      </p:nvGrpSpPr>
      <p:grpSpPr>
        <a:xfrm>
          <a:off x="0" y="0"/>
          <a:ext cx="0" cy="0"/>
          <a:chOff x="0" y="0"/>
          <a:chExt cx="0" cy="0"/>
        </a:xfrm>
      </p:grpSpPr>
      <p:sp>
        <p:nvSpPr>
          <p:cNvPr id="2" name="Shape 0"/>
          <p:cNvSpPr/>
          <p:nvPr/>
        </p:nvSpPr>
        <p:spPr>
          <a:xfrm>
            <a:off x="0" y="0"/>
            <a:ext cx="9144000" cy="91440"/>
          </a:xfrm>
          <a:prstGeom prst="rect">
            <a:avLst/>
          </a:prstGeom>
          <a:solidFill>
            <a:srgbClr val="9F5F6E"/>
          </a:solidFill>
          <a:ln w="12700">
            <a:solidFill>
              <a:srgbClr val="9F5F6E"/>
            </a:solidFill>
            <a:prstDash val="solid"/>
          </a:ln>
        </p:spPr>
      </p:sp>
      <p:sp>
        <p:nvSpPr>
          <p:cNvPr id="3" name="Shape 1"/>
          <p:cNvSpPr/>
          <p:nvPr/>
        </p:nvSpPr>
        <p:spPr>
          <a:xfrm>
            <a:off x="731520" y="320040"/>
            <a:ext cx="2011680" cy="320040"/>
          </a:xfrm>
          <a:prstGeom prst="roundRect">
            <a:avLst>
              <a:gd name="adj" fmla="val 42857"/>
            </a:avLst>
          </a:prstGeom>
          <a:solidFill>
            <a:srgbClr val="F2E1E3"/>
          </a:solidFill>
          <a:ln w="12700">
            <a:solidFill>
              <a:srgbClr val="E9DFDC"/>
            </a:solidFill>
            <a:prstDash val="solid"/>
          </a:ln>
        </p:spPr>
      </p:sp>
      <p:sp>
        <p:nvSpPr>
          <p:cNvPr id="4" name="Text 2"/>
          <p:cNvSpPr/>
          <p:nvPr/>
        </p:nvSpPr>
        <p:spPr>
          <a:xfrm>
            <a:off x="731520" y="320040"/>
            <a:ext cx="2011680" cy="320040"/>
          </a:xfrm>
          <a:prstGeom prst="rect">
            <a:avLst/>
          </a:prstGeom>
          <a:noFill/>
          <a:ln/>
        </p:spPr>
        <p:txBody>
          <a:bodyPr wrap="square" rtlCol="0" anchor="ctr"/>
          <a:lstStyle/>
          <a:p>
            <a:pPr algn="ctr" indent="0" marL="0">
              <a:buNone/>
            </a:pPr>
            <a:r>
              <a:rPr lang="en-US" sz="1000" b="1" dirty="0">
                <a:solidFill>
                  <a:srgbClr val="9F5F6E"/>
                </a:solidFill>
              </a:rPr>
              <a:t>COMMUNITY &amp; LEARNING</a:t>
            </a:r>
            <a:endParaRPr lang="en-US" sz="1000" dirty="0"/>
          </a:p>
        </p:txBody>
      </p:sp>
      <p:sp>
        <p:nvSpPr>
          <p:cNvPr id="5" name="Text 3"/>
          <p:cNvSpPr/>
          <p:nvPr/>
        </p:nvSpPr>
        <p:spPr>
          <a:xfrm>
            <a:off x="9601200" y="320040"/>
            <a:ext cx="1828800" cy="320040"/>
          </a:xfrm>
          <a:prstGeom prst="rect">
            <a:avLst/>
          </a:prstGeom>
          <a:noFill/>
          <a:ln/>
        </p:spPr>
        <p:txBody>
          <a:bodyPr wrap="square" rtlCol="0" anchor="ctr"/>
          <a:lstStyle/>
          <a:p>
            <a:pPr algn="r" indent="0" marL="0">
              <a:buNone/>
            </a:pPr>
            <a:r>
              <a:rPr lang="en-US" sz="1100" dirty="0">
                <a:solidFill>
                  <a:srgbClr val="766D72"/>
                </a:solidFill>
              </a:rPr>
              <a:t>Slide 11 of 15</a:t>
            </a:r>
            <a:endParaRPr lang="en-US" sz="1100" dirty="0"/>
          </a:p>
        </p:txBody>
      </p:sp>
      <p:sp>
        <p:nvSpPr>
          <p:cNvPr id="6" name="Text 4"/>
          <p:cNvSpPr/>
          <p:nvPr/>
        </p:nvSpPr>
        <p:spPr>
          <a:xfrm>
            <a:off x="731520" y="777240"/>
            <a:ext cx="10698480" cy="640080"/>
          </a:xfrm>
          <a:prstGeom prst="rect">
            <a:avLst/>
          </a:prstGeom>
          <a:noFill/>
          <a:ln/>
        </p:spPr>
        <p:txBody>
          <a:bodyPr wrap="square" rtlCol="0" anchor="ctr"/>
          <a:lstStyle/>
          <a:p>
            <a:pPr indent="0" marL="0">
              <a:buNone/>
            </a:pPr>
            <a:r>
              <a:rPr lang="en-US" sz="2600" b="1" dirty="0">
                <a:solidFill>
                  <a:srgbClr val="352F35"/>
                </a:solidFill>
                <a:latin typeface="Arial" pitchFamily="34" charset="0"/>
                <a:ea typeface="Arial" pitchFamily="34" charset="-122"/>
                <a:cs typeface="Arial" pitchFamily="34" charset="-120"/>
              </a:rPr>
              <a:t>Learning &amp; MomCare Circle Community</a:t>
            </a:r>
            <a:endParaRPr lang="en-US" sz="2600" dirty="0"/>
          </a:p>
        </p:txBody>
      </p:sp>
      <p:sp>
        <p:nvSpPr>
          <p:cNvPr id="7" name="Text 5"/>
          <p:cNvSpPr/>
          <p:nvPr/>
        </p:nvSpPr>
        <p:spPr>
          <a:xfrm>
            <a:off x="731520" y="1417320"/>
            <a:ext cx="10698480" cy="411480"/>
          </a:xfrm>
          <a:prstGeom prst="rect">
            <a:avLst/>
          </a:prstGeom>
          <a:noFill/>
          <a:ln/>
        </p:spPr>
        <p:txBody>
          <a:bodyPr wrap="square" rtlCol="0" anchor="ctr"/>
          <a:lstStyle/>
          <a:p>
            <a:pPr indent="0" marL="0">
              <a:buNone/>
            </a:pPr>
            <a:r>
              <a:rPr lang="en-US" sz="1300" dirty="0">
                <a:solidFill>
                  <a:srgbClr val="9F5F6E"/>
                </a:solidFill>
                <a:latin typeface="Arial" pitchFamily="34" charset="0"/>
                <a:ea typeface="Arial" pitchFamily="34" charset="-122"/>
                <a:cs typeface="Arial" pitchFamily="34" charset="-120"/>
              </a:rPr>
              <a:t>Bite-sized maternal education and safe, moderated peer sharing</a:t>
            </a:r>
            <a:endParaRPr lang="en-US" sz="1300" dirty="0"/>
          </a:p>
        </p:txBody>
      </p:sp>
      <p:sp>
        <p:nvSpPr>
          <p:cNvPr id="8" name="Shape 6"/>
          <p:cNvSpPr/>
          <p:nvPr/>
        </p:nvSpPr>
        <p:spPr>
          <a:xfrm>
            <a:off x="731520" y="1965960"/>
            <a:ext cx="5166360" cy="1691640"/>
          </a:xfrm>
          <a:prstGeom prst="roundRect">
            <a:avLst>
              <a:gd name="adj" fmla="val 6486"/>
            </a:avLst>
          </a:prstGeom>
          <a:solidFill>
            <a:srgbClr val="FFFFFF"/>
          </a:solidFill>
          <a:ln w="12700">
            <a:solidFill>
              <a:srgbClr val="E9DFDC"/>
            </a:solidFill>
            <a:prstDash val="solid"/>
          </a:ln>
        </p:spPr>
      </p:sp>
      <p:sp>
        <p:nvSpPr>
          <p:cNvPr id="9" name="Shape 7"/>
          <p:cNvSpPr/>
          <p:nvPr/>
        </p:nvSpPr>
        <p:spPr>
          <a:xfrm>
            <a:off x="960120" y="2194560"/>
            <a:ext cx="365760" cy="365760"/>
          </a:xfrm>
          <a:prstGeom prst="ellipse">
            <a:avLst/>
          </a:prstGeom>
          <a:solidFill>
            <a:srgbClr val="F2E1E3"/>
          </a:solidFill>
          <a:ln w="12700">
            <a:solidFill>
              <a:srgbClr val="F2E1E3"/>
            </a:solidFill>
            <a:prstDash val="solid"/>
          </a:ln>
        </p:spPr>
      </p:sp>
      <p:sp>
        <p:nvSpPr>
          <p:cNvPr id="10" name="Text 8"/>
          <p:cNvSpPr/>
          <p:nvPr/>
        </p:nvSpPr>
        <p:spPr>
          <a:xfrm>
            <a:off x="960120" y="2194560"/>
            <a:ext cx="365760" cy="365760"/>
          </a:xfrm>
          <a:prstGeom prst="rect">
            <a:avLst/>
          </a:prstGeom>
          <a:noFill/>
          <a:ln/>
        </p:spPr>
        <p:txBody>
          <a:bodyPr wrap="square" rtlCol="0" anchor="ctr"/>
          <a:lstStyle/>
          <a:p>
            <a:pPr algn="ctr" indent="0" marL="0">
              <a:buNone/>
            </a:pPr>
            <a:r>
              <a:rPr lang="en-US" sz="1100" b="1" dirty="0">
                <a:solidFill>
                  <a:srgbClr val="9F5F6E"/>
                </a:solidFill>
              </a:rPr>
              <a:t>1</a:t>
            </a:r>
            <a:endParaRPr lang="en-US" sz="1100" dirty="0"/>
          </a:p>
        </p:txBody>
      </p:sp>
      <p:sp>
        <p:nvSpPr>
          <p:cNvPr id="11" name="Text 9"/>
          <p:cNvSpPr/>
          <p:nvPr/>
        </p:nvSpPr>
        <p:spPr>
          <a:xfrm>
            <a:off x="1417320" y="2167128"/>
            <a:ext cx="4297680" cy="365760"/>
          </a:xfrm>
          <a:prstGeom prst="rect">
            <a:avLst/>
          </a:prstGeom>
          <a:noFill/>
          <a:ln/>
        </p:spPr>
        <p:txBody>
          <a:bodyPr wrap="square" rtlCol="0" anchor="ctr"/>
          <a:lstStyle/>
          <a:p>
            <a:pPr indent="0" marL="0">
              <a:buNone/>
            </a:pPr>
            <a:r>
              <a:rPr lang="en-US" sz="1300" b="1" dirty="0">
                <a:solidFill>
                  <a:srgbClr val="352F35"/>
                </a:solidFill>
                <a:latin typeface="Arial" pitchFamily="34" charset="0"/>
                <a:ea typeface="Arial" pitchFamily="34" charset="-122"/>
                <a:cs typeface="Arial" pitchFamily="34" charset="-120"/>
              </a:rPr>
              <a:t>Interactive Learning</a:t>
            </a:r>
            <a:endParaRPr lang="en-US" sz="1300" dirty="0"/>
          </a:p>
        </p:txBody>
      </p:sp>
      <p:sp>
        <p:nvSpPr>
          <p:cNvPr id="12" name="Text 10"/>
          <p:cNvSpPr/>
          <p:nvPr/>
        </p:nvSpPr>
        <p:spPr>
          <a:xfrm>
            <a:off x="960120" y="2651760"/>
            <a:ext cx="4709160" cy="914400"/>
          </a:xfrm>
          <a:prstGeom prst="rect">
            <a:avLst/>
          </a:prstGeom>
          <a:noFill/>
          <a:ln/>
        </p:spPr>
        <p:txBody>
          <a:bodyPr wrap="square" rtlCol="0" anchor="t"/>
          <a:lstStyle/>
          <a:p>
            <a:pPr indent="0" marL="0">
              <a:lnSpc>
                <a:spcPct val="115000"/>
              </a:lnSpc>
              <a:buNone/>
            </a:pPr>
            <a:r>
              <a:rPr lang="en-US" sz="1100" dirty="0">
                <a:solidFill>
                  <a:srgbClr val="352F35"/>
                </a:solidFill>
                <a:latin typeface="Arial" pitchFamily="34" charset="0"/>
                <a:ea typeface="Arial" pitchFamily="34" charset="-122"/>
                <a:cs typeface="Arial" pitchFamily="34" charset="-120"/>
              </a:rPr>
              <a:t>Warning-sign identification, true/false myth busters, and mini quizzes replace passive, overwhelming articles.</a:t>
            </a:r>
            <a:endParaRPr lang="en-US" sz="1100" dirty="0"/>
          </a:p>
        </p:txBody>
      </p:sp>
      <p:sp>
        <p:nvSpPr>
          <p:cNvPr id="13" name="Shape 11"/>
          <p:cNvSpPr/>
          <p:nvPr/>
        </p:nvSpPr>
        <p:spPr>
          <a:xfrm>
            <a:off x="6217920" y="1965960"/>
            <a:ext cx="5166360" cy="1691640"/>
          </a:xfrm>
          <a:prstGeom prst="roundRect">
            <a:avLst>
              <a:gd name="adj" fmla="val 6486"/>
            </a:avLst>
          </a:prstGeom>
          <a:solidFill>
            <a:srgbClr val="FFFFFF"/>
          </a:solidFill>
          <a:ln w="12700">
            <a:solidFill>
              <a:srgbClr val="E9DFDC"/>
            </a:solidFill>
            <a:prstDash val="solid"/>
          </a:ln>
        </p:spPr>
      </p:sp>
      <p:sp>
        <p:nvSpPr>
          <p:cNvPr id="14" name="Shape 12"/>
          <p:cNvSpPr/>
          <p:nvPr/>
        </p:nvSpPr>
        <p:spPr>
          <a:xfrm>
            <a:off x="6446520" y="2194560"/>
            <a:ext cx="365760" cy="365760"/>
          </a:xfrm>
          <a:prstGeom prst="ellipse">
            <a:avLst/>
          </a:prstGeom>
          <a:solidFill>
            <a:srgbClr val="F2E1E3"/>
          </a:solidFill>
          <a:ln w="12700">
            <a:solidFill>
              <a:srgbClr val="F2E1E3"/>
            </a:solidFill>
            <a:prstDash val="solid"/>
          </a:ln>
        </p:spPr>
      </p:sp>
      <p:sp>
        <p:nvSpPr>
          <p:cNvPr id="15" name="Text 13"/>
          <p:cNvSpPr/>
          <p:nvPr/>
        </p:nvSpPr>
        <p:spPr>
          <a:xfrm>
            <a:off x="6446520" y="2194560"/>
            <a:ext cx="365760" cy="365760"/>
          </a:xfrm>
          <a:prstGeom prst="rect">
            <a:avLst/>
          </a:prstGeom>
          <a:noFill/>
          <a:ln/>
        </p:spPr>
        <p:txBody>
          <a:bodyPr wrap="square" rtlCol="0" anchor="ctr"/>
          <a:lstStyle/>
          <a:p>
            <a:pPr algn="ctr" indent="0" marL="0">
              <a:buNone/>
            </a:pPr>
            <a:r>
              <a:rPr lang="en-US" sz="1100" b="1" dirty="0">
                <a:solidFill>
                  <a:srgbClr val="9F5F6E"/>
                </a:solidFill>
              </a:rPr>
              <a:t>2</a:t>
            </a:r>
            <a:endParaRPr lang="en-US" sz="1100" dirty="0"/>
          </a:p>
        </p:txBody>
      </p:sp>
      <p:sp>
        <p:nvSpPr>
          <p:cNvPr id="16" name="Text 14"/>
          <p:cNvSpPr/>
          <p:nvPr/>
        </p:nvSpPr>
        <p:spPr>
          <a:xfrm>
            <a:off x="6903720" y="2167128"/>
            <a:ext cx="4297680" cy="365760"/>
          </a:xfrm>
          <a:prstGeom prst="rect">
            <a:avLst/>
          </a:prstGeom>
          <a:noFill/>
          <a:ln/>
        </p:spPr>
        <p:txBody>
          <a:bodyPr wrap="square" rtlCol="0" anchor="ctr"/>
          <a:lstStyle/>
          <a:p>
            <a:pPr indent="0" marL="0">
              <a:buNone/>
            </a:pPr>
            <a:r>
              <a:rPr lang="en-US" sz="1300" b="1" dirty="0">
                <a:solidFill>
                  <a:srgbClr val="352F35"/>
                </a:solidFill>
                <a:latin typeface="Arial" pitchFamily="34" charset="0"/>
                <a:ea typeface="Arial" pitchFamily="34" charset="-122"/>
                <a:cs typeface="Arial" pitchFamily="34" charset="-120"/>
              </a:rPr>
              <a:t>MomCare Circle</a:t>
            </a:r>
            <a:endParaRPr lang="en-US" sz="1300" dirty="0"/>
          </a:p>
        </p:txBody>
      </p:sp>
      <p:sp>
        <p:nvSpPr>
          <p:cNvPr id="17" name="Text 15"/>
          <p:cNvSpPr/>
          <p:nvPr/>
        </p:nvSpPr>
        <p:spPr>
          <a:xfrm>
            <a:off x="6446520" y="2651760"/>
            <a:ext cx="4709160" cy="914400"/>
          </a:xfrm>
          <a:prstGeom prst="rect">
            <a:avLst/>
          </a:prstGeom>
          <a:noFill/>
          <a:ln/>
        </p:spPr>
        <p:txBody>
          <a:bodyPr wrap="square" rtlCol="0" anchor="t"/>
          <a:lstStyle/>
          <a:p>
            <a:pPr indent="0" marL="0">
              <a:lnSpc>
                <a:spcPct val="115000"/>
              </a:lnSpc>
              <a:buNone/>
            </a:pPr>
            <a:r>
              <a:rPr lang="en-US" sz="1100" dirty="0">
                <a:solidFill>
                  <a:srgbClr val="352F35"/>
                </a:solidFill>
                <a:latin typeface="Arial" pitchFamily="34" charset="0"/>
                <a:ea typeface="Arial" pitchFamily="34" charset="-122"/>
                <a:cs typeface="Arial" pitchFamily="34" charset="-120"/>
              </a:rPr>
              <a:t>Mothers post, like, comment, and bookmark shared experiences with flexible privacy: first name, "Mom", or anonymous.</a:t>
            </a:r>
            <a:endParaRPr lang="en-US" sz="1100" dirty="0"/>
          </a:p>
        </p:txBody>
      </p:sp>
      <p:sp>
        <p:nvSpPr>
          <p:cNvPr id="18" name="Shape 16"/>
          <p:cNvSpPr/>
          <p:nvPr/>
        </p:nvSpPr>
        <p:spPr>
          <a:xfrm>
            <a:off x="731520" y="3840480"/>
            <a:ext cx="5166360" cy="1691640"/>
          </a:xfrm>
          <a:prstGeom prst="roundRect">
            <a:avLst>
              <a:gd name="adj" fmla="val 6486"/>
            </a:avLst>
          </a:prstGeom>
          <a:solidFill>
            <a:srgbClr val="FFFFFF"/>
          </a:solidFill>
          <a:ln w="12700">
            <a:solidFill>
              <a:srgbClr val="E9DFDC"/>
            </a:solidFill>
            <a:prstDash val="solid"/>
          </a:ln>
        </p:spPr>
      </p:sp>
      <p:sp>
        <p:nvSpPr>
          <p:cNvPr id="19" name="Shape 17"/>
          <p:cNvSpPr/>
          <p:nvPr/>
        </p:nvSpPr>
        <p:spPr>
          <a:xfrm>
            <a:off x="960120" y="4069080"/>
            <a:ext cx="365760" cy="365760"/>
          </a:xfrm>
          <a:prstGeom prst="ellipse">
            <a:avLst/>
          </a:prstGeom>
          <a:solidFill>
            <a:srgbClr val="F2E1E3"/>
          </a:solidFill>
          <a:ln w="12700">
            <a:solidFill>
              <a:srgbClr val="F2E1E3"/>
            </a:solidFill>
            <a:prstDash val="solid"/>
          </a:ln>
        </p:spPr>
      </p:sp>
      <p:sp>
        <p:nvSpPr>
          <p:cNvPr id="20" name="Text 18"/>
          <p:cNvSpPr/>
          <p:nvPr/>
        </p:nvSpPr>
        <p:spPr>
          <a:xfrm>
            <a:off x="960120" y="4069080"/>
            <a:ext cx="365760" cy="365760"/>
          </a:xfrm>
          <a:prstGeom prst="rect">
            <a:avLst/>
          </a:prstGeom>
          <a:noFill/>
          <a:ln/>
        </p:spPr>
        <p:txBody>
          <a:bodyPr wrap="square" rtlCol="0" anchor="ctr"/>
          <a:lstStyle/>
          <a:p>
            <a:pPr algn="ctr" indent="0" marL="0">
              <a:buNone/>
            </a:pPr>
            <a:r>
              <a:rPr lang="en-US" sz="1100" b="1" dirty="0">
                <a:solidFill>
                  <a:srgbClr val="9F5F6E"/>
                </a:solidFill>
              </a:rPr>
              <a:t>3</a:t>
            </a:r>
            <a:endParaRPr lang="en-US" sz="1100" dirty="0"/>
          </a:p>
        </p:txBody>
      </p:sp>
      <p:sp>
        <p:nvSpPr>
          <p:cNvPr id="21" name="Text 19"/>
          <p:cNvSpPr/>
          <p:nvPr/>
        </p:nvSpPr>
        <p:spPr>
          <a:xfrm>
            <a:off x="1417320" y="4041648"/>
            <a:ext cx="4297680" cy="365760"/>
          </a:xfrm>
          <a:prstGeom prst="rect">
            <a:avLst/>
          </a:prstGeom>
          <a:noFill/>
          <a:ln/>
        </p:spPr>
        <p:txBody>
          <a:bodyPr wrap="square" rtlCol="0" anchor="ctr"/>
          <a:lstStyle/>
          <a:p>
            <a:pPr indent="0" marL="0">
              <a:buNone/>
            </a:pPr>
            <a:r>
              <a:rPr lang="en-US" sz="1300" b="1" dirty="0">
                <a:solidFill>
                  <a:srgbClr val="352F35"/>
                </a:solidFill>
                <a:latin typeface="Arial" pitchFamily="34" charset="0"/>
                <a:ea typeface="Arial" pitchFamily="34" charset="-122"/>
                <a:cs typeface="Arial" pitchFamily="34" charset="-120"/>
              </a:rPr>
              <a:t>Contextual Experience Matching</a:t>
            </a:r>
            <a:endParaRPr lang="en-US" sz="1300" dirty="0"/>
          </a:p>
        </p:txBody>
      </p:sp>
      <p:sp>
        <p:nvSpPr>
          <p:cNvPr id="22" name="Text 20"/>
          <p:cNvSpPr/>
          <p:nvPr/>
        </p:nvSpPr>
        <p:spPr>
          <a:xfrm>
            <a:off x="960120" y="4526280"/>
            <a:ext cx="4709160" cy="914400"/>
          </a:xfrm>
          <a:prstGeom prst="rect">
            <a:avLst/>
          </a:prstGeom>
          <a:noFill/>
          <a:ln/>
        </p:spPr>
        <p:txBody>
          <a:bodyPr wrap="square" rtlCol="0" anchor="t"/>
          <a:lstStyle/>
          <a:p>
            <a:pPr indent="0" marL="0">
              <a:lnSpc>
                <a:spcPct val="115000"/>
              </a:lnSpc>
              <a:buNone/>
            </a:pPr>
            <a:r>
              <a:rPr lang="en-US" sz="1100" dirty="0">
                <a:solidFill>
                  <a:srgbClr val="352F35"/>
                </a:solidFill>
                <a:latin typeface="Arial" pitchFamily="34" charset="0"/>
                <a:ea typeface="Arial" pitchFamily="34" charset="-122"/>
                <a:cs typeface="Arial" pitchFamily="34" charset="-120"/>
              </a:rPr>
              <a:t>Groups discussions by gestational week and topics (e.g. Week 24 baby kicks, sleep pillow recommendations).</a:t>
            </a:r>
            <a:endParaRPr lang="en-US" sz="1100" dirty="0"/>
          </a:p>
        </p:txBody>
      </p:sp>
      <p:sp>
        <p:nvSpPr>
          <p:cNvPr id="23" name="Shape 21"/>
          <p:cNvSpPr/>
          <p:nvPr/>
        </p:nvSpPr>
        <p:spPr>
          <a:xfrm>
            <a:off x="6217920" y="3840480"/>
            <a:ext cx="5166360" cy="1691640"/>
          </a:xfrm>
          <a:prstGeom prst="roundRect">
            <a:avLst>
              <a:gd name="adj" fmla="val 6486"/>
            </a:avLst>
          </a:prstGeom>
          <a:solidFill>
            <a:srgbClr val="FFFFFF"/>
          </a:solidFill>
          <a:ln w="12700">
            <a:solidFill>
              <a:srgbClr val="E9DFDC"/>
            </a:solidFill>
            <a:prstDash val="solid"/>
          </a:ln>
        </p:spPr>
      </p:sp>
      <p:sp>
        <p:nvSpPr>
          <p:cNvPr id="24" name="Shape 22"/>
          <p:cNvSpPr/>
          <p:nvPr/>
        </p:nvSpPr>
        <p:spPr>
          <a:xfrm>
            <a:off x="6446520" y="4069080"/>
            <a:ext cx="365760" cy="365760"/>
          </a:xfrm>
          <a:prstGeom prst="ellipse">
            <a:avLst/>
          </a:prstGeom>
          <a:solidFill>
            <a:srgbClr val="F2E1E3"/>
          </a:solidFill>
          <a:ln w="12700">
            <a:solidFill>
              <a:srgbClr val="F2E1E3"/>
            </a:solidFill>
            <a:prstDash val="solid"/>
          </a:ln>
        </p:spPr>
      </p:sp>
      <p:sp>
        <p:nvSpPr>
          <p:cNvPr id="25" name="Text 23"/>
          <p:cNvSpPr/>
          <p:nvPr/>
        </p:nvSpPr>
        <p:spPr>
          <a:xfrm>
            <a:off x="6446520" y="4069080"/>
            <a:ext cx="365760" cy="365760"/>
          </a:xfrm>
          <a:prstGeom prst="rect">
            <a:avLst/>
          </a:prstGeom>
          <a:noFill/>
          <a:ln/>
        </p:spPr>
        <p:txBody>
          <a:bodyPr wrap="square" rtlCol="0" anchor="ctr"/>
          <a:lstStyle/>
          <a:p>
            <a:pPr algn="ctr" indent="0" marL="0">
              <a:buNone/>
            </a:pPr>
            <a:r>
              <a:rPr lang="en-US" sz="1100" b="1" dirty="0">
                <a:solidFill>
                  <a:srgbClr val="9F5F6E"/>
                </a:solidFill>
              </a:rPr>
              <a:t>4</a:t>
            </a:r>
            <a:endParaRPr lang="en-US" sz="1100" dirty="0"/>
          </a:p>
        </p:txBody>
      </p:sp>
      <p:sp>
        <p:nvSpPr>
          <p:cNvPr id="26" name="Text 24"/>
          <p:cNvSpPr/>
          <p:nvPr/>
        </p:nvSpPr>
        <p:spPr>
          <a:xfrm>
            <a:off x="6903720" y="4041648"/>
            <a:ext cx="4297680" cy="365760"/>
          </a:xfrm>
          <a:prstGeom prst="rect">
            <a:avLst/>
          </a:prstGeom>
          <a:noFill/>
          <a:ln/>
        </p:spPr>
        <p:txBody>
          <a:bodyPr wrap="square" rtlCol="0" anchor="ctr"/>
          <a:lstStyle/>
          <a:p>
            <a:pPr indent="0" marL="0">
              <a:buNone/>
            </a:pPr>
            <a:r>
              <a:rPr lang="en-US" sz="1300" b="1" dirty="0">
                <a:solidFill>
                  <a:srgbClr val="352F35"/>
                </a:solidFill>
                <a:latin typeface="Arial" pitchFamily="34" charset="0"/>
                <a:ea typeface="Arial" pitchFamily="34" charset="-122"/>
                <a:cs typeface="Arial" pitchFamily="34" charset="-120"/>
              </a:rPr>
              <a:t>AI Community Guardian</a:t>
            </a:r>
            <a:endParaRPr lang="en-US" sz="1300" dirty="0"/>
          </a:p>
        </p:txBody>
      </p:sp>
      <p:sp>
        <p:nvSpPr>
          <p:cNvPr id="27" name="Text 25"/>
          <p:cNvSpPr/>
          <p:nvPr/>
        </p:nvSpPr>
        <p:spPr>
          <a:xfrm>
            <a:off x="6446520" y="4526280"/>
            <a:ext cx="4709160" cy="914400"/>
          </a:xfrm>
          <a:prstGeom prst="rect">
            <a:avLst/>
          </a:prstGeom>
          <a:noFill/>
          <a:ln/>
        </p:spPr>
        <p:txBody>
          <a:bodyPr wrap="square" rtlCol="0" anchor="t"/>
          <a:lstStyle/>
          <a:p>
            <a:pPr indent="0" marL="0">
              <a:lnSpc>
                <a:spcPct val="115000"/>
              </a:lnSpc>
              <a:buNone/>
            </a:pPr>
            <a:r>
              <a:rPr lang="en-US" sz="1100" dirty="0">
                <a:solidFill>
                  <a:srgbClr val="352F35"/>
                </a:solidFill>
                <a:latin typeface="Arial" pitchFamily="34" charset="0"/>
                <a:ea typeface="Arial" pitchFamily="34" charset="-122"/>
                <a:cs typeface="Arial" pitchFamily="34" charset="-120"/>
              </a:rPr>
              <a:t>Automated moderation filters spam, harassment, unsafe content, and misleading medical claims into a review queue.</a:t>
            </a:r>
            <a:endParaRPr lang="en-US" sz="1100" dirty="0"/>
          </a:p>
        </p:txBody>
      </p:sp>
      <p:sp>
        <p:nvSpPr>
          <p:cNvPr id="28" name="Shape 26"/>
          <p:cNvSpPr/>
          <p:nvPr/>
        </p:nvSpPr>
        <p:spPr>
          <a:xfrm>
            <a:off x="731520" y="5715000"/>
            <a:ext cx="10652760" cy="594360"/>
          </a:xfrm>
          <a:prstGeom prst="roundRect">
            <a:avLst>
              <a:gd name="adj" fmla="val 15385"/>
            </a:avLst>
          </a:prstGeom>
          <a:solidFill>
            <a:srgbClr val="F2E1E3"/>
          </a:solidFill>
          <a:ln w="12700">
            <a:solidFill>
              <a:srgbClr val="E9DFDC"/>
            </a:solidFill>
            <a:prstDash val="solid"/>
          </a:ln>
        </p:spPr>
      </p:sp>
      <p:sp>
        <p:nvSpPr>
          <p:cNvPr id="29" name="Text 27"/>
          <p:cNvSpPr/>
          <p:nvPr/>
        </p:nvSpPr>
        <p:spPr>
          <a:xfrm>
            <a:off x="914400" y="5715000"/>
            <a:ext cx="10287000" cy="594360"/>
          </a:xfrm>
          <a:prstGeom prst="rect">
            <a:avLst/>
          </a:prstGeom>
          <a:noFill/>
          <a:ln/>
        </p:spPr>
        <p:txBody>
          <a:bodyPr wrap="square" rtlCol="0" anchor="ctr"/>
          <a:lstStyle/>
          <a:p>
            <a:pPr indent="0" marL="0">
              <a:buNone/>
            </a:pPr>
            <a:r>
              <a:rPr lang="en-US" sz="1000" b="1" dirty="0">
                <a:solidFill>
                  <a:srgbClr val="9F5F6E"/>
                </a:solidFill>
              </a:rPr>
              <a:t>CORE TAKEAWAY:  </a:t>
            </a:r>
            <a:pPr indent="0" marL="0">
              <a:buNone/>
            </a:pPr>
            <a:r>
              <a:rPr lang="en-US" sz="1050" dirty="0">
                <a:solidFill>
                  <a:srgbClr val="352F35"/>
                </a:solidFill>
              </a:rPr>
              <a:t>Community content is clearly labeled as shared peer experiences, never as formal medical advice.</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CF8F6"/>
        </a:solidFill>
      </p:bgPr>
    </p:bg>
    <p:spTree>
      <p:nvGrpSpPr>
        <p:cNvPr id="1" name=""/>
        <p:cNvGrpSpPr/>
        <p:nvPr/>
      </p:nvGrpSpPr>
      <p:grpSpPr>
        <a:xfrm>
          <a:off x="0" y="0"/>
          <a:ext cx="0" cy="0"/>
          <a:chOff x="0" y="0"/>
          <a:chExt cx="0" cy="0"/>
        </a:xfrm>
      </p:grpSpPr>
      <p:sp>
        <p:nvSpPr>
          <p:cNvPr id="2" name="Shape 0"/>
          <p:cNvSpPr/>
          <p:nvPr/>
        </p:nvSpPr>
        <p:spPr>
          <a:xfrm>
            <a:off x="0" y="0"/>
            <a:ext cx="9144000" cy="91440"/>
          </a:xfrm>
          <a:prstGeom prst="rect">
            <a:avLst/>
          </a:prstGeom>
          <a:solidFill>
            <a:srgbClr val="9F5F6E"/>
          </a:solidFill>
          <a:ln w="12700">
            <a:solidFill>
              <a:srgbClr val="9F5F6E"/>
            </a:solidFill>
            <a:prstDash val="solid"/>
          </a:ln>
        </p:spPr>
      </p:sp>
      <p:sp>
        <p:nvSpPr>
          <p:cNvPr id="3" name="Shape 1"/>
          <p:cNvSpPr/>
          <p:nvPr/>
        </p:nvSpPr>
        <p:spPr>
          <a:xfrm>
            <a:off x="731520" y="320040"/>
            <a:ext cx="2011680" cy="320040"/>
          </a:xfrm>
          <a:prstGeom prst="roundRect">
            <a:avLst>
              <a:gd name="adj" fmla="val 42857"/>
            </a:avLst>
          </a:prstGeom>
          <a:solidFill>
            <a:srgbClr val="F2E1E3"/>
          </a:solidFill>
          <a:ln w="12700">
            <a:solidFill>
              <a:srgbClr val="E9DFDC"/>
            </a:solidFill>
            <a:prstDash val="solid"/>
          </a:ln>
        </p:spPr>
      </p:sp>
      <p:sp>
        <p:nvSpPr>
          <p:cNvPr id="4" name="Text 2"/>
          <p:cNvSpPr/>
          <p:nvPr/>
        </p:nvSpPr>
        <p:spPr>
          <a:xfrm>
            <a:off x="731520" y="320040"/>
            <a:ext cx="2011680" cy="320040"/>
          </a:xfrm>
          <a:prstGeom prst="rect">
            <a:avLst/>
          </a:prstGeom>
          <a:noFill/>
          <a:ln/>
        </p:spPr>
        <p:txBody>
          <a:bodyPr wrap="square" rtlCol="0" anchor="ctr"/>
          <a:lstStyle/>
          <a:p>
            <a:pPr algn="ctr" indent="0" marL="0">
              <a:buNone/>
            </a:pPr>
            <a:r>
              <a:rPr lang="en-US" sz="1000" b="1" dirty="0">
                <a:solidFill>
                  <a:srgbClr val="9F5F6E"/>
                </a:solidFill>
              </a:rPr>
              <a:t>PRIVACY &amp; SECURITY</a:t>
            </a:r>
            <a:endParaRPr lang="en-US" sz="1000" dirty="0"/>
          </a:p>
        </p:txBody>
      </p:sp>
      <p:sp>
        <p:nvSpPr>
          <p:cNvPr id="5" name="Text 3"/>
          <p:cNvSpPr/>
          <p:nvPr/>
        </p:nvSpPr>
        <p:spPr>
          <a:xfrm>
            <a:off x="9601200" y="320040"/>
            <a:ext cx="1828800" cy="320040"/>
          </a:xfrm>
          <a:prstGeom prst="rect">
            <a:avLst/>
          </a:prstGeom>
          <a:noFill/>
          <a:ln/>
        </p:spPr>
        <p:txBody>
          <a:bodyPr wrap="square" rtlCol="0" anchor="ctr"/>
          <a:lstStyle/>
          <a:p>
            <a:pPr algn="r" indent="0" marL="0">
              <a:buNone/>
            </a:pPr>
            <a:r>
              <a:rPr lang="en-US" sz="1100" dirty="0">
                <a:solidFill>
                  <a:srgbClr val="766D72"/>
                </a:solidFill>
              </a:rPr>
              <a:t>Slide 12 of 15</a:t>
            </a:r>
            <a:endParaRPr lang="en-US" sz="1100" dirty="0"/>
          </a:p>
        </p:txBody>
      </p:sp>
      <p:sp>
        <p:nvSpPr>
          <p:cNvPr id="6" name="Text 4"/>
          <p:cNvSpPr/>
          <p:nvPr/>
        </p:nvSpPr>
        <p:spPr>
          <a:xfrm>
            <a:off x="731520" y="777240"/>
            <a:ext cx="10698480" cy="640080"/>
          </a:xfrm>
          <a:prstGeom prst="rect">
            <a:avLst/>
          </a:prstGeom>
          <a:noFill/>
          <a:ln/>
        </p:spPr>
        <p:txBody>
          <a:bodyPr wrap="square" rtlCol="0" anchor="ctr"/>
          <a:lstStyle/>
          <a:p>
            <a:pPr indent="0" marL="0">
              <a:buNone/>
            </a:pPr>
            <a:r>
              <a:rPr lang="en-US" sz="2600" b="1" dirty="0">
                <a:solidFill>
                  <a:srgbClr val="352F35"/>
                </a:solidFill>
                <a:latin typeface="Arial" pitchFamily="34" charset="0"/>
                <a:ea typeface="Arial" pitchFamily="34" charset="-122"/>
                <a:cs typeface="Arial" pitchFamily="34" charset="-120"/>
              </a:rPr>
              <a:t>Privacy and Security</a:t>
            </a:r>
            <a:endParaRPr lang="en-US" sz="2600" dirty="0"/>
          </a:p>
        </p:txBody>
      </p:sp>
      <p:sp>
        <p:nvSpPr>
          <p:cNvPr id="7" name="Text 5"/>
          <p:cNvSpPr/>
          <p:nvPr/>
        </p:nvSpPr>
        <p:spPr>
          <a:xfrm>
            <a:off x="731520" y="1417320"/>
            <a:ext cx="10698480" cy="411480"/>
          </a:xfrm>
          <a:prstGeom prst="rect">
            <a:avLst/>
          </a:prstGeom>
          <a:noFill/>
          <a:ln/>
        </p:spPr>
        <p:txBody>
          <a:bodyPr wrap="square" rtlCol="0" anchor="ctr"/>
          <a:lstStyle/>
          <a:p>
            <a:pPr indent="0" marL="0">
              <a:buNone/>
            </a:pPr>
            <a:r>
              <a:rPr lang="en-US" sz="1300" dirty="0">
                <a:solidFill>
                  <a:srgbClr val="9F5F6E"/>
                </a:solidFill>
                <a:latin typeface="Arial" pitchFamily="34" charset="0"/>
                <a:ea typeface="Arial" pitchFamily="34" charset="-122"/>
                <a:cs typeface="Arial" pitchFamily="34" charset="-120"/>
              </a:rPr>
              <a:t>Maternal health data privacy engineered as a foundational design principle</a:t>
            </a:r>
            <a:endParaRPr lang="en-US" sz="1300" dirty="0"/>
          </a:p>
        </p:txBody>
      </p:sp>
      <p:sp>
        <p:nvSpPr>
          <p:cNvPr id="8" name="Shape 6"/>
          <p:cNvSpPr/>
          <p:nvPr/>
        </p:nvSpPr>
        <p:spPr>
          <a:xfrm>
            <a:off x="731520" y="1965960"/>
            <a:ext cx="5166360" cy="1691640"/>
          </a:xfrm>
          <a:prstGeom prst="roundRect">
            <a:avLst>
              <a:gd name="adj" fmla="val 6486"/>
            </a:avLst>
          </a:prstGeom>
          <a:solidFill>
            <a:srgbClr val="FFFFFF"/>
          </a:solidFill>
          <a:ln w="12700">
            <a:solidFill>
              <a:srgbClr val="E9DFDC"/>
            </a:solidFill>
            <a:prstDash val="solid"/>
          </a:ln>
        </p:spPr>
      </p:sp>
      <p:sp>
        <p:nvSpPr>
          <p:cNvPr id="9" name="Shape 7"/>
          <p:cNvSpPr/>
          <p:nvPr/>
        </p:nvSpPr>
        <p:spPr>
          <a:xfrm>
            <a:off x="960120" y="2194560"/>
            <a:ext cx="365760" cy="365760"/>
          </a:xfrm>
          <a:prstGeom prst="ellipse">
            <a:avLst/>
          </a:prstGeom>
          <a:solidFill>
            <a:srgbClr val="F2E1E3"/>
          </a:solidFill>
          <a:ln w="12700">
            <a:solidFill>
              <a:srgbClr val="F2E1E3"/>
            </a:solidFill>
            <a:prstDash val="solid"/>
          </a:ln>
        </p:spPr>
      </p:sp>
      <p:sp>
        <p:nvSpPr>
          <p:cNvPr id="10" name="Text 8"/>
          <p:cNvSpPr/>
          <p:nvPr/>
        </p:nvSpPr>
        <p:spPr>
          <a:xfrm>
            <a:off x="960120" y="2194560"/>
            <a:ext cx="365760" cy="365760"/>
          </a:xfrm>
          <a:prstGeom prst="rect">
            <a:avLst/>
          </a:prstGeom>
          <a:noFill/>
          <a:ln/>
        </p:spPr>
        <p:txBody>
          <a:bodyPr wrap="square" rtlCol="0" anchor="ctr"/>
          <a:lstStyle/>
          <a:p>
            <a:pPr algn="ctr" indent="0" marL="0">
              <a:buNone/>
            </a:pPr>
            <a:r>
              <a:rPr lang="en-US" sz="1100" b="1" dirty="0">
                <a:solidFill>
                  <a:srgbClr val="9F5F6E"/>
                </a:solidFill>
              </a:rPr>
              <a:t>1</a:t>
            </a:r>
            <a:endParaRPr lang="en-US" sz="1100" dirty="0"/>
          </a:p>
        </p:txBody>
      </p:sp>
      <p:sp>
        <p:nvSpPr>
          <p:cNvPr id="11" name="Text 9"/>
          <p:cNvSpPr/>
          <p:nvPr/>
        </p:nvSpPr>
        <p:spPr>
          <a:xfrm>
            <a:off x="1417320" y="2167128"/>
            <a:ext cx="4297680" cy="365760"/>
          </a:xfrm>
          <a:prstGeom prst="rect">
            <a:avLst/>
          </a:prstGeom>
          <a:noFill/>
          <a:ln/>
        </p:spPr>
        <p:txBody>
          <a:bodyPr wrap="square" rtlCol="0" anchor="ctr"/>
          <a:lstStyle/>
          <a:p>
            <a:pPr indent="0" marL="0">
              <a:buNone/>
            </a:pPr>
            <a:r>
              <a:rPr lang="en-US" sz="1300" b="1" dirty="0">
                <a:solidFill>
                  <a:srgbClr val="352F35"/>
                </a:solidFill>
                <a:latin typeface="Arial" pitchFamily="34" charset="0"/>
                <a:ea typeface="Arial" pitchFamily="34" charset="-122"/>
                <a:cs typeface="Arial" pitchFamily="34" charset="-120"/>
              </a:rPr>
              <a:t>Fundamental Principle</a:t>
            </a:r>
            <a:endParaRPr lang="en-US" sz="1300" dirty="0"/>
          </a:p>
        </p:txBody>
      </p:sp>
      <p:sp>
        <p:nvSpPr>
          <p:cNvPr id="12" name="Text 10"/>
          <p:cNvSpPr/>
          <p:nvPr/>
        </p:nvSpPr>
        <p:spPr>
          <a:xfrm>
            <a:off x="960120" y="2651760"/>
            <a:ext cx="4709160" cy="914400"/>
          </a:xfrm>
          <a:prstGeom prst="rect">
            <a:avLst/>
          </a:prstGeom>
          <a:noFill/>
          <a:ln/>
        </p:spPr>
        <p:txBody>
          <a:bodyPr wrap="square" rtlCol="0" anchor="t"/>
          <a:lstStyle/>
          <a:p>
            <a:pPr indent="0" marL="0">
              <a:lnSpc>
                <a:spcPct val="115000"/>
              </a:lnSpc>
              <a:buNone/>
            </a:pPr>
            <a:r>
              <a:rPr lang="en-US" sz="1100" dirty="0">
                <a:solidFill>
                  <a:srgbClr val="352F35"/>
                </a:solidFill>
                <a:latin typeface="Arial" pitchFamily="34" charset="0"/>
                <a:ea typeface="Arial" pitchFamily="34" charset="-122"/>
                <a:cs typeface="Arial" pitchFamily="34" charset="-120"/>
              </a:rPr>
              <a:t>Health information is among the most sensitive data a person owns; privacy is an architectural requirement.</a:t>
            </a:r>
            <a:endParaRPr lang="en-US" sz="1100" dirty="0"/>
          </a:p>
        </p:txBody>
      </p:sp>
      <p:sp>
        <p:nvSpPr>
          <p:cNvPr id="13" name="Shape 11"/>
          <p:cNvSpPr/>
          <p:nvPr/>
        </p:nvSpPr>
        <p:spPr>
          <a:xfrm>
            <a:off x="6217920" y="1965960"/>
            <a:ext cx="5166360" cy="1691640"/>
          </a:xfrm>
          <a:prstGeom prst="roundRect">
            <a:avLst>
              <a:gd name="adj" fmla="val 6486"/>
            </a:avLst>
          </a:prstGeom>
          <a:solidFill>
            <a:srgbClr val="FFFFFF"/>
          </a:solidFill>
          <a:ln w="12700">
            <a:solidFill>
              <a:srgbClr val="E9DFDC"/>
            </a:solidFill>
            <a:prstDash val="solid"/>
          </a:ln>
        </p:spPr>
      </p:sp>
      <p:sp>
        <p:nvSpPr>
          <p:cNvPr id="14" name="Shape 12"/>
          <p:cNvSpPr/>
          <p:nvPr/>
        </p:nvSpPr>
        <p:spPr>
          <a:xfrm>
            <a:off x="6446520" y="2194560"/>
            <a:ext cx="365760" cy="365760"/>
          </a:xfrm>
          <a:prstGeom prst="ellipse">
            <a:avLst/>
          </a:prstGeom>
          <a:solidFill>
            <a:srgbClr val="F2E1E3"/>
          </a:solidFill>
          <a:ln w="12700">
            <a:solidFill>
              <a:srgbClr val="F2E1E3"/>
            </a:solidFill>
            <a:prstDash val="solid"/>
          </a:ln>
        </p:spPr>
      </p:sp>
      <p:sp>
        <p:nvSpPr>
          <p:cNvPr id="15" name="Text 13"/>
          <p:cNvSpPr/>
          <p:nvPr/>
        </p:nvSpPr>
        <p:spPr>
          <a:xfrm>
            <a:off x="6446520" y="2194560"/>
            <a:ext cx="365760" cy="365760"/>
          </a:xfrm>
          <a:prstGeom prst="rect">
            <a:avLst/>
          </a:prstGeom>
          <a:noFill/>
          <a:ln/>
        </p:spPr>
        <p:txBody>
          <a:bodyPr wrap="square" rtlCol="0" anchor="ctr"/>
          <a:lstStyle/>
          <a:p>
            <a:pPr algn="ctr" indent="0" marL="0">
              <a:buNone/>
            </a:pPr>
            <a:r>
              <a:rPr lang="en-US" sz="1100" b="1" dirty="0">
                <a:solidFill>
                  <a:srgbClr val="9F5F6E"/>
                </a:solidFill>
              </a:rPr>
              <a:t>2</a:t>
            </a:r>
            <a:endParaRPr lang="en-US" sz="1100" dirty="0"/>
          </a:p>
        </p:txBody>
      </p:sp>
      <p:sp>
        <p:nvSpPr>
          <p:cNvPr id="16" name="Text 14"/>
          <p:cNvSpPr/>
          <p:nvPr/>
        </p:nvSpPr>
        <p:spPr>
          <a:xfrm>
            <a:off x="6903720" y="2167128"/>
            <a:ext cx="4297680" cy="365760"/>
          </a:xfrm>
          <a:prstGeom prst="rect">
            <a:avLst/>
          </a:prstGeom>
          <a:noFill/>
          <a:ln/>
        </p:spPr>
        <p:txBody>
          <a:bodyPr wrap="square" rtlCol="0" anchor="ctr"/>
          <a:lstStyle/>
          <a:p>
            <a:pPr indent="0" marL="0">
              <a:buNone/>
            </a:pPr>
            <a:r>
              <a:rPr lang="en-US" sz="1300" b="1" dirty="0">
                <a:solidFill>
                  <a:srgbClr val="352F35"/>
                </a:solidFill>
                <a:latin typeface="Arial" pitchFamily="34" charset="0"/>
                <a:ea typeface="Arial" pitchFamily="34" charset="-122"/>
                <a:cs typeface="Arial" pitchFamily="34" charset="-120"/>
              </a:rPr>
              <a:t>Production Security Architecture</a:t>
            </a:r>
            <a:endParaRPr lang="en-US" sz="1300" dirty="0"/>
          </a:p>
        </p:txBody>
      </p:sp>
      <p:sp>
        <p:nvSpPr>
          <p:cNvPr id="17" name="Text 15"/>
          <p:cNvSpPr/>
          <p:nvPr/>
        </p:nvSpPr>
        <p:spPr>
          <a:xfrm>
            <a:off x="6446520" y="2651760"/>
            <a:ext cx="4709160" cy="914400"/>
          </a:xfrm>
          <a:prstGeom prst="rect">
            <a:avLst/>
          </a:prstGeom>
          <a:noFill/>
          <a:ln/>
        </p:spPr>
        <p:txBody>
          <a:bodyPr wrap="square" rtlCol="0" anchor="t"/>
          <a:lstStyle/>
          <a:p>
            <a:pPr indent="0" marL="0">
              <a:lnSpc>
                <a:spcPct val="115000"/>
              </a:lnSpc>
              <a:buNone/>
            </a:pPr>
            <a:r>
              <a:rPr lang="en-US" sz="1100" dirty="0">
                <a:solidFill>
                  <a:srgbClr val="352F35"/>
                </a:solidFill>
                <a:latin typeface="Arial" pitchFamily="34" charset="0"/>
                <a:ea typeface="Arial" pitchFamily="34" charset="-122"/>
                <a:cs typeface="Arial" pitchFamily="34" charset="-120"/>
              </a:rPr>
              <a:t>Dedicated user authentication, isolated private medical records, encrypted database, and segregated report storage.</a:t>
            </a:r>
            <a:endParaRPr lang="en-US" sz="1100" dirty="0"/>
          </a:p>
        </p:txBody>
      </p:sp>
      <p:sp>
        <p:nvSpPr>
          <p:cNvPr id="18" name="Shape 16"/>
          <p:cNvSpPr/>
          <p:nvPr/>
        </p:nvSpPr>
        <p:spPr>
          <a:xfrm>
            <a:off x="731520" y="3840480"/>
            <a:ext cx="5166360" cy="1691640"/>
          </a:xfrm>
          <a:prstGeom prst="roundRect">
            <a:avLst>
              <a:gd name="adj" fmla="val 6486"/>
            </a:avLst>
          </a:prstGeom>
          <a:solidFill>
            <a:srgbClr val="FFFFFF"/>
          </a:solidFill>
          <a:ln w="12700">
            <a:solidFill>
              <a:srgbClr val="E9DFDC"/>
            </a:solidFill>
            <a:prstDash val="solid"/>
          </a:ln>
        </p:spPr>
      </p:sp>
      <p:sp>
        <p:nvSpPr>
          <p:cNvPr id="19" name="Shape 17"/>
          <p:cNvSpPr/>
          <p:nvPr/>
        </p:nvSpPr>
        <p:spPr>
          <a:xfrm>
            <a:off x="960120" y="4069080"/>
            <a:ext cx="365760" cy="365760"/>
          </a:xfrm>
          <a:prstGeom prst="ellipse">
            <a:avLst/>
          </a:prstGeom>
          <a:solidFill>
            <a:srgbClr val="F2E1E3"/>
          </a:solidFill>
          <a:ln w="12700">
            <a:solidFill>
              <a:srgbClr val="F2E1E3"/>
            </a:solidFill>
            <a:prstDash val="solid"/>
          </a:ln>
        </p:spPr>
      </p:sp>
      <p:sp>
        <p:nvSpPr>
          <p:cNvPr id="20" name="Text 18"/>
          <p:cNvSpPr/>
          <p:nvPr/>
        </p:nvSpPr>
        <p:spPr>
          <a:xfrm>
            <a:off x="960120" y="4069080"/>
            <a:ext cx="365760" cy="365760"/>
          </a:xfrm>
          <a:prstGeom prst="rect">
            <a:avLst/>
          </a:prstGeom>
          <a:noFill/>
          <a:ln/>
        </p:spPr>
        <p:txBody>
          <a:bodyPr wrap="square" rtlCol="0" anchor="ctr"/>
          <a:lstStyle/>
          <a:p>
            <a:pPr algn="ctr" indent="0" marL="0">
              <a:buNone/>
            </a:pPr>
            <a:r>
              <a:rPr lang="en-US" sz="1100" b="1" dirty="0">
                <a:solidFill>
                  <a:srgbClr val="9F5F6E"/>
                </a:solidFill>
              </a:rPr>
              <a:t>3</a:t>
            </a:r>
            <a:endParaRPr lang="en-US" sz="1100" dirty="0"/>
          </a:p>
        </p:txBody>
      </p:sp>
      <p:sp>
        <p:nvSpPr>
          <p:cNvPr id="21" name="Text 19"/>
          <p:cNvSpPr/>
          <p:nvPr/>
        </p:nvSpPr>
        <p:spPr>
          <a:xfrm>
            <a:off x="1417320" y="4041648"/>
            <a:ext cx="4297680" cy="365760"/>
          </a:xfrm>
          <a:prstGeom prst="rect">
            <a:avLst/>
          </a:prstGeom>
          <a:noFill/>
          <a:ln/>
        </p:spPr>
        <p:txBody>
          <a:bodyPr wrap="square" rtlCol="0" anchor="ctr"/>
          <a:lstStyle/>
          <a:p>
            <a:pPr indent="0" marL="0">
              <a:buNone/>
            </a:pPr>
            <a:r>
              <a:rPr lang="en-US" sz="1300" b="1" dirty="0">
                <a:solidFill>
                  <a:srgbClr val="352F35"/>
                </a:solidFill>
                <a:latin typeface="Arial" pitchFamily="34" charset="0"/>
                <a:ea typeface="Arial" pitchFamily="34" charset="-122"/>
                <a:cs typeface="Arial" pitchFamily="34" charset="-120"/>
              </a:rPr>
              <a:t>Prototype Privacy Posture</a:t>
            </a:r>
            <a:endParaRPr lang="en-US" sz="1300" dirty="0"/>
          </a:p>
        </p:txBody>
      </p:sp>
      <p:sp>
        <p:nvSpPr>
          <p:cNvPr id="22" name="Text 20"/>
          <p:cNvSpPr/>
          <p:nvPr/>
        </p:nvSpPr>
        <p:spPr>
          <a:xfrm>
            <a:off x="960120" y="4526280"/>
            <a:ext cx="4709160" cy="914400"/>
          </a:xfrm>
          <a:prstGeom prst="rect">
            <a:avLst/>
          </a:prstGeom>
          <a:noFill/>
          <a:ln/>
        </p:spPr>
        <p:txBody>
          <a:bodyPr wrap="square" rtlCol="0" anchor="t"/>
          <a:lstStyle/>
          <a:p>
            <a:pPr indent="0" marL="0">
              <a:lnSpc>
                <a:spcPct val="115000"/>
              </a:lnSpc>
              <a:buNone/>
            </a:pPr>
            <a:r>
              <a:rPr lang="en-US" sz="1100" dirty="0">
                <a:solidFill>
                  <a:srgbClr val="352F35"/>
                </a:solidFill>
                <a:latin typeface="Arial" pitchFamily="34" charset="0"/>
                <a:ea typeface="Arial" pitchFamily="34" charset="-122"/>
                <a:cs typeface="Arial" pitchFamily="34" charset="-120"/>
              </a:rPr>
              <a:t>In this prototype, data stays on the user's device and uses fictional sample data—no real patient health data is collected.</a:t>
            </a:r>
            <a:endParaRPr lang="en-US" sz="1100" dirty="0"/>
          </a:p>
        </p:txBody>
      </p:sp>
      <p:sp>
        <p:nvSpPr>
          <p:cNvPr id="23" name="Shape 21"/>
          <p:cNvSpPr/>
          <p:nvPr/>
        </p:nvSpPr>
        <p:spPr>
          <a:xfrm>
            <a:off x="6217920" y="3840480"/>
            <a:ext cx="5166360" cy="1691640"/>
          </a:xfrm>
          <a:prstGeom prst="roundRect">
            <a:avLst>
              <a:gd name="adj" fmla="val 6486"/>
            </a:avLst>
          </a:prstGeom>
          <a:solidFill>
            <a:srgbClr val="FFFFFF"/>
          </a:solidFill>
          <a:ln w="12700">
            <a:solidFill>
              <a:srgbClr val="E9DFDC"/>
            </a:solidFill>
            <a:prstDash val="solid"/>
          </a:ln>
        </p:spPr>
      </p:sp>
      <p:sp>
        <p:nvSpPr>
          <p:cNvPr id="24" name="Shape 22"/>
          <p:cNvSpPr/>
          <p:nvPr/>
        </p:nvSpPr>
        <p:spPr>
          <a:xfrm>
            <a:off x="6446520" y="4069080"/>
            <a:ext cx="365760" cy="365760"/>
          </a:xfrm>
          <a:prstGeom prst="ellipse">
            <a:avLst/>
          </a:prstGeom>
          <a:solidFill>
            <a:srgbClr val="F2E1E3"/>
          </a:solidFill>
          <a:ln w="12700">
            <a:solidFill>
              <a:srgbClr val="F2E1E3"/>
            </a:solidFill>
            <a:prstDash val="solid"/>
          </a:ln>
        </p:spPr>
      </p:sp>
      <p:sp>
        <p:nvSpPr>
          <p:cNvPr id="25" name="Text 23"/>
          <p:cNvSpPr/>
          <p:nvPr/>
        </p:nvSpPr>
        <p:spPr>
          <a:xfrm>
            <a:off x="6446520" y="4069080"/>
            <a:ext cx="365760" cy="365760"/>
          </a:xfrm>
          <a:prstGeom prst="rect">
            <a:avLst/>
          </a:prstGeom>
          <a:noFill/>
          <a:ln/>
        </p:spPr>
        <p:txBody>
          <a:bodyPr wrap="square" rtlCol="0" anchor="ctr"/>
          <a:lstStyle/>
          <a:p>
            <a:pPr algn="ctr" indent="0" marL="0">
              <a:buNone/>
            </a:pPr>
            <a:r>
              <a:rPr lang="en-US" sz="1100" b="1" dirty="0">
                <a:solidFill>
                  <a:srgbClr val="9F5F6E"/>
                </a:solidFill>
              </a:rPr>
              <a:t>4</a:t>
            </a:r>
            <a:endParaRPr lang="en-US" sz="1100" dirty="0"/>
          </a:p>
        </p:txBody>
      </p:sp>
      <p:sp>
        <p:nvSpPr>
          <p:cNvPr id="26" name="Text 24"/>
          <p:cNvSpPr/>
          <p:nvPr/>
        </p:nvSpPr>
        <p:spPr>
          <a:xfrm>
            <a:off x="6903720" y="4041648"/>
            <a:ext cx="4297680" cy="365760"/>
          </a:xfrm>
          <a:prstGeom prst="rect">
            <a:avLst/>
          </a:prstGeom>
          <a:noFill/>
          <a:ln/>
        </p:spPr>
        <p:txBody>
          <a:bodyPr wrap="square" rtlCol="0" anchor="ctr"/>
          <a:lstStyle/>
          <a:p>
            <a:pPr indent="0" marL="0">
              <a:buNone/>
            </a:pPr>
            <a:r>
              <a:rPr lang="en-US" sz="1300" b="1" dirty="0">
                <a:solidFill>
                  <a:srgbClr val="352F35"/>
                </a:solidFill>
                <a:latin typeface="Arial" pitchFamily="34" charset="0"/>
                <a:ea typeface="Arial" pitchFamily="34" charset="-122"/>
                <a:cs typeface="Arial" pitchFamily="34" charset="-120"/>
              </a:rPr>
              <a:t>Compliance Roadmap</a:t>
            </a:r>
            <a:endParaRPr lang="en-US" sz="1300" dirty="0"/>
          </a:p>
        </p:txBody>
      </p:sp>
      <p:sp>
        <p:nvSpPr>
          <p:cNvPr id="27" name="Text 25"/>
          <p:cNvSpPr/>
          <p:nvPr/>
        </p:nvSpPr>
        <p:spPr>
          <a:xfrm>
            <a:off x="6446520" y="4526280"/>
            <a:ext cx="4709160" cy="914400"/>
          </a:xfrm>
          <a:prstGeom prst="rect">
            <a:avLst/>
          </a:prstGeom>
          <a:noFill/>
          <a:ln/>
        </p:spPr>
        <p:txBody>
          <a:bodyPr wrap="square" rtlCol="0" anchor="t"/>
          <a:lstStyle/>
          <a:p>
            <a:pPr indent="0" marL="0">
              <a:lnSpc>
                <a:spcPct val="115000"/>
              </a:lnSpc>
              <a:buNone/>
            </a:pPr>
            <a:r>
              <a:rPr lang="en-US" sz="1100" dirty="0">
                <a:solidFill>
                  <a:srgbClr val="352F35"/>
                </a:solidFill>
                <a:latin typeface="Arial" pitchFamily="34" charset="0"/>
                <a:ea typeface="Arial" pitchFamily="34" charset="-122"/>
                <a:cs typeface="Arial" pitchFamily="34" charset="-120"/>
              </a:rPr>
              <a:t>Production deployment mandates full health-data privacy compliance, alignment with India's health-data rules, and clinician auditing.</a:t>
            </a:r>
            <a:endParaRPr lang="en-US" sz="1100" dirty="0"/>
          </a:p>
        </p:txBody>
      </p:sp>
      <p:sp>
        <p:nvSpPr>
          <p:cNvPr id="28" name="Shape 26"/>
          <p:cNvSpPr/>
          <p:nvPr/>
        </p:nvSpPr>
        <p:spPr>
          <a:xfrm>
            <a:off x="731520" y="5715000"/>
            <a:ext cx="10652760" cy="594360"/>
          </a:xfrm>
          <a:prstGeom prst="roundRect">
            <a:avLst>
              <a:gd name="adj" fmla="val 15385"/>
            </a:avLst>
          </a:prstGeom>
          <a:solidFill>
            <a:srgbClr val="F2E1E3"/>
          </a:solidFill>
          <a:ln w="12700">
            <a:solidFill>
              <a:srgbClr val="E9DFDC"/>
            </a:solidFill>
            <a:prstDash val="solid"/>
          </a:ln>
        </p:spPr>
      </p:sp>
      <p:sp>
        <p:nvSpPr>
          <p:cNvPr id="29" name="Text 27"/>
          <p:cNvSpPr/>
          <p:nvPr/>
        </p:nvSpPr>
        <p:spPr>
          <a:xfrm>
            <a:off x="914400" y="5715000"/>
            <a:ext cx="10287000" cy="594360"/>
          </a:xfrm>
          <a:prstGeom prst="rect">
            <a:avLst/>
          </a:prstGeom>
          <a:noFill/>
          <a:ln/>
        </p:spPr>
        <p:txBody>
          <a:bodyPr wrap="square" rtlCol="0" anchor="ctr"/>
          <a:lstStyle/>
          <a:p>
            <a:pPr indent="0" marL="0">
              <a:buNone/>
            </a:pPr>
            <a:r>
              <a:rPr lang="en-US" sz="1000" b="1" dirty="0">
                <a:solidFill>
                  <a:srgbClr val="9F5F6E"/>
                </a:solidFill>
              </a:rPr>
              <a:t>CORE TAKEAWAY:  </a:t>
            </a:r>
            <a:pPr indent="0" marL="0">
              <a:buNone/>
            </a:pPr>
            <a:r>
              <a:rPr lang="en-US" sz="1050" dirty="0">
                <a:solidFill>
                  <a:srgbClr val="352F35"/>
                </a:solidFill>
              </a:rPr>
              <a:t>Zero data monetization; patient confidentiality is strictly protected across all architectural layers.</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CF8F6"/>
        </a:solidFill>
      </p:bgPr>
    </p:bg>
    <p:spTree>
      <p:nvGrpSpPr>
        <p:cNvPr id="1" name=""/>
        <p:cNvGrpSpPr/>
        <p:nvPr/>
      </p:nvGrpSpPr>
      <p:grpSpPr>
        <a:xfrm>
          <a:off x="0" y="0"/>
          <a:ext cx="0" cy="0"/>
          <a:chOff x="0" y="0"/>
          <a:chExt cx="0" cy="0"/>
        </a:xfrm>
      </p:grpSpPr>
      <p:sp>
        <p:nvSpPr>
          <p:cNvPr id="2" name="Shape 0"/>
          <p:cNvSpPr/>
          <p:nvPr/>
        </p:nvSpPr>
        <p:spPr>
          <a:xfrm>
            <a:off x="0" y="0"/>
            <a:ext cx="9144000" cy="91440"/>
          </a:xfrm>
          <a:prstGeom prst="rect">
            <a:avLst/>
          </a:prstGeom>
          <a:solidFill>
            <a:srgbClr val="9F5F6E"/>
          </a:solidFill>
          <a:ln w="12700">
            <a:solidFill>
              <a:srgbClr val="9F5F6E"/>
            </a:solidFill>
            <a:prstDash val="solid"/>
          </a:ln>
        </p:spPr>
      </p:sp>
      <p:sp>
        <p:nvSpPr>
          <p:cNvPr id="3" name="Shape 1"/>
          <p:cNvSpPr/>
          <p:nvPr/>
        </p:nvSpPr>
        <p:spPr>
          <a:xfrm>
            <a:off x="731520" y="320040"/>
            <a:ext cx="2011680" cy="320040"/>
          </a:xfrm>
          <a:prstGeom prst="roundRect">
            <a:avLst>
              <a:gd name="adj" fmla="val 42857"/>
            </a:avLst>
          </a:prstGeom>
          <a:solidFill>
            <a:srgbClr val="F2E1E3"/>
          </a:solidFill>
          <a:ln w="12700">
            <a:solidFill>
              <a:srgbClr val="E9DFDC"/>
            </a:solidFill>
            <a:prstDash val="solid"/>
          </a:ln>
        </p:spPr>
      </p:sp>
      <p:sp>
        <p:nvSpPr>
          <p:cNvPr id="4" name="Text 2"/>
          <p:cNvSpPr/>
          <p:nvPr/>
        </p:nvSpPr>
        <p:spPr>
          <a:xfrm>
            <a:off x="731520" y="320040"/>
            <a:ext cx="2011680" cy="320040"/>
          </a:xfrm>
          <a:prstGeom prst="rect">
            <a:avLst/>
          </a:prstGeom>
          <a:noFill/>
          <a:ln/>
        </p:spPr>
        <p:txBody>
          <a:bodyPr wrap="square" rtlCol="0" anchor="ctr"/>
          <a:lstStyle/>
          <a:p>
            <a:pPr algn="ctr" indent="0" marL="0">
              <a:buNone/>
            </a:pPr>
            <a:r>
              <a:rPr lang="en-US" sz="1000" b="1" dirty="0">
                <a:solidFill>
                  <a:srgbClr val="9F5F6E"/>
                </a:solidFill>
              </a:rPr>
              <a:t>TECHNOLOGY</a:t>
            </a:r>
            <a:endParaRPr lang="en-US" sz="1000" dirty="0"/>
          </a:p>
        </p:txBody>
      </p:sp>
      <p:sp>
        <p:nvSpPr>
          <p:cNvPr id="5" name="Text 3"/>
          <p:cNvSpPr/>
          <p:nvPr/>
        </p:nvSpPr>
        <p:spPr>
          <a:xfrm>
            <a:off x="9601200" y="320040"/>
            <a:ext cx="1828800" cy="320040"/>
          </a:xfrm>
          <a:prstGeom prst="rect">
            <a:avLst/>
          </a:prstGeom>
          <a:noFill/>
          <a:ln/>
        </p:spPr>
        <p:txBody>
          <a:bodyPr wrap="square" rtlCol="0" anchor="ctr"/>
          <a:lstStyle/>
          <a:p>
            <a:pPr algn="r" indent="0" marL="0">
              <a:buNone/>
            </a:pPr>
            <a:r>
              <a:rPr lang="en-US" sz="1100" dirty="0">
                <a:solidFill>
                  <a:srgbClr val="766D72"/>
                </a:solidFill>
              </a:rPr>
              <a:t>Slide 13 of 15</a:t>
            </a:r>
            <a:endParaRPr lang="en-US" sz="1100" dirty="0"/>
          </a:p>
        </p:txBody>
      </p:sp>
      <p:sp>
        <p:nvSpPr>
          <p:cNvPr id="6" name="Text 4"/>
          <p:cNvSpPr/>
          <p:nvPr/>
        </p:nvSpPr>
        <p:spPr>
          <a:xfrm>
            <a:off x="731520" y="777240"/>
            <a:ext cx="10698480" cy="640080"/>
          </a:xfrm>
          <a:prstGeom prst="rect">
            <a:avLst/>
          </a:prstGeom>
          <a:noFill/>
          <a:ln/>
        </p:spPr>
        <p:txBody>
          <a:bodyPr wrap="square" rtlCol="0" anchor="ctr"/>
          <a:lstStyle/>
          <a:p>
            <a:pPr indent="0" marL="0">
              <a:buNone/>
            </a:pPr>
            <a:r>
              <a:rPr lang="en-US" sz="2600" b="1" dirty="0">
                <a:solidFill>
                  <a:srgbClr val="352F35"/>
                </a:solidFill>
                <a:latin typeface="Arial" pitchFamily="34" charset="0"/>
                <a:ea typeface="Arial" pitchFamily="34" charset="-122"/>
                <a:cs typeface="Arial" pitchFamily="34" charset="-120"/>
              </a:rPr>
              <a:t>Technology and Data Flow</a:t>
            </a:r>
            <a:endParaRPr lang="en-US" sz="2600" dirty="0"/>
          </a:p>
        </p:txBody>
      </p:sp>
      <p:sp>
        <p:nvSpPr>
          <p:cNvPr id="7" name="Text 5"/>
          <p:cNvSpPr/>
          <p:nvPr/>
        </p:nvSpPr>
        <p:spPr>
          <a:xfrm>
            <a:off x="731520" y="1417320"/>
            <a:ext cx="10698480" cy="411480"/>
          </a:xfrm>
          <a:prstGeom prst="rect">
            <a:avLst/>
          </a:prstGeom>
          <a:noFill/>
          <a:ln/>
        </p:spPr>
        <p:txBody>
          <a:bodyPr wrap="square" rtlCol="0" anchor="ctr"/>
          <a:lstStyle/>
          <a:p>
            <a:pPr indent="0" marL="0">
              <a:buNone/>
            </a:pPr>
            <a:r>
              <a:rPr lang="en-US" sz="1300" dirty="0">
                <a:solidFill>
                  <a:srgbClr val="9F5F6E"/>
                </a:solidFill>
                <a:latin typeface="Arial" pitchFamily="34" charset="0"/>
                <a:ea typeface="Arial" pitchFamily="34" charset="-122"/>
                <a:cs typeface="Arial" pitchFamily="34" charset="-120"/>
              </a:rPr>
              <a:t>Six-step server-mediated pipeline combining Gemini API with robust safety logic</a:t>
            </a:r>
            <a:endParaRPr lang="en-US" sz="1300" dirty="0"/>
          </a:p>
        </p:txBody>
      </p:sp>
      <p:sp>
        <p:nvSpPr>
          <p:cNvPr id="8" name="Shape 6"/>
          <p:cNvSpPr/>
          <p:nvPr/>
        </p:nvSpPr>
        <p:spPr>
          <a:xfrm>
            <a:off x="731520" y="1965960"/>
            <a:ext cx="5166360" cy="1691640"/>
          </a:xfrm>
          <a:prstGeom prst="roundRect">
            <a:avLst>
              <a:gd name="adj" fmla="val 6486"/>
            </a:avLst>
          </a:prstGeom>
          <a:solidFill>
            <a:srgbClr val="FFFFFF"/>
          </a:solidFill>
          <a:ln w="12700">
            <a:solidFill>
              <a:srgbClr val="E9DFDC"/>
            </a:solidFill>
            <a:prstDash val="solid"/>
          </a:ln>
        </p:spPr>
      </p:sp>
      <p:sp>
        <p:nvSpPr>
          <p:cNvPr id="9" name="Shape 7"/>
          <p:cNvSpPr/>
          <p:nvPr/>
        </p:nvSpPr>
        <p:spPr>
          <a:xfrm>
            <a:off x="960120" y="2194560"/>
            <a:ext cx="365760" cy="365760"/>
          </a:xfrm>
          <a:prstGeom prst="ellipse">
            <a:avLst/>
          </a:prstGeom>
          <a:solidFill>
            <a:srgbClr val="F2E1E3"/>
          </a:solidFill>
          <a:ln w="12700">
            <a:solidFill>
              <a:srgbClr val="F2E1E3"/>
            </a:solidFill>
            <a:prstDash val="solid"/>
          </a:ln>
        </p:spPr>
      </p:sp>
      <p:sp>
        <p:nvSpPr>
          <p:cNvPr id="10" name="Text 8"/>
          <p:cNvSpPr/>
          <p:nvPr/>
        </p:nvSpPr>
        <p:spPr>
          <a:xfrm>
            <a:off x="960120" y="2194560"/>
            <a:ext cx="365760" cy="365760"/>
          </a:xfrm>
          <a:prstGeom prst="rect">
            <a:avLst/>
          </a:prstGeom>
          <a:noFill/>
          <a:ln/>
        </p:spPr>
        <p:txBody>
          <a:bodyPr wrap="square" rtlCol="0" anchor="ctr"/>
          <a:lstStyle/>
          <a:p>
            <a:pPr algn="ctr" indent="0" marL="0">
              <a:buNone/>
            </a:pPr>
            <a:r>
              <a:rPr lang="en-US" sz="1100" b="1" dirty="0">
                <a:solidFill>
                  <a:srgbClr val="9F5F6E"/>
                </a:solidFill>
              </a:rPr>
              <a:t>1</a:t>
            </a:r>
            <a:endParaRPr lang="en-US" sz="1100" dirty="0"/>
          </a:p>
        </p:txBody>
      </p:sp>
      <p:sp>
        <p:nvSpPr>
          <p:cNvPr id="11" name="Text 9"/>
          <p:cNvSpPr/>
          <p:nvPr/>
        </p:nvSpPr>
        <p:spPr>
          <a:xfrm>
            <a:off x="1417320" y="2167128"/>
            <a:ext cx="4297680" cy="365760"/>
          </a:xfrm>
          <a:prstGeom prst="rect">
            <a:avLst/>
          </a:prstGeom>
          <a:noFill/>
          <a:ln/>
        </p:spPr>
        <p:txBody>
          <a:bodyPr wrap="square" rtlCol="0" anchor="ctr"/>
          <a:lstStyle/>
          <a:p>
            <a:pPr indent="0" marL="0">
              <a:buNone/>
            </a:pPr>
            <a:r>
              <a:rPr lang="en-US" sz="1300" b="1" dirty="0">
                <a:solidFill>
                  <a:srgbClr val="352F35"/>
                </a:solidFill>
                <a:latin typeface="Arial" pitchFamily="34" charset="0"/>
                <a:ea typeface="Arial" pitchFamily="34" charset="-122"/>
                <a:cs typeface="Arial" pitchFamily="34" charset="-120"/>
              </a:rPr>
              <a:t>Step 1 &amp; 2: Input &amp; Safety Triage</a:t>
            </a:r>
            <a:endParaRPr lang="en-US" sz="1300" dirty="0"/>
          </a:p>
        </p:txBody>
      </p:sp>
      <p:sp>
        <p:nvSpPr>
          <p:cNvPr id="12" name="Text 10"/>
          <p:cNvSpPr/>
          <p:nvPr/>
        </p:nvSpPr>
        <p:spPr>
          <a:xfrm>
            <a:off x="960120" y="2651760"/>
            <a:ext cx="4709160" cy="914400"/>
          </a:xfrm>
          <a:prstGeom prst="rect">
            <a:avLst/>
          </a:prstGeom>
          <a:noFill/>
          <a:ln/>
        </p:spPr>
        <p:txBody>
          <a:bodyPr wrap="square" rtlCol="0" anchor="t"/>
          <a:lstStyle/>
          <a:p>
            <a:pPr indent="0" marL="0">
              <a:lnSpc>
                <a:spcPct val="115000"/>
              </a:lnSpc>
              <a:buNone/>
            </a:pPr>
            <a:r>
              <a:rPr lang="en-US" sz="1100" dirty="0">
                <a:solidFill>
                  <a:srgbClr val="352F35"/>
                </a:solidFill>
                <a:latin typeface="Arial" pitchFamily="34" charset="0"/>
                <a:ea typeface="Arial" pitchFamily="34" charset="-122"/>
                <a:cs typeface="Arial" pitchFamily="34" charset="-120"/>
              </a:rPr>
              <a:t>Mother enters profile and daily check-in; the safety check executes first on all submitted inputs.</a:t>
            </a:r>
            <a:endParaRPr lang="en-US" sz="1100" dirty="0"/>
          </a:p>
        </p:txBody>
      </p:sp>
      <p:sp>
        <p:nvSpPr>
          <p:cNvPr id="13" name="Shape 11"/>
          <p:cNvSpPr/>
          <p:nvPr/>
        </p:nvSpPr>
        <p:spPr>
          <a:xfrm>
            <a:off x="6217920" y="1965960"/>
            <a:ext cx="5166360" cy="1691640"/>
          </a:xfrm>
          <a:prstGeom prst="roundRect">
            <a:avLst>
              <a:gd name="adj" fmla="val 6486"/>
            </a:avLst>
          </a:prstGeom>
          <a:solidFill>
            <a:srgbClr val="FFFFFF"/>
          </a:solidFill>
          <a:ln w="12700">
            <a:solidFill>
              <a:srgbClr val="E9DFDC"/>
            </a:solidFill>
            <a:prstDash val="solid"/>
          </a:ln>
        </p:spPr>
      </p:sp>
      <p:sp>
        <p:nvSpPr>
          <p:cNvPr id="14" name="Shape 12"/>
          <p:cNvSpPr/>
          <p:nvPr/>
        </p:nvSpPr>
        <p:spPr>
          <a:xfrm>
            <a:off x="6446520" y="2194560"/>
            <a:ext cx="365760" cy="365760"/>
          </a:xfrm>
          <a:prstGeom prst="ellipse">
            <a:avLst/>
          </a:prstGeom>
          <a:solidFill>
            <a:srgbClr val="F2E1E3"/>
          </a:solidFill>
          <a:ln w="12700">
            <a:solidFill>
              <a:srgbClr val="F2E1E3"/>
            </a:solidFill>
            <a:prstDash val="solid"/>
          </a:ln>
        </p:spPr>
      </p:sp>
      <p:sp>
        <p:nvSpPr>
          <p:cNvPr id="15" name="Text 13"/>
          <p:cNvSpPr/>
          <p:nvPr/>
        </p:nvSpPr>
        <p:spPr>
          <a:xfrm>
            <a:off x="6446520" y="2194560"/>
            <a:ext cx="365760" cy="365760"/>
          </a:xfrm>
          <a:prstGeom prst="rect">
            <a:avLst/>
          </a:prstGeom>
          <a:noFill/>
          <a:ln/>
        </p:spPr>
        <p:txBody>
          <a:bodyPr wrap="square" rtlCol="0" anchor="ctr"/>
          <a:lstStyle/>
          <a:p>
            <a:pPr algn="ctr" indent="0" marL="0">
              <a:buNone/>
            </a:pPr>
            <a:r>
              <a:rPr lang="en-US" sz="1100" b="1" dirty="0">
                <a:solidFill>
                  <a:srgbClr val="9F5F6E"/>
                </a:solidFill>
              </a:rPr>
              <a:t>2</a:t>
            </a:r>
            <a:endParaRPr lang="en-US" sz="1100" dirty="0"/>
          </a:p>
        </p:txBody>
      </p:sp>
      <p:sp>
        <p:nvSpPr>
          <p:cNvPr id="16" name="Text 14"/>
          <p:cNvSpPr/>
          <p:nvPr/>
        </p:nvSpPr>
        <p:spPr>
          <a:xfrm>
            <a:off x="6903720" y="2167128"/>
            <a:ext cx="4297680" cy="365760"/>
          </a:xfrm>
          <a:prstGeom prst="rect">
            <a:avLst/>
          </a:prstGeom>
          <a:noFill/>
          <a:ln/>
        </p:spPr>
        <p:txBody>
          <a:bodyPr wrap="square" rtlCol="0" anchor="ctr"/>
          <a:lstStyle/>
          <a:p>
            <a:pPr indent="0" marL="0">
              <a:buNone/>
            </a:pPr>
            <a:r>
              <a:rPr lang="en-US" sz="1300" b="1" dirty="0">
                <a:solidFill>
                  <a:srgbClr val="352F35"/>
                </a:solidFill>
                <a:latin typeface="Arial" pitchFamily="34" charset="0"/>
                <a:ea typeface="Arial" pitchFamily="34" charset="-122"/>
                <a:cs typeface="Arial" pitchFamily="34" charset="-120"/>
              </a:rPr>
              <a:t>Step 3: Pattern Analysis &amp; Screening</a:t>
            </a:r>
            <a:endParaRPr lang="en-US" sz="1300" dirty="0"/>
          </a:p>
        </p:txBody>
      </p:sp>
      <p:sp>
        <p:nvSpPr>
          <p:cNvPr id="17" name="Text 15"/>
          <p:cNvSpPr/>
          <p:nvPr/>
        </p:nvSpPr>
        <p:spPr>
          <a:xfrm>
            <a:off x="6446520" y="2651760"/>
            <a:ext cx="4709160" cy="914400"/>
          </a:xfrm>
          <a:prstGeom prst="rect">
            <a:avLst/>
          </a:prstGeom>
          <a:noFill/>
          <a:ln/>
        </p:spPr>
        <p:txBody>
          <a:bodyPr wrap="square" rtlCol="0" anchor="t"/>
          <a:lstStyle/>
          <a:p>
            <a:pPr indent="0" marL="0">
              <a:lnSpc>
                <a:spcPct val="115000"/>
              </a:lnSpc>
              <a:buNone/>
            </a:pPr>
            <a:r>
              <a:rPr lang="en-US" sz="1100" dirty="0">
                <a:solidFill>
                  <a:srgbClr val="352F35"/>
                </a:solidFill>
                <a:latin typeface="Arial" pitchFamily="34" charset="0"/>
                <a:ea typeface="Arial" pitchFamily="34" charset="-122"/>
                <a:cs typeface="Arial" pitchFamily="34" charset="-120"/>
              </a:rPr>
              <a:t>Pattern analysis and the screening model evaluate historical records and multi-day symptom frequency.</a:t>
            </a:r>
            <a:endParaRPr lang="en-US" sz="1100" dirty="0"/>
          </a:p>
        </p:txBody>
      </p:sp>
      <p:sp>
        <p:nvSpPr>
          <p:cNvPr id="18" name="Shape 16"/>
          <p:cNvSpPr/>
          <p:nvPr/>
        </p:nvSpPr>
        <p:spPr>
          <a:xfrm>
            <a:off x="731520" y="3840480"/>
            <a:ext cx="5166360" cy="1691640"/>
          </a:xfrm>
          <a:prstGeom prst="roundRect">
            <a:avLst>
              <a:gd name="adj" fmla="val 6486"/>
            </a:avLst>
          </a:prstGeom>
          <a:solidFill>
            <a:srgbClr val="FFFFFF"/>
          </a:solidFill>
          <a:ln w="12700">
            <a:solidFill>
              <a:srgbClr val="E9DFDC"/>
            </a:solidFill>
            <a:prstDash val="solid"/>
          </a:ln>
        </p:spPr>
      </p:sp>
      <p:sp>
        <p:nvSpPr>
          <p:cNvPr id="19" name="Shape 17"/>
          <p:cNvSpPr/>
          <p:nvPr/>
        </p:nvSpPr>
        <p:spPr>
          <a:xfrm>
            <a:off x="960120" y="4069080"/>
            <a:ext cx="365760" cy="365760"/>
          </a:xfrm>
          <a:prstGeom prst="ellipse">
            <a:avLst/>
          </a:prstGeom>
          <a:solidFill>
            <a:srgbClr val="F2E1E3"/>
          </a:solidFill>
          <a:ln w="12700">
            <a:solidFill>
              <a:srgbClr val="F2E1E3"/>
            </a:solidFill>
            <a:prstDash val="solid"/>
          </a:ln>
        </p:spPr>
      </p:sp>
      <p:sp>
        <p:nvSpPr>
          <p:cNvPr id="20" name="Text 18"/>
          <p:cNvSpPr/>
          <p:nvPr/>
        </p:nvSpPr>
        <p:spPr>
          <a:xfrm>
            <a:off x="960120" y="4069080"/>
            <a:ext cx="365760" cy="365760"/>
          </a:xfrm>
          <a:prstGeom prst="rect">
            <a:avLst/>
          </a:prstGeom>
          <a:noFill/>
          <a:ln/>
        </p:spPr>
        <p:txBody>
          <a:bodyPr wrap="square" rtlCol="0" anchor="ctr"/>
          <a:lstStyle/>
          <a:p>
            <a:pPr algn="ctr" indent="0" marL="0">
              <a:buNone/>
            </a:pPr>
            <a:r>
              <a:rPr lang="en-US" sz="1100" b="1" dirty="0">
                <a:solidFill>
                  <a:srgbClr val="9F5F6E"/>
                </a:solidFill>
              </a:rPr>
              <a:t>3</a:t>
            </a:r>
            <a:endParaRPr lang="en-US" sz="1100" dirty="0"/>
          </a:p>
        </p:txBody>
      </p:sp>
      <p:sp>
        <p:nvSpPr>
          <p:cNvPr id="21" name="Text 19"/>
          <p:cNvSpPr/>
          <p:nvPr/>
        </p:nvSpPr>
        <p:spPr>
          <a:xfrm>
            <a:off x="1417320" y="4041648"/>
            <a:ext cx="4297680" cy="365760"/>
          </a:xfrm>
          <a:prstGeom prst="rect">
            <a:avLst/>
          </a:prstGeom>
          <a:noFill/>
          <a:ln/>
        </p:spPr>
        <p:txBody>
          <a:bodyPr wrap="square" rtlCol="0" anchor="ctr"/>
          <a:lstStyle/>
          <a:p>
            <a:pPr indent="0" marL="0">
              <a:buNone/>
            </a:pPr>
            <a:r>
              <a:rPr lang="en-US" sz="1300" b="1" dirty="0">
                <a:solidFill>
                  <a:srgbClr val="352F35"/>
                </a:solidFill>
                <a:latin typeface="Arial" pitchFamily="34" charset="0"/>
                <a:ea typeface="Arial" pitchFamily="34" charset="-122"/>
                <a:cs typeface="Arial" pitchFamily="34" charset="-120"/>
              </a:rPr>
              <a:t>Step 4: Knowledge-Base Retrieval</a:t>
            </a:r>
            <a:endParaRPr lang="en-US" sz="1300" dirty="0"/>
          </a:p>
        </p:txBody>
      </p:sp>
      <p:sp>
        <p:nvSpPr>
          <p:cNvPr id="22" name="Text 20"/>
          <p:cNvSpPr/>
          <p:nvPr/>
        </p:nvSpPr>
        <p:spPr>
          <a:xfrm>
            <a:off x="960120" y="4526280"/>
            <a:ext cx="4709160" cy="914400"/>
          </a:xfrm>
          <a:prstGeom prst="rect">
            <a:avLst/>
          </a:prstGeom>
          <a:noFill/>
          <a:ln/>
        </p:spPr>
        <p:txBody>
          <a:bodyPr wrap="square" rtlCol="0" anchor="t"/>
          <a:lstStyle/>
          <a:p>
            <a:pPr indent="0" marL="0">
              <a:lnSpc>
                <a:spcPct val="115000"/>
              </a:lnSpc>
              <a:buNone/>
            </a:pPr>
            <a:r>
              <a:rPr lang="en-US" sz="1100" dirty="0">
                <a:solidFill>
                  <a:srgbClr val="352F35"/>
                </a:solidFill>
                <a:latin typeface="Arial" pitchFamily="34" charset="0"/>
                <a:ea typeface="Arial" pitchFamily="34" charset="-122"/>
                <a:cs typeface="Arial" pitchFamily="34" charset="-120"/>
              </a:rPr>
              <a:t>Relevant verified clinical guidelines and reference entries are retrieved.</a:t>
            </a:r>
            <a:endParaRPr lang="en-US" sz="1100" dirty="0"/>
          </a:p>
        </p:txBody>
      </p:sp>
      <p:sp>
        <p:nvSpPr>
          <p:cNvPr id="23" name="Shape 21"/>
          <p:cNvSpPr/>
          <p:nvPr/>
        </p:nvSpPr>
        <p:spPr>
          <a:xfrm>
            <a:off x="6217920" y="3840480"/>
            <a:ext cx="5166360" cy="1691640"/>
          </a:xfrm>
          <a:prstGeom prst="roundRect">
            <a:avLst>
              <a:gd name="adj" fmla="val 6486"/>
            </a:avLst>
          </a:prstGeom>
          <a:solidFill>
            <a:srgbClr val="FFFFFF"/>
          </a:solidFill>
          <a:ln w="12700">
            <a:solidFill>
              <a:srgbClr val="E9DFDC"/>
            </a:solidFill>
            <a:prstDash val="solid"/>
          </a:ln>
        </p:spPr>
      </p:sp>
      <p:sp>
        <p:nvSpPr>
          <p:cNvPr id="24" name="Shape 22"/>
          <p:cNvSpPr/>
          <p:nvPr/>
        </p:nvSpPr>
        <p:spPr>
          <a:xfrm>
            <a:off x="6446520" y="4069080"/>
            <a:ext cx="365760" cy="365760"/>
          </a:xfrm>
          <a:prstGeom prst="ellipse">
            <a:avLst/>
          </a:prstGeom>
          <a:solidFill>
            <a:srgbClr val="F2E1E3"/>
          </a:solidFill>
          <a:ln w="12700">
            <a:solidFill>
              <a:srgbClr val="F2E1E3"/>
            </a:solidFill>
            <a:prstDash val="solid"/>
          </a:ln>
        </p:spPr>
      </p:sp>
      <p:sp>
        <p:nvSpPr>
          <p:cNvPr id="25" name="Text 23"/>
          <p:cNvSpPr/>
          <p:nvPr/>
        </p:nvSpPr>
        <p:spPr>
          <a:xfrm>
            <a:off x="6446520" y="4069080"/>
            <a:ext cx="365760" cy="365760"/>
          </a:xfrm>
          <a:prstGeom prst="rect">
            <a:avLst/>
          </a:prstGeom>
          <a:noFill/>
          <a:ln/>
        </p:spPr>
        <p:txBody>
          <a:bodyPr wrap="square" rtlCol="0" anchor="ctr"/>
          <a:lstStyle/>
          <a:p>
            <a:pPr algn="ctr" indent="0" marL="0">
              <a:buNone/>
            </a:pPr>
            <a:r>
              <a:rPr lang="en-US" sz="1100" b="1" dirty="0">
                <a:solidFill>
                  <a:srgbClr val="9F5F6E"/>
                </a:solidFill>
              </a:rPr>
              <a:t>4</a:t>
            </a:r>
            <a:endParaRPr lang="en-US" sz="1100" dirty="0"/>
          </a:p>
        </p:txBody>
      </p:sp>
      <p:sp>
        <p:nvSpPr>
          <p:cNvPr id="26" name="Text 24"/>
          <p:cNvSpPr/>
          <p:nvPr/>
        </p:nvSpPr>
        <p:spPr>
          <a:xfrm>
            <a:off x="6903720" y="4041648"/>
            <a:ext cx="4297680" cy="365760"/>
          </a:xfrm>
          <a:prstGeom prst="rect">
            <a:avLst/>
          </a:prstGeom>
          <a:noFill/>
          <a:ln/>
        </p:spPr>
        <p:txBody>
          <a:bodyPr wrap="square" rtlCol="0" anchor="ctr"/>
          <a:lstStyle/>
          <a:p>
            <a:pPr indent="0" marL="0">
              <a:buNone/>
            </a:pPr>
            <a:r>
              <a:rPr lang="en-US" sz="1300" b="1" dirty="0">
                <a:solidFill>
                  <a:srgbClr val="352F35"/>
                </a:solidFill>
                <a:latin typeface="Arial" pitchFamily="34" charset="0"/>
                <a:ea typeface="Arial" pitchFamily="34" charset="-122"/>
                <a:cs typeface="Arial" pitchFamily="34" charset="-120"/>
              </a:rPr>
              <a:t>Step 5 &amp; 6: AI Synthesis &amp; Escalation</a:t>
            </a:r>
            <a:endParaRPr lang="en-US" sz="1300" dirty="0"/>
          </a:p>
        </p:txBody>
      </p:sp>
      <p:sp>
        <p:nvSpPr>
          <p:cNvPr id="27" name="Text 25"/>
          <p:cNvSpPr/>
          <p:nvPr/>
        </p:nvSpPr>
        <p:spPr>
          <a:xfrm>
            <a:off x="6446520" y="4526280"/>
            <a:ext cx="4709160" cy="914400"/>
          </a:xfrm>
          <a:prstGeom prst="rect">
            <a:avLst/>
          </a:prstGeom>
          <a:noFill/>
          <a:ln/>
        </p:spPr>
        <p:txBody>
          <a:bodyPr wrap="square" rtlCol="0" anchor="t"/>
          <a:lstStyle/>
          <a:p>
            <a:pPr indent="0" marL="0">
              <a:lnSpc>
                <a:spcPct val="115000"/>
              </a:lnSpc>
              <a:buNone/>
            </a:pPr>
            <a:r>
              <a:rPr lang="en-US" sz="1100" dirty="0">
                <a:solidFill>
                  <a:srgbClr val="352F35"/>
                </a:solidFill>
                <a:latin typeface="Arial" pitchFamily="34" charset="0"/>
                <a:ea typeface="Arial" pitchFamily="34" charset="-122"/>
                <a:cs typeface="Arial" pitchFamily="34" charset="-120"/>
              </a:rPr>
              <a:t>AI writes a personalized, plain-language response with sources, reasoning, uncertainty score, and clinical escalation.</a:t>
            </a:r>
            <a:endParaRPr lang="en-US" sz="1100" dirty="0"/>
          </a:p>
        </p:txBody>
      </p:sp>
      <p:sp>
        <p:nvSpPr>
          <p:cNvPr id="28" name="Shape 26"/>
          <p:cNvSpPr/>
          <p:nvPr/>
        </p:nvSpPr>
        <p:spPr>
          <a:xfrm>
            <a:off x="731520" y="5715000"/>
            <a:ext cx="10652760" cy="594360"/>
          </a:xfrm>
          <a:prstGeom prst="roundRect">
            <a:avLst>
              <a:gd name="adj" fmla="val 15385"/>
            </a:avLst>
          </a:prstGeom>
          <a:solidFill>
            <a:srgbClr val="F2E1E3"/>
          </a:solidFill>
          <a:ln w="12700">
            <a:solidFill>
              <a:srgbClr val="E9DFDC"/>
            </a:solidFill>
            <a:prstDash val="solid"/>
          </a:ln>
        </p:spPr>
      </p:sp>
      <p:sp>
        <p:nvSpPr>
          <p:cNvPr id="29" name="Text 27"/>
          <p:cNvSpPr/>
          <p:nvPr/>
        </p:nvSpPr>
        <p:spPr>
          <a:xfrm>
            <a:off x="914400" y="5715000"/>
            <a:ext cx="10287000" cy="594360"/>
          </a:xfrm>
          <a:prstGeom prst="rect">
            <a:avLst/>
          </a:prstGeom>
          <a:noFill/>
          <a:ln/>
        </p:spPr>
        <p:txBody>
          <a:bodyPr wrap="square" rtlCol="0" anchor="ctr"/>
          <a:lstStyle/>
          <a:p>
            <a:pPr indent="0" marL="0">
              <a:buNone/>
            </a:pPr>
            <a:r>
              <a:rPr lang="en-US" sz="1000" b="1" dirty="0">
                <a:solidFill>
                  <a:srgbClr val="9F5F6E"/>
                </a:solidFill>
              </a:rPr>
              <a:t>CORE TAKEAWAY:  </a:t>
            </a:r>
            <a:pPr indent="0" marL="0">
              <a:buNone/>
            </a:pPr>
            <a:r>
              <a:rPr lang="en-US" sz="1050" dirty="0">
                <a:solidFill>
                  <a:srgbClr val="352F35"/>
                </a:solidFill>
              </a:rPr>
              <a:t>Built with Google AI Studio &amp; Gemini API; production architecture incorporates Supabase/Firestore for secure storage.</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CF8F6"/>
        </a:solidFill>
      </p:bgPr>
    </p:bg>
    <p:spTree>
      <p:nvGrpSpPr>
        <p:cNvPr id="1" name=""/>
        <p:cNvGrpSpPr/>
        <p:nvPr/>
      </p:nvGrpSpPr>
      <p:grpSpPr>
        <a:xfrm>
          <a:off x="0" y="0"/>
          <a:ext cx="0" cy="0"/>
          <a:chOff x="0" y="0"/>
          <a:chExt cx="0" cy="0"/>
        </a:xfrm>
      </p:grpSpPr>
      <p:sp>
        <p:nvSpPr>
          <p:cNvPr id="2" name="Shape 0"/>
          <p:cNvSpPr/>
          <p:nvPr/>
        </p:nvSpPr>
        <p:spPr>
          <a:xfrm>
            <a:off x="0" y="0"/>
            <a:ext cx="9144000" cy="91440"/>
          </a:xfrm>
          <a:prstGeom prst="rect">
            <a:avLst/>
          </a:prstGeom>
          <a:solidFill>
            <a:srgbClr val="9F5F6E"/>
          </a:solidFill>
          <a:ln w="12700">
            <a:solidFill>
              <a:srgbClr val="9F5F6E"/>
            </a:solidFill>
            <a:prstDash val="solid"/>
          </a:ln>
        </p:spPr>
      </p:sp>
      <p:sp>
        <p:nvSpPr>
          <p:cNvPr id="3" name="Shape 1"/>
          <p:cNvSpPr/>
          <p:nvPr/>
        </p:nvSpPr>
        <p:spPr>
          <a:xfrm>
            <a:off x="731520" y="320040"/>
            <a:ext cx="2011680" cy="320040"/>
          </a:xfrm>
          <a:prstGeom prst="roundRect">
            <a:avLst>
              <a:gd name="adj" fmla="val 42857"/>
            </a:avLst>
          </a:prstGeom>
          <a:solidFill>
            <a:srgbClr val="F2E1E3"/>
          </a:solidFill>
          <a:ln w="12700">
            <a:solidFill>
              <a:srgbClr val="E9DFDC"/>
            </a:solidFill>
            <a:prstDash val="solid"/>
          </a:ln>
        </p:spPr>
      </p:sp>
      <p:sp>
        <p:nvSpPr>
          <p:cNvPr id="4" name="Text 2"/>
          <p:cNvSpPr/>
          <p:nvPr/>
        </p:nvSpPr>
        <p:spPr>
          <a:xfrm>
            <a:off x="731520" y="320040"/>
            <a:ext cx="2011680" cy="320040"/>
          </a:xfrm>
          <a:prstGeom prst="rect">
            <a:avLst/>
          </a:prstGeom>
          <a:noFill/>
          <a:ln/>
        </p:spPr>
        <p:txBody>
          <a:bodyPr wrap="square" rtlCol="0" anchor="ctr"/>
          <a:lstStyle/>
          <a:p>
            <a:pPr algn="ctr" indent="0" marL="0">
              <a:buNone/>
            </a:pPr>
            <a:r>
              <a:rPr lang="en-US" sz="1000" b="1" dirty="0">
                <a:solidFill>
                  <a:srgbClr val="9F5F6E"/>
                </a:solidFill>
              </a:rPr>
              <a:t>RESPONSIBLE AI</a:t>
            </a:r>
            <a:endParaRPr lang="en-US" sz="1000" dirty="0"/>
          </a:p>
        </p:txBody>
      </p:sp>
      <p:sp>
        <p:nvSpPr>
          <p:cNvPr id="5" name="Text 3"/>
          <p:cNvSpPr/>
          <p:nvPr/>
        </p:nvSpPr>
        <p:spPr>
          <a:xfrm>
            <a:off x="9601200" y="320040"/>
            <a:ext cx="1828800" cy="320040"/>
          </a:xfrm>
          <a:prstGeom prst="rect">
            <a:avLst/>
          </a:prstGeom>
          <a:noFill/>
          <a:ln/>
        </p:spPr>
        <p:txBody>
          <a:bodyPr wrap="square" rtlCol="0" anchor="ctr"/>
          <a:lstStyle/>
          <a:p>
            <a:pPr algn="r" indent="0" marL="0">
              <a:buNone/>
            </a:pPr>
            <a:r>
              <a:rPr lang="en-US" sz="1100" dirty="0">
                <a:solidFill>
                  <a:srgbClr val="766D72"/>
                </a:solidFill>
              </a:rPr>
              <a:t>Slide 14 of 15</a:t>
            </a:r>
            <a:endParaRPr lang="en-US" sz="1100" dirty="0"/>
          </a:p>
        </p:txBody>
      </p:sp>
      <p:sp>
        <p:nvSpPr>
          <p:cNvPr id="6" name="Text 4"/>
          <p:cNvSpPr/>
          <p:nvPr/>
        </p:nvSpPr>
        <p:spPr>
          <a:xfrm>
            <a:off x="731520" y="777240"/>
            <a:ext cx="10698480" cy="640080"/>
          </a:xfrm>
          <a:prstGeom prst="rect">
            <a:avLst/>
          </a:prstGeom>
          <a:noFill/>
          <a:ln/>
        </p:spPr>
        <p:txBody>
          <a:bodyPr wrap="square" rtlCol="0" anchor="ctr"/>
          <a:lstStyle/>
          <a:p>
            <a:pPr indent="0" marL="0">
              <a:buNone/>
            </a:pPr>
            <a:r>
              <a:rPr lang="en-US" sz="2600" b="1" dirty="0">
                <a:solidFill>
                  <a:srgbClr val="352F35"/>
                </a:solidFill>
                <a:latin typeface="Arial" pitchFamily="34" charset="0"/>
                <a:ea typeface="Arial" pitchFamily="34" charset="-122"/>
                <a:cs typeface="Arial" pitchFamily="34" charset="-120"/>
              </a:rPr>
              <a:t>Current Limitations &amp; Responsible Use</a:t>
            </a:r>
            <a:endParaRPr lang="en-US" sz="2600" dirty="0"/>
          </a:p>
        </p:txBody>
      </p:sp>
      <p:sp>
        <p:nvSpPr>
          <p:cNvPr id="7" name="Text 5"/>
          <p:cNvSpPr/>
          <p:nvPr/>
        </p:nvSpPr>
        <p:spPr>
          <a:xfrm>
            <a:off x="731520" y="1417320"/>
            <a:ext cx="10698480" cy="411480"/>
          </a:xfrm>
          <a:prstGeom prst="rect">
            <a:avLst/>
          </a:prstGeom>
          <a:noFill/>
          <a:ln/>
        </p:spPr>
        <p:txBody>
          <a:bodyPr wrap="square" rtlCol="0" anchor="ctr"/>
          <a:lstStyle/>
          <a:p>
            <a:pPr indent="0" marL="0">
              <a:buNone/>
            </a:pPr>
            <a:r>
              <a:rPr lang="en-US" sz="1300" dirty="0">
                <a:solidFill>
                  <a:srgbClr val="9F5F6E"/>
                </a:solidFill>
                <a:latin typeface="Arial" pitchFamily="34" charset="0"/>
                <a:ea typeface="Arial" pitchFamily="34" charset="-122"/>
                <a:cs typeface="Arial" pitchFamily="34" charset="-120"/>
              </a:rPr>
              <a:t>Radical transparency about prototype boundaries and clinical readiness</a:t>
            </a:r>
            <a:endParaRPr lang="en-US" sz="1300" dirty="0"/>
          </a:p>
        </p:txBody>
      </p:sp>
      <p:sp>
        <p:nvSpPr>
          <p:cNvPr id="8" name="Shape 6"/>
          <p:cNvSpPr/>
          <p:nvPr/>
        </p:nvSpPr>
        <p:spPr>
          <a:xfrm>
            <a:off x="731520" y="1965960"/>
            <a:ext cx="5166360" cy="1691640"/>
          </a:xfrm>
          <a:prstGeom prst="roundRect">
            <a:avLst>
              <a:gd name="adj" fmla="val 6486"/>
            </a:avLst>
          </a:prstGeom>
          <a:solidFill>
            <a:srgbClr val="FFFFFF"/>
          </a:solidFill>
          <a:ln w="12700">
            <a:solidFill>
              <a:srgbClr val="E9DFDC"/>
            </a:solidFill>
            <a:prstDash val="solid"/>
          </a:ln>
        </p:spPr>
      </p:sp>
      <p:sp>
        <p:nvSpPr>
          <p:cNvPr id="9" name="Shape 7"/>
          <p:cNvSpPr/>
          <p:nvPr/>
        </p:nvSpPr>
        <p:spPr>
          <a:xfrm>
            <a:off x="960120" y="2194560"/>
            <a:ext cx="365760" cy="365760"/>
          </a:xfrm>
          <a:prstGeom prst="ellipse">
            <a:avLst/>
          </a:prstGeom>
          <a:solidFill>
            <a:srgbClr val="F2E1E3"/>
          </a:solidFill>
          <a:ln w="12700">
            <a:solidFill>
              <a:srgbClr val="F2E1E3"/>
            </a:solidFill>
            <a:prstDash val="solid"/>
          </a:ln>
        </p:spPr>
      </p:sp>
      <p:sp>
        <p:nvSpPr>
          <p:cNvPr id="10" name="Text 8"/>
          <p:cNvSpPr/>
          <p:nvPr/>
        </p:nvSpPr>
        <p:spPr>
          <a:xfrm>
            <a:off x="960120" y="2194560"/>
            <a:ext cx="365760" cy="365760"/>
          </a:xfrm>
          <a:prstGeom prst="rect">
            <a:avLst/>
          </a:prstGeom>
          <a:noFill/>
          <a:ln/>
        </p:spPr>
        <p:txBody>
          <a:bodyPr wrap="square" rtlCol="0" anchor="ctr"/>
          <a:lstStyle/>
          <a:p>
            <a:pPr algn="ctr" indent="0" marL="0">
              <a:buNone/>
            </a:pPr>
            <a:r>
              <a:rPr lang="en-US" sz="1100" b="1" dirty="0">
                <a:solidFill>
                  <a:srgbClr val="9F5F6E"/>
                </a:solidFill>
              </a:rPr>
              <a:t>1</a:t>
            </a:r>
            <a:endParaRPr lang="en-US" sz="1100" dirty="0"/>
          </a:p>
        </p:txBody>
      </p:sp>
      <p:sp>
        <p:nvSpPr>
          <p:cNvPr id="11" name="Text 9"/>
          <p:cNvSpPr/>
          <p:nvPr/>
        </p:nvSpPr>
        <p:spPr>
          <a:xfrm>
            <a:off x="1417320" y="2167128"/>
            <a:ext cx="4297680" cy="365760"/>
          </a:xfrm>
          <a:prstGeom prst="rect">
            <a:avLst/>
          </a:prstGeom>
          <a:noFill/>
          <a:ln/>
        </p:spPr>
        <p:txBody>
          <a:bodyPr wrap="square" rtlCol="0" anchor="ctr"/>
          <a:lstStyle/>
          <a:p>
            <a:pPr indent="0" marL="0">
              <a:buNone/>
            </a:pPr>
            <a:r>
              <a:rPr lang="en-US" sz="1300" b="1" dirty="0">
                <a:solidFill>
                  <a:srgbClr val="352F35"/>
                </a:solidFill>
                <a:latin typeface="Arial" pitchFamily="34" charset="0"/>
                <a:ea typeface="Arial" pitchFamily="34" charset="-122"/>
                <a:cs typeface="Arial" pitchFamily="34" charset="-120"/>
              </a:rPr>
              <a:t>Prototype, Not Medical Device</a:t>
            </a:r>
            <a:endParaRPr lang="en-US" sz="1300" dirty="0"/>
          </a:p>
        </p:txBody>
      </p:sp>
      <p:sp>
        <p:nvSpPr>
          <p:cNvPr id="12" name="Text 10"/>
          <p:cNvSpPr/>
          <p:nvPr/>
        </p:nvSpPr>
        <p:spPr>
          <a:xfrm>
            <a:off x="960120" y="2651760"/>
            <a:ext cx="4709160" cy="914400"/>
          </a:xfrm>
          <a:prstGeom prst="rect">
            <a:avLst/>
          </a:prstGeom>
          <a:noFill/>
          <a:ln/>
        </p:spPr>
        <p:txBody>
          <a:bodyPr wrap="square" rtlCol="0" anchor="t"/>
          <a:lstStyle/>
          <a:p>
            <a:pPr indent="0" marL="0">
              <a:lnSpc>
                <a:spcPct val="115000"/>
              </a:lnSpc>
              <a:buNone/>
            </a:pPr>
            <a:r>
              <a:rPr lang="en-US" sz="1100" dirty="0">
                <a:solidFill>
                  <a:srgbClr val="352F35"/>
                </a:solidFill>
                <a:latin typeface="Arial" pitchFamily="34" charset="0"/>
                <a:ea typeface="Arial" pitchFamily="34" charset="-122"/>
                <a:cs typeface="Arial" pitchFamily="34" charset="-120"/>
              </a:rPr>
              <a:t>MomCare is an informational companion prototype, not a certified medical device and not a doctor replacement.</a:t>
            </a:r>
            <a:endParaRPr lang="en-US" sz="1100" dirty="0"/>
          </a:p>
        </p:txBody>
      </p:sp>
      <p:sp>
        <p:nvSpPr>
          <p:cNvPr id="13" name="Shape 11"/>
          <p:cNvSpPr/>
          <p:nvPr/>
        </p:nvSpPr>
        <p:spPr>
          <a:xfrm>
            <a:off x="6217920" y="1965960"/>
            <a:ext cx="5166360" cy="1691640"/>
          </a:xfrm>
          <a:prstGeom prst="roundRect">
            <a:avLst>
              <a:gd name="adj" fmla="val 6486"/>
            </a:avLst>
          </a:prstGeom>
          <a:solidFill>
            <a:srgbClr val="FFFFFF"/>
          </a:solidFill>
          <a:ln w="12700">
            <a:solidFill>
              <a:srgbClr val="E9DFDC"/>
            </a:solidFill>
            <a:prstDash val="solid"/>
          </a:ln>
        </p:spPr>
      </p:sp>
      <p:sp>
        <p:nvSpPr>
          <p:cNvPr id="14" name="Shape 12"/>
          <p:cNvSpPr/>
          <p:nvPr/>
        </p:nvSpPr>
        <p:spPr>
          <a:xfrm>
            <a:off x="6446520" y="2194560"/>
            <a:ext cx="365760" cy="365760"/>
          </a:xfrm>
          <a:prstGeom prst="ellipse">
            <a:avLst/>
          </a:prstGeom>
          <a:solidFill>
            <a:srgbClr val="F2E1E3"/>
          </a:solidFill>
          <a:ln w="12700">
            <a:solidFill>
              <a:srgbClr val="F2E1E3"/>
            </a:solidFill>
            <a:prstDash val="solid"/>
          </a:ln>
        </p:spPr>
      </p:sp>
      <p:sp>
        <p:nvSpPr>
          <p:cNvPr id="15" name="Text 13"/>
          <p:cNvSpPr/>
          <p:nvPr/>
        </p:nvSpPr>
        <p:spPr>
          <a:xfrm>
            <a:off x="6446520" y="2194560"/>
            <a:ext cx="365760" cy="365760"/>
          </a:xfrm>
          <a:prstGeom prst="rect">
            <a:avLst/>
          </a:prstGeom>
          <a:noFill/>
          <a:ln/>
        </p:spPr>
        <p:txBody>
          <a:bodyPr wrap="square" rtlCol="0" anchor="ctr"/>
          <a:lstStyle/>
          <a:p>
            <a:pPr algn="ctr" indent="0" marL="0">
              <a:buNone/>
            </a:pPr>
            <a:r>
              <a:rPr lang="en-US" sz="1100" b="1" dirty="0">
                <a:solidFill>
                  <a:srgbClr val="9F5F6E"/>
                </a:solidFill>
              </a:rPr>
              <a:t>2</a:t>
            </a:r>
            <a:endParaRPr lang="en-US" sz="1100" dirty="0"/>
          </a:p>
        </p:txBody>
      </p:sp>
      <p:sp>
        <p:nvSpPr>
          <p:cNvPr id="16" name="Text 14"/>
          <p:cNvSpPr/>
          <p:nvPr/>
        </p:nvSpPr>
        <p:spPr>
          <a:xfrm>
            <a:off x="6903720" y="2167128"/>
            <a:ext cx="4297680" cy="365760"/>
          </a:xfrm>
          <a:prstGeom prst="rect">
            <a:avLst/>
          </a:prstGeom>
          <a:noFill/>
          <a:ln/>
        </p:spPr>
        <p:txBody>
          <a:bodyPr wrap="square" rtlCol="0" anchor="ctr"/>
          <a:lstStyle/>
          <a:p>
            <a:pPr indent="0" marL="0">
              <a:buNone/>
            </a:pPr>
            <a:r>
              <a:rPr lang="en-US" sz="1300" b="1" dirty="0">
                <a:solidFill>
                  <a:srgbClr val="352F35"/>
                </a:solidFill>
                <a:latin typeface="Arial" pitchFamily="34" charset="0"/>
                <a:ea typeface="Arial" pitchFamily="34" charset="-122"/>
                <a:cs typeface="Arial" pitchFamily="34" charset="-120"/>
              </a:rPr>
              <a:t>Draft Status of Content</a:t>
            </a:r>
            <a:endParaRPr lang="en-US" sz="1300" dirty="0"/>
          </a:p>
        </p:txBody>
      </p:sp>
      <p:sp>
        <p:nvSpPr>
          <p:cNvPr id="17" name="Text 15"/>
          <p:cNvSpPr/>
          <p:nvPr/>
        </p:nvSpPr>
        <p:spPr>
          <a:xfrm>
            <a:off x="6446520" y="2651760"/>
            <a:ext cx="4709160" cy="914400"/>
          </a:xfrm>
          <a:prstGeom prst="rect">
            <a:avLst/>
          </a:prstGeom>
          <a:noFill/>
          <a:ln/>
        </p:spPr>
        <p:txBody>
          <a:bodyPr wrap="square" rtlCol="0" anchor="t"/>
          <a:lstStyle/>
          <a:p>
            <a:pPr indent="0" marL="0">
              <a:lnSpc>
                <a:spcPct val="115000"/>
              </a:lnSpc>
              <a:buNone/>
            </a:pPr>
            <a:r>
              <a:rPr lang="en-US" sz="1100" dirty="0">
                <a:solidFill>
                  <a:srgbClr val="352F35"/>
                </a:solidFill>
                <a:latin typeface="Arial" pitchFamily="34" charset="0"/>
                <a:ea typeface="Arial" pitchFamily="34" charset="-122"/>
                <a:cs typeface="Arial" pitchFamily="34" charset="-120"/>
              </a:rPr>
              <a:t>All clinical warning-sign rules, educational articles, and quiz materials are drafts requiring formal OB/GYN review.</a:t>
            </a:r>
            <a:endParaRPr lang="en-US" sz="1100" dirty="0"/>
          </a:p>
        </p:txBody>
      </p:sp>
      <p:sp>
        <p:nvSpPr>
          <p:cNvPr id="18" name="Shape 16"/>
          <p:cNvSpPr/>
          <p:nvPr/>
        </p:nvSpPr>
        <p:spPr>
          <a:xfrm>
            <a:off x="731520" y="3840480"/>
            <a:ext cx="5166360" cy="1691640"/>
          </a:xfrm>
          <a:prstGeom prst="roundRect">
            <a:avLst>
              <a:gd name="adj" fmla="val 6486"/>
            </a:avLst>
          </a:prstGeom>
          <a:solidFill>
            <a:srgbClr val="FFFFFF"/>
          </a:solidFill>
          <a:ln w="12700">
            <a:solidFill>
              <a:srgbClr val="E9DFDC"/>
            </a:solidFill>
            <a:prstDash val="solid"/>
          </a:ln>
        </p:spPr>
      </p:sp>
      <p:sp>
        <p:nvSpPr>
          <p:cNvPr id="19" name="Shape 17"/>
          <p:cNvSpPr/>
          <p:nvPr/>
        </p:nvSpPr>
        <p:spPr>
          <a:xfrm>
            <a:off x="960120" y="4069080"/>
            <a:ext cx="365760" cy="365760"/>
          </a:xfrm>
          <a:prstGeom prst="ellipse">
            <a:avLst/>
          </a:prstGeom>
          <a:solidFill>
            <a:srgbClr val="F2E1E3"/>
          </a:solidFill>
          <a:ln w="12700">
            <a:solidFill>
              <a:srgbClr val="F2E1E3"/>
            </a:solidFill>
            <a:prstDash val="solid"/>
          </a:ln>
        </p:spPr>
      </p:sp>
      <p:sp>
        <p:nvSpPr>
          <p:cNvPr id="20" name="Text 18"/>
          <p:cNvSpPr/>
          <p:nvPr/>
        </p:nvSpPr>
        <p:spPr>
          <a:xfrm>
            <a:off x="960120" y="4069080"/>
            <a:ext cx="365760" cy="365760"/>
          </a:xfrm>
          <a:prstGeom prst="rect">
            <a:avLst/>
          </a:prstGeom>
          <a:noFill/>
          <a:ln/>
        </p:spPr>
        <p:txBody>
          <a:bodyPr wrap="square" rtlCol="0" anchor="ctr"/>
          <a:lstStyle/>
          <a:p>
            <a:pPr algn="ctr" indent="0" marL="0">
              <a:buNone/>
            </a:pPr>
            <a:r>
              <a:rPr lang="en-US" sz="1100" b="1" dirty="0">
                <a:solidFill>
                  <a:srgbClr val="9F5F6E"/>
                </a:solidFill>
              </a:rPr>
              <a:t>3</a:t>
            </a:r>
            <a:endParaRPr lang="en-US" sz="1100" dirty="0"/>
          </a:p>
        </p:txBody>
      </p:sp>
      <p:sp>
        <p:nvSpPr>
          <p:cNvPr id="21" name="Text 19"/>
          <p:cNvSpPr/>
          <p:nvPr/>
        </p:nvSpPr>
        <p:spPr>
          <a:xfrm>
            <a:off x="1417320" y="4041648"/>
            <a:ext cx="4297680" cy="365760"/>
          </a:xfrm>
          <a:prstGeom prst="rect">
            <a:avLst/>
          </a:prstGeom>
          <a:noFill/>
          <a:ln/>
        </p:spPr>
        <p:txBody>
          <a:bodyPr wrap="square" rtlCol="0" anchor="ctr"/>
          <a:lstStyle/>
          <a:p>
            <a:pPr indent="0" marL="0">
              <a:buNone/>
            </a:pPr>
            <a:r>
              <a:rPr lang="en-US" sz="1300" b="1" dirty="0">
                <a:solidFill>
                  <a:srgbClr val="352F35"/>
                </a:solidFill>
                <a:latin typeface="Arial" pitchFamily="34" charset="0"/>
                <a:ea typeface="Arial" pitchFamily="34" charset="-122"/>
                <a:cs typeface="Arial" pitchFamily="34" charset="-120"/>
              </a:rPr>
              <a:t>Screening Model Demonstration</a:t>
            </a:r>
            <a:endParaRPr lang="en-US" sz="1300" dirty="0"/>
          </a:p>
        </p:txBody>
      </p:sp>
      <p:sp>
        <p:nvSpPr>
          <p:cNvPr id="22" name="Text 20"/>
          <p:cNvSpPr/>
          <p:nvPr/>
        </p:nvSpPr>
        <p:spPr>
          <a:xfrm>
            <a:off x="960120" y="4526280"/>
            <a:ext cx="4709160" cy="914400"/>
          </a:xfrm>
          <a:prstGeom prst="rect">
            <a:avLst/>
          </a:prstGeom>
          <a:noFill/>
          <a:ln/>
        </p:spPr>
        <p:txBody>
          <a:bodyPr wrap="square" rtlCol="0" anchor="t"/>
          <a:lstStyle/>
          <a:p>
            <a:pPr indent="0" marL="0">
              <a:lnSpc>
                <a:spcPct val="115000"/>
              </a:lnSpc>
              <a:buNone/>
            </a:pPr>
            <a:r>
              <a:rPr lang="en-US" sz="1100" dirty="0">
                <a:solidFill>
                  <a:srgbClr val="352F35"/>
                </a:solidFill>
                <a:latin typeface="Arial" pitchFamily="34" charset="0"/>
                <a:ea typeface="Arial" pitchFamily="34" charset="-122"/>
                <a:cs typeface="Arial" pitchFamily="34" charset="-120"/>
              </a:rPr>
              <a:t>Risk-screening logic is an illustrative demonstration that has not undergone clinical validation on real populations.</a:t>
            </a:r>
            <a:endParaRPr lang="en-US" sz="1100" dirty="0"/>
          </a:p>
        </p:txBody>
      </p:sp>
      <p:sp>
        <p:nvSpPr>
          <p:cNvPr id="23" name="Shape 21"/>
          <p:cNvSpPr/>
          <p:nvPr/>
        </p:nvSpPr>
        <p:spPr>
          <a:xfrm>
            <a:off x="6217920" y="3840480"/>
            <a:ext cx="5166360" cy="1691640"/>
          </a:xfrm>
          <a:prstGeom prst="roundRect">
            <a:avLst>
              <a:gd name="adj" fmla="val 6486"/>
            </a:avLst>
          </a:prstGeom>
          <a:solidFill>
            <a:srgbClr val="FFFFFF"/>
          </a:solidFill>
          <a:ln w="12700">
            <a:solidFill>
              <a:srgbClr val="E9DFDC"/>
            </a:solidFill>
            <a:prstDash val="solid"/>
          </a:ln>
        </p:spPr>
      </p:sp>
      <p:sp>
        <p:nvSpPr>
          <p:cNvPr id="24" name="Shape 22"/>
          <p:cNvSpPr/>
          <p:nvPr/>
        </p:nvSpPr>
        <p:spPr>
          <a:xfrm>
            <a:off x="6446520" y="4069080"/>
            <a:ext cx="365760" cy="365760"/>
          </a:xfrm>
          <a:prstGeom prst="ellipse">
            <a:avLst/>
          </a:prstGeom>
          <a:solidFill>
            <a:srgbClr val="F2E1E3"/>
          </a:solidFill>
          <a:ln w="12700">
            <a:solidFill>
              <a:srgbClr val="F2E1E3"/>
            </a:solidFill>
            <a:prstDash val="solid"/>
          </a:ln>
        </p:spPr>
      </p:sp>
      <p:sp>
        <p:nvSpPr>
          <p:cNvPr id="25" name="Text 23"/>
          <p:cNvSpPr/>
          <p:nvPr/>
        </p:nvSpPr>
        <p:spPr>
          <a:xfrm>
            <a:off x="6446520" y="4069080"/>
            <a:ext cx="365760" cy="365760"/>
          </a:xfrm>
          <a:prstGeom prst="rect">
            <a:avLst/>
          </a:prstGeom>
          <a:noFill/>
          <a:ln/>
        </p:spPr>
        <p:txBody>
          <a:bodyPr wrap="square" rtlCol="0" anchor="ctr"/>
          <a:lstStyle/>
          <a:p>
            <a:pPr algn="ctr" indent="0" marL="0">
              <a:buNone/>
            </a:pPr>
            <a:r>
              <a:rPr lang="en-US" sz="1100" b="1" dirty="0">
                <a:solidFill>
                  <a:srgbClr val="9F5F6E"/>
                </a:solidFill>
              </a:rPr>
              <a:t>4</a:t>
            </a:r>
            <a:endParaRPr lang="en-US" sz="1100" dirty="0"/>
          </a:p>
        </p:txBody>
      </p:sp>
      <p:sp>
        <p:nvSpPr>
          <p:cNvPr id="26" name="Text 24"/>
          <p:cNvSpPr/>
          <p:nvPr/>
        </p:nvSpPr>
        <p:spPr>
          <a:xfrm>
            <a:off x="6903720" y="4041648"/>
            <a:ext cx="4297680" cy="365760"/>
          </a:xfrm>
          <a:prstGeom prst="rect">
            <a:avLst/>
          </a:prstGeom>
          <a:noFill/>
          <a:ln/>
        </p:spPr>
        <p:txBody>
          <a:bodyPr wrap="square" rtlCol="0" anchor="ctr"/>
          <a:lstStyle/>
          <a:p>
            <a:pPr indent="0" marL="0">
              <a:buNone/>
            </a:pPr>
            <a:r>
              <a:rPr lang="en-US" sz="1300" b="1" dirty="0">
                <a:solidFill>
                  <a:srgbClr val="352F35"/>
                </a:solidFill>
                <a:latin typeface="Arial" pitchFamily="34" charset="0"/>
                <a:ea typeface="Arial" pitchFamily="34" charset="-122"/>
                <a:cs typeface="Arial" pitchFamily="34" charset="-120"/>
              </a:rPr>
              <a:t>AI Error Mitigation</a:t>
            </a:r>
            <a:endParaRPr lang="en-US" sz="1300" dirty="0"/>
          </a:p>
        </p:txBody>
      </p:sp>
      <p:sp>
        <p:nvSpPr>
          <p:cNvPr id="27" name="Text 25"/>
          <p:cNvSpPr/>
          <p:nvPr/>
        </p:nvSpPr>
        <p:spPr>
          <a:xfrm>
            <a:off x="6446520" y="4526280"/>
            <a:ext cx="4709160" cy="914400"/>
          </a:xfrm>
          <a:prstGeom prst="rect">
            <a:avLst/>
          </a:prstGeom>
          <a:noFill/>
          <a:ln/>
        </p:spPr>
        <p:txBody>
          <a:bodyPr wrap="square" rtlCol="0" anchor="t"/>
          <a:lstStyle/>
          <a:p>
            <a:pPr indent="0" marL="0">
              <a:lnSpc>
                <a:spcPct val="115000"/>
              </a:lnSpc>
              <a:buNone/>
            </a:pPr>
            <a:r>
              <a:rPr lang="en-US" sz="1100" dirty="0">
                <a:solidFill>
                  <a:srgbClr val="352F35"/>
                </a:solidFill>
                <a:latin typeface="Arial" pitchFamily="34" charset="0"/>
                <a:ea typeface="Arial" pitchFamily="34" charset="-122"/>
                <a:cs typeface="Arial" pitchFamily="34" charset="-120"/>
              </a:rPr>
              <a:t>AI fallibility is actively mitigated by bounding answers to reference facts, displaying confidence, and gating with pre-AI safety rules.</a:t>
            </a:r>
            <a:endParaRPr lang="en-US" sz="1100" dirty="0"/>
          </a:p>
        </p:txBody>
      </p:sp>
      <p:sp>
        <p:nvSpPr>
          <p:cNvPr id="28" name="Shape 26"/>
          <p:cNvSpPr/>
          <p:nvPr/>
        </p:nvSpPr>
        <p:spPr>
          <a:xfrm>
            <a:off x="731520" y="5715000"/>
            <a:ext cx="10652760" cy="594360"/>
          </a:xfrm>
          <a:prstGeom prst="roundRect">
            <a:avLst>
              <a:gd name="adj" fmla="val 15385"/>
            </a:avLst>
          </a:prstGeom>
          <a:solidFill>
            <a:srgbClr val="F2E1E3"/>
          </a:solidFill>
          <a:ln w="12700">
            <a:solidFill>
              <a:srgbClr val="E9DFDC"/>
            </a:solidFill>
            <a:prstDash val="solid"/>
          </a:ln>
        </p:spPr>
      </p:sp>
      <p:sp>
        <p:nvSpPr>
          <p:cNvPr id="29" name="Text 27"/>
          <p:cNvSpPr/>
          <p:nvPr/>
        </p:nvSpPr>
        <p:spPr>
          <a:xfrm>
            <a:off x="914400" y="5715000"/>
            <a:ext cx="10287000" cy="594360"/>
          </a:xfrm>
          <a:prstGeom prst="rect">
            <a:avLst/>
          </a:prstGeom>
          <a:noFill/>
          <a:ln/>
        </p:spPr>
        <p:txBody>
          <a:bodyPr wrap="square" rtlCol="0" anchor="ctr"/>
          <a:lstStyle/>
          <a:p>
            <a:pPr indent="0" marL="0">
              <a:buNone/>
            </a:pPr>
            <a:r>
              <a:rPr lang="en-US" sz="1000" b="1" dirty="0">
                <a:solidFill>
                  <a:srgbClr val="9F5F6E"/>
                </a:solidFill>
              </a:rPr>
              <a:t>CORE TAKEAWAY:  </a:t>
            </a:r>
            <a:pPr indent="0" marL="0">
              <a:buNone/>
            </a:pPr>
            <a:r>
              <a:rPr lang="en-US" sz="1050" dirty="0">
                <a:solidFill>
                  <a:srgbClr val="352F35"/>
                </a:solidFill>
              </a:rPr>
              <a:t>Being honest about limitations is essential for building a trustworthy, ethical healthcare product.</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CF8F6"/>
        </a:solidFill>
      </p:bgPr>
    </p:bg>
    <p:spTree>
      <p:nvGrpSpPr>
        <p:cNvPr id="1" name=""/>
        <p:cNvGrpSpPr/>
        <p:nvPr/>
      </p:nvGrpSpPr>
      <p:grpSpPr>
        <a:xfrm>
          <a:off x="0" y="0"/>
          <a:ext cx="0" cy="0"/>
          <a:chOff x="0" y="0"/>
          <a:chExt cx="0" cy="0"/>
        </a:xfrm>
      </p:grpSpPr>
      <p:sp>
        <p:nvSpPr>
          <p:cNvPr id="2" name="Shape 0"/>
          <p:cNvSpPr/>
          <p:nvPr/>
        </p:nvSpPr>
        <p:spPr>
          <a:xfrm>
            <a:off x="0" y="0"/>
            <a:ext cx="9144000" cy="91440"/>
          </a:xfrm>
          <a:prstGeom prst="rect">
            <a:avLst/>
          </a:prstGeom>
          <a:solidFill>
            <a:srgbClr val="9F5F6E"/>
          </a:solidFill>
          <a:ln w="12700">
            <a:solidFill>
              <a:srgbClr val="9F5F6E"/>
            </a:solidFill>
            <a:prstDash val="solid"/>
          </a:ln>
        </p:spPr>
      </p:sp>
      <p:sp>
        <p:nvSpPr>
          <p:cNvPr id="3" name="Shape 1"/>
          <p:cNvSpPr/>
          <p:nvPr/>
        </p:nvSpPr>
        <p:spPr>
          <a:xfrm>
            <a:off x="731520" y="320040"/>
            <a:ext cx="2011680" cy="320040"/>
          </a:xfrm>
          <a:prstGeom prst="roundRect">
            <a:avLst>
              <a:gd name="adj" fmla="val 42857"/>
            </a:avLst>
          </a:prstGeom>
          <a:solidFill>
            <a:srgbClr val="F2E1E3"/>
          </a:solidFill>
          <a:ln w="12700">
            <a:solidFill>
              <a:srgbClr val="E9DFDC"/>
            </a:solidFill>
            <a:prstDash val="solid"/>
          </a:ln>
        </p:spPr>
      </p:sp>
      <p:sp>
        <p:nvSpPr>
          <p:cNvPr id="4" name="Text 2"/>
          <p:cNvSpPr/>
          <p:nvPr/>
        </p:nvSpPr>
        <p:spPr>
          <a:xfrm>
            <a:off x="731520" y="320040"/>
            <a:ext cx="2011680" cy="320040"/>
          </a:xfrm>
          <a:prstGeom prst="rect">
            <a:avLst/>
          </a:prstGeom>
          <a:noFill/>
          <a:ln/>
        </p:spPr>
        <p:txBody>
          <a:bodyPr wrap="square" rtlCol="0" anchor="ctr"/>
          <a:lstStyle/>
          <a:p>
            <a:pPr algn="ctr" indent="0" marL="0">
              <a:buNone/>
            </a:pPr>
            <a:r>
              <a:rPr lang="en-US" sz="1000" b="1" dirty="0">
                <a:solidFill>
                  <a:srgbClr val="9F5F6E"/>
                </a:solidFill>
              </a:rPr>
              <a:t>ROADMAP &amp; CLOSING</a:t>
            </a:r>
            <a:endParaRPr lang="en-US" sz="1000" dirty="0"/>
          </a:p>
        </p:txBody>
      </p:sp>
      <p:sp>
        <p:nvSpPr>
          <p:cNvPr id="5" name="Text 3"/>
          <p:cNvSpPr/>
          <p:nvPr/>
        </p:nvSpPr>
        <p:spPr>
          <a:xfrm>
            <a:off x="9601200" y="320040"/>
            <a:ext cx="1828800" cy="320040"/>
          </a:xfrm>
          <a:prstGeom prst="rect">
            <a:avLst/>
          </a:prstGeom>
          <a:noFill/>
          <a:ln/>
        </p:spPr>
        <p:txBody>
          <a:bodyPr wrap="square" rtlCol="0" anchor="ctr"/>
          <a:lstStyle/>
          <a:p>
            <a:pPr algn="r" indent="0" marL="0">
              <a:buNone/>
            </a:pPr>
            <a:r>
              <a:rPr lang="en-US" sz="1100" dirty="0">
                <a:solidFill>
                  <a:srgbClr val="766D72"/>
                </a:solidFill>
              </a:rPr>
              <a:t>Slide 15 of 15</a:t>
            </a:r>
            <a:endParaRPr lang="en-US" sz="1100" dirty="0"/>
          </a:p>
        </p:txBody>
      </p:sp>
      <p:sp>
        <p:nvSpPr>
          <p:cNvPr id="6" name="Text 4"/>
          <p:cNvSpPr/>
          <p:nvPr/>
        </p:nvSpPr>
        <p:spPr>
          <a:xfrm>
            <a:off x="731520" y="777240"/>
            <a:ext cx="10698480" cy="640080"/>
          </a:xfrm>
          <a:prstGeom prst="rect">
            <a:avLst/>
          </a:prstGeom>
          <a:noFill/>
          <a:ln/>
        </p:spPr>
        <p:txBody>
          <a:bodyPr wrap="square" rtlCol="0" anchor="ctr"/>
          <a:lstStyle/>
          <a:p>
            <a:pPr indent="0" marL="0">
              <a:buNone/>
            </a:pPr>
            <a:r>
              <a:rPr lang="en-US" sz="2600" b="1" dirty="0">
                <a:solidFill>
                  <a:srgbClr val="352F35"/>
                </a:solidFill>
                <a:latin typeface="Arial" pitchFamily="34" charset="0"/>
                <a:ea typeface="Arial" pitchFamily="34" charset="-122"/>
                <a:cs typeface="Arial" pitchFamily="34" charset="-120"/>
              </a:rPr>
              <a:t>Future Improvements and Closing</a:t>
            </a:r>
            <a:endParaRPr lang="en-US" sz="2600" dirty="0"/>
          </a:p>
        </p:txBody>
      </p:sp>
      <p:sp>
        <p:nvSpPr>
          <p:cNvPr id="7" name="Text 5"/>
          <p:cNvSpPr/>
          <p:nvPr/>
        </p:nvSpPr>
        <p:spPr>
          <a:xfrm>
            <a:off x="731520" y="1417320"/>
            <a:ext cx="10698480" cy="411480"/>
          </a:xfrm>
          <a:prstGeom prst="rect">
            <a:avLst/>
          </a:prstGeom>
          <a:noFill/>
          <a:ln/>
        </p:spPr>
        <p:txBody>
          <a:bodyPr wrap="square" rtlCol="0" anchor="ctr"/>
          <a:lstStyle/>
          <a:p>
            <a:pPr indent="0" marL="0">
              <a:buNone/>
            </a:pPr>
            <a:r>
              <a:rPr lang="en-US" sz="1300" dirty="0">
                <a:solidFill>
                  <a:srgbClr val="9F5F6E"/>
                </a:solidFill>
                <a:latin typeface="Arial" pitchFamily="34" charset="0"/>
                <a:ea typeface="Arial" pitchFamily="34" charset="-122"/>
                <a:cs typeface="Arial" pitchFamily="34" charset="-120"/>
              </a:rPr>
              <a:t>Five-step roadmap toward clinical deployment and maternal health impact</a:t>
            </a:r>
            <a:endParaRPr lang="en-US" sz="1300" dirty="0"/>
          </a:p>
        </p:txBody>
      </p:sp>
      <p:sp>
        <p:nvSpPr>
          <p:cNvPr id="8" name="Shape 6"/>
          <p:cNvSpPr/>
          <p:nvPr/>
        </p:nvSpPr>
        <p:spPr>
          <a:xfrm>
            <a:off x="731520" y="1965960"/>
            <a:ext cx="5166360" cy="1691640"/>
          </a:xfrm>
          <a:prstGeom prst="roundRect">
            <a:avLst>
              <a:gd name="adj" fmla="val 6486"/>
            </a:avLst>
          </a:prstGeom>
          <a:solidFill>
            <a:srgbClr val="FFFFFF"/>
          </a:solidFill>
          <a:ln w="12700">
            <a:solidFill>
              <a:srgbClr val="E9DFDC"/>
            </a:solidFill>
            <a:prstDash val="solid"/>
          </a:ln>
        </p:spPr>
      </p:sp>
      <p:sp>
        <p:nvSpPr>
          <p:cNvPr id="9" name="Shape 7"/>
          <p:cNvSpPr/>
          <p:nvPr/>
        </p:nvSpPr>
        <p:spPr>
          <a:xfrm>
            <a:off x="960120" y="2194560"/>
            <a:ext cx="365760" cy="365760"/>
          </a:xfrm>
          <a:prstGeom prst="ellipse">
            <a:avLst/>
          </a:prstGeom>
          <a:solidFill>
            <a:srgbClr val="F2E1E3"/>
          </a:solidFill>
          <a:ln w="12700">
            <a:solidFill>
              <a:srgbClr val="F2E1E3"/>
            </a:solidFill>
            <a:prstDash val="solid"/>
          </a:ln>
        </p:spPr>
      </p:sp>
      <p:sp>
        <p:nvSpPr>
          <p:cNvPr id="10" name="Text 8"/>
          <p:cNvSpPr/>
          <p:nvPr/>
        </p:nvSpPr>
        <p:spPr>
          <a:xfrm>
            <a:off x="960120" y="2194560"/>
            <a:ext cx="365760" cy="365760"/>
          </a:xfrm>
          <a:prstGeom prst="rect">
            <a:avLst/>
          </a:prstGeom>
          <a:noFill/>
          <a:ln/>
        </p:spPr>
        <p:txBody>
          <a:bodyPr wrap="square" rtlCol="0" anchor="ctr"/>
          <a:lstStyle/>
          <a:p>
            <a:pPr algn="ctr" indent="0" marL="0">
              <a:buNone/>
            </a:pPr>
            <a:r>
              <a:rPr lang="en-US" sz="1100" b="1" dirty="0">
                <a:solidFill>
                  <a:srgbClr val="9F5F6E"/>
                </a:solidFill>
              </a:rPr>
              <a:t>1</a:t>
            </a:r>
            <a:endParaRPr lang="en-US" sz="1100" dirty="0"/>
          </a:p>
        </p:txBody>
      </p:sp>
      <p:sp>
        <p:nvSpPr>
          <p:cNvPr id="11" name="Text 9"/>
          <p:cNvSpPr/>
          <p:nvPr/>
        </p:nvSpPr>
        <p:spPr>
          <a:xfrm>
            <a:off x="1417320" y="2167128"/>
            <a:ext cx="4297680" cy="365760"/>
          </a:xfrm>
          <a:prstGeom prst="rect">
            <a:avLst/>
          </a:prstGeom>
          <a:noFill/>
          <a:ln/>
        </p:spPr>
        <p:txBody>
          <a:bodyPr wrap="square" rtlCol="0" anchor="ctr"/>
          <a:lstStyle/>
          <a:p>
            <a:pPr indent="0" marL="0">
              <a:buNone/>
            </a:pPr>
            <a:r>
              <a:rPr lang="en-US" sz="1300" b="1" dirty="0">
                <a:solidFill>
                  <a:srgbClr val="352F35"/>
                </a:solidFill>
                <a:latin typeface="Arial" pitchFamily="34" charset="0"/>
                <a:ea typeface="Arial" pitchFamily="34" charset="-122"/>
                <a:cs typeface="Arial" pitchFamily="34" charset="-120"/>
              </a:rPr>
              <a:t>1. Clinician Co-Design</a:t>
            </a:r>
            <a:endParaRPr lang="en-US" sz="1300" dirty="0"/>
          </a:p>
        </p:txBody>
      </p:sp>
      <p:sp>
        <p:nvSpPr>
          <p:cNvPr id="12" name="Text 10"/>
          <p:cNvSpPr/>
          <p:nvPr/>
        </p:nvSpPr>
        <p:spPr>
          <a:xfrm>
            <a:off x="960120" y="2651760"/>
            <a:ext cx="4709160" cy="914400"/>
          </a:xfrm>
          <a:prstGeom prst="rect">
            <a:avLst/>
          </a:prstGeom>
          <a:noFill/>
          <a:ln/>
        </p:spPr>
        <p:txBody>
          <a:bodyPr wrap="square" rtlCol="0" anchor="t"/>
          <a:lstStyle/>
          <a:p>
            <a:pPr indent="0" marL="0">
              <a:lnSpc>
                <a:spcPct val="115000"/>
              </a:lnSpc>
              <a:buNone/>
            </a:pPr>
            <a:r>
              <a:rPr lang="en-US" sz="1100" dirty="0">
                <a:solidFill>
                  <a:srgbClr val="352F35"/>
                </a:solidFill>
                <a:latin typeface="Arial" pitchFamily="34" charset="0"/>
                <a:ea typeface="Arial" pitchFamily="34" charset="-122"/>
                <a:cs typeface="Arial" pitchFamily="34" charset="-120"/>
              </a:rPr>
              <a:t>Formal review of safety rules, knowledge bases, and fetal milestones with qualified OB/GYNs.</a:t>
            </a:r>
            <a:endParaRPr lang="en-US" sz="1100" dirty="0"/>
          </a:p>
        </p:txBody>
      </p:sp>
      <p:sp>
        <p:nvSpPr>
          <p:cNvPr id="13" name="Shape 11"/>
          <p:cNvSpPr/>
          <p:nvPr/>
        </p:nvSpPr>
        <p:spPr>
          <a:xfrm>
            <a:off x="6217920" y="1965960"/>
            <a:ext cx="5166360" cy="1691640"/>
          </a:xfrm>
          <a:prstGeom prst="roundRect">
            <a:avLst>
              <a:gd name="adj" fmla="val 6486"/>
            </a:avLst>
          </a:prstGeom>
          <a:solidFill>
            <a:srgbClr val="FFFFFF"/>
          </a:solidFill>
          <a:ln w="12700">
            <a:solidFill>
              <a:srgbClr val="E9DFDC"/>
            </a:solidFill>
            <a:prstDash val="solid"/>
          </a:ln>
        </p:spPr>
      </p:sp>
      <p:sp>
        <p:nvSpPr>
          <p:cNvPr id="14" name="Shape 12"/>
          <p:cNvSpPr/>
          <p:nvPr/>
        </p:nvSpPr>
        <p:spPr>
          <a:xfrm>
            <a:off x="6446520" y="2194560"/>
            <a:ext cx="365760" cy="365760"/>
          </a:xfrm>
          <a:prstGeom prst="ellipse">
            <a:avLst/>
          </a:prstGeom>
          <a:solidFill>
            <a:srgbClr val="F2E1E3"/>
          </a:solidFill>
          <a:ln w="12700">
            <a:solidFill>
              <a:srgbClr val="F2E1E3"/>
            </a:solidFill>
            <a:prstDash val="solid"/>
          </a:ln>
        </p:spPr>
      </p:sp>
      <p:sp>
        <p:nvSpPr>
          <p:cNvPr id="15" name="Text 13"/>
          <p:cNvSpPr/>
          <p:nvPr/>
        </p:nvSpPr>
        <p:spPr>
          <a:xfrm>
            <a:off x="6446520" y="2194560"/>
            <a:ext cx="365760" cy="365760"/>
          </a:xfrm>
          <a:prstGeom prst="rect">
            <a:avLst/>
          </a:prstGeom>
          <a:noFill/>
          <a:ln/>
        </p:spPr>
        <p:txBody>
          <a:bodyPr wrap="square" rtlCol="0" anchor="ctr"/>
          <a:lstStyle/>
          <a:p>
            <a:pPr algn="ctr" indent="0" marL="0">
              <a:buNone/>
            </a:pPr>
            <a:r>
              <a:rPr lang="en-US" sz="1100" b="1" dirty="0">
                <a:solidFill>
                  <a:srgbClr val="9F5F6E"/>
                </a:solidFill>
              </a:rPr>
              <a:t>2</a:t>
            </a:r>
            <a:endParaRPr lang="en-US" sz="1100" dirty="0"/>
          </a:p>
        </p:txBody>
      </p:sp>
      <p:sp>
        <p:nvSpPr>
          <p:cNvPr id="16" name="Text 14"/>
          <p:cNvSpPr/>
          <p:nvPr/>
        </p:nvSpPr>
        <p:spPr>
          <a:xfrm>
            <a:off x="6903720" y="2167128"/>
            <a:ext cx="4297680" cy="365760"/>
          </a:xfrm>
          <a:prstGeom prst="rect">
            <a:avLst/>
          </a:prstGeom>
          <a:noFill/>
          <a:ln/>
        </p:spPr>
        <p:txBody>
          <a:bodyPr wrap="square" rtlCol="0" anchor="ctr"/>
          <a:lstStyle/>
          <a:p>
            <a:pPr indent="0" marL="0">
              <a:buNone/>
            </a:pPr>
            <a:r>
              <a:rPr lang="en-US" sz="1300" b="1" dirty="0">
                <a:solidFill>
                  <a:srgbClr val="352F35"/>
                </a:solidFill>
                <a:latin typeface="Arial" pitchFamily="34" charset="0"/>
                <a:ea typeface="Arial" pitchFamily="34" charset="-122"/>
                <a:cs typeface="Arial" pitchFamily="34" charset="-120"/>
              </a:rPr>
              <a:t>2. Clinical Model Validation</a:t>
            </a:r>
            <a:endParaRPr lang="en-US" sz="1300" dirty="0"/>
          </a:p>
        </p:txBody>
      </p:sp>
      <p:sp>
        <p:nvSpPr>
          <p:cNvPr id="17" name="Text 15"/>
          <p:cNvSpPr/>
          <p:nvPr/>
        </p:nvSpPr>
        <p:spPr>
          <a:xfrm>
            <a:off x="6446520" y="2651760"/>
            <a:ext cx="4709160" cy="914400"/>
          </a:xfrm>
          <a:prstGeom prst="rect">
            <a:avLst/>
          </a:prstGeom>
          <a:noFill/>
          <a:ln/>
        </p:spPr>
        <p:txBody>
          <a:bodyPr wrap="square" rtlCol="0" anchor="t"/>
          <a:lstStyle/>
          <a:p>
            <a:pPr indent="0" marL="0">
              <a:lnSpc>
                <a:spcPct val="115000"/>
              </a:lnSpc>
              <a:buNone/>
            </a:pPr>
            <a:r>
              <a:rPr lang="en-US" sz="1100" dirty="0">
                <a:solidFill>
                  <a:srgbClr val="352F35"/>
                </a:solidFill>
                <a:latin typeface="Arial" pitchFamily="34" charset="0"/>
                <a:ea typeface="Arial" pitchFamily="34" charset="-122"/>
                <a:cs typeface="Arial" pitchFamily="34" charset="-120"/>
              </a:rPr>
              <a:t>Training and validating the risk screening model on diverse public maternal health datasets with published metrics.</a:t>
            </a:r>
            <a:endParaRPr lang="en-US" sz="1100" dirty="0"/>
          </a:p>
        </p:txBody>
      </p:sp>
      <p:sp>
        <p:nvSpPr>
          <p:cNvPr id="18" name="Shape 16"/>
          <p:cNvSpPr/>
          <p:nvPr/>
        </p:nvSpPr>
        <p:spPr>
          <a:xfrm>
            <a:off x="731520" y="3840480"/>
            <a:ext cx="5166360" cy="1691640"/>
          </a:xfrm>
          <a:prstGeom prst="roundRect">
            <a:avLst>
              <a:gd name="adj" fmla="val 6486"/>
            </a:avLst>
          </a:prstGeom>
          <a:solidFill>
            <a:srgbClr val="FFFFFF"/>
          </a:solidFill>
          <a:ln w="12700">
            <a:solidFill>
              <a:srgbClr val="E9DFDC"/>
            </a:solidFill>
            <a:prstDash val="solid"/>
          </a:ln>
        </p:spPr>
      </p:sp>
      <p:sp>
        <p:nvSpPr>
          <p:cNvPr id="19" name="Shape 17"/>
          <p:cNvSpPr/>
          <p:nvPr/>
        </p:nvSpPr>
        <p:spPr>
          <a:xfrm>
            <a:off x="960120" y="4069080"/>
            <a:ext cx="365760" cy="365760"/>
          </a:xfrm>
          <a:prstGeom prst="ellipse">
            <a:avLst/>
          </a:prstGeom>
          <a:solidFill>
            <a:srgbClr val="F2E1E3"/>
          </a:solidFill>
          <a:ln w="12700">
            <a:solidFill>
              <a:srgbClr val="F2E1E3"/>
            </a:solidFill>
            <a:prstDash val="solid"/>
          </a:ln>
        </p:spPr>
      </p:sp>
      <p:sp>
        <p:nvSpPr>
          <p:cNvPr id="20" name="Text 18"/>
          <p:cNvSpPr/>
          <p:nvPr/>
        </p:nvSpPr>
        <p:spPr>
          <a:xfrm>
            <a:off x="960120" y="4069080"/>
            <a:ext cx="365760" cy="365760"/>
          </a:xfrm>
          <a:prstGeom prst="rect">
            <a:avLst/>
          </a:prstGeom>
          <a:noFill/>
          <a:ln/>
        </p:spPr>
        <p:txBody>
          <a:bodyPr wrap="square" rtlCol="0" anchor="ctr"/>
          <a:lstStyle/>
          <a:p>
            <a:pPr algn="ctr" indent="0" marL="0">
              <a:buNone/>
            </a:pPr>
            <a:r>
              <a:rPr lang="en-US" sz="1100" b="1" dirty="0">
                <a:solidFill>
                  <a:srgbClr val="9F5F6E"/>
                </a:solidFill>
              </a:rPr>
              <a:t>3</a:t>
            </a:r>
            <a:endParaRPr lang="en-US" sz="1100" dirty="0"/>
          </a:p>
        </p:txBody>
      </p:sp>
      <p:sp>
        <p:nvSpPr>
          <p:cNvPr id="21" name="Text 19"/>
          <p:cNvSpPr/>
          <p:nvPr/>
        </p:nvSpPr>
        <p:spPr>
          <a:xfrm>
            <a:off x="1417320" y="4041648"/>
            <a:ext cx="4297680" cy="365760"/>
          </a:xfrm>
          <a:prstGeom prst="rect">
            <a:avLst/>
          </a:prstGeom>
          <a:noFill/>
          <a:ln/>
        </p:spPr>
        <p:txBody>
          <a:bodyPr wrap="square" rtlCol="0" anchor="ctr"/>
          <a:lstStyle/>
          <a:p>
            <a:pPr indent="0" marL="0">
              <a:buNone/>
            </a:pPr>
            <a:r>
              <a:rPr lang="en-US" sz="1300" b="1" dirty="0">
                <a:solidFill>
                  <a:srgbClr val="352F35"/>
                </a:solidFill>
                <a:latin typeface="Arial" pitchFamily="34" charset="0"/>
                <a:ea typeface="Arial" pitchFamily="34" charset="-122"/>
                <a:cs typeface="Arial" pitchFamily="34" charset="-120"/>
              </a:rPr>
              <a:t>3. Secure Production Cloud</a:t>
            </a:r>
            <a:endParaRPr lang="en-US" sz="1300" dirty="0"/>
          </a:p>
        </p:txBody>
      </p:sp>
      <p:sp>
        <p:nvSpPr>
          <p:cNvPr id="22" name="Text 20"/>
          <p:cNvSpPr/>
          <p:nvPr/>
        </p:nvSpPr>
        <p:spPr>
          <a:xfrm>
            <a:off x="960120" y="4526280"/>
            <a:ext cx="4709160" cy="914400"/>
          </a:xfrm>
          <a:prstGeom prst="rect">
            <a:avLst/>
          </a:prstGeom>
          <a:noFill/>
          <a:ln/>
        </p:spPr>
        <p:txBody>
          <a:bodyPr wrap="square" rtlCol="0" anchor="t"/>
          <a:lstStyle/>
          <a:p>
            <a:pPr indent="0" marL="0">
              <a:lnSpc>
                <a:spcPct val="115000"/>
              </a:lnSpc>
              <a:buNone/>
            </a:pPr>
            <a:r>
              <a:rPr lang="en-US" sz="1100" dirty="0">
                <a:solidFill>
                  <a:srgbClr val="352F35"/>
                </a:solidFill>
                <a:latin typeface="Arial" pitchFamily="34" charset="0"/>
                <a:ea typeface="Arial" pitchFamily="34" charset="-122"/>
                <a:cs typeface="Arial" pitchFamily="34" charset="-120"/>
              </a:rPr>
              <a:t>Enterprise accounts, secure cloud database, and private medical report vaults.</a:t>
            </a:r>
            <a:endParaRPr lang="en-US" sz="1100" dirty="0"/>
          </a:p>
        </p:txBody>
      </p:sp>
      <p:sp>
        <p:nvSpPr>
          <p:cNvPr id="23" name="Shape 21"/>
          <p:cNvSpPr/>
          <p:nvPr/>
        </p:nvSpPr>
        <p:spPr>
          <a:xfrm>
            <a:off x="6217920" y="3840480"/>
            <a:ext cx="5166360" cy="1691640"/>
          </a:xfrm>
          <a:prstGeom prst="roundRect">
            <a:avLst>
              <a:gd name="adj" fmla="val 6486"/>
            </a:avLst>
          </a:prstGeom>
          <a:solidFill>
            <a:srgbClr val="FFFFFF"/>
          </a:solidFill>
          <a:ln w="12700">
            <a:solidFill>
              <a:srgbClr val="E9DFDC"/>
            </a:solidFill>
            <a:prstDash val="solid"/>
          </a:ln>
        </p:spPr>
      </p:sp>
      <p:sp>
        <p:nvSpPr>
          <p:cNvPr id="24" name="Shape 22"/>
          <p:cNvSpPr/>
          <p:nvPr/>
        </p:nvSpPr>
        <p:spPr>
          <a:xfrm>
            <a:off x="6446520" y="4069080"/>
            <a:ext cx="365760" cy="365760"/>
          </a:xfrm>
          <a:prstGeom prst="ellipse">
            <a:avLst/>
          </a:prstGeom>
          <a:solidFill>
            <a:srgbClr val="F2E1E3"/>
          </a:solidFill>
          <a:ln w="12700">
            <a:solidFill>
              <a:srgbClr val="F2E1E3"/>
            </a:solidFill>
            <a:prstDash val="solid"/>
          </a:ln>
        </p:spPr>
      </p:sp>
      <p:sp>
        <p:nvSpPr>
          <p:cNvPr id="25" name="Text 23"/>
          <p:cNvSpPr/>
          <p:nvPr/>
        </p:nvSpPr>
        <p:spPr>
          <a:xfrm>
            <a:off x="6446520" y="4069080"/>
            <a:ext cx="365760" cy="365760"/>
          </a:xfrm>
          <a:prstGeom prst="rect">
            <a:avLst/>
          </a:prstGeom>
          <a:noFill/>
          <a:ln/>
        </p:spPr>
        <p:txBody>
          <a:bodyPr wrap="square" rtlCol="0" anchor="ctr"/>
          <a:lstStyle/>
          <a:p>
            <a:pPr algn="ctr" indent="0" marL="0">
              <a:buNone/>
            </a:pPr>
            <a:r>
              <a:rPr lang="en-US" sz="1100" b="1" dirty="0">
                <a:solidFill>
                  <a:srgbClr val="9F5F6E"/>
                </a:solidFill>
              </a:rPr>
              <a:t>4</a:t>
            </a:r>
            <a:endParaRPr lang="en-US" sz="1100" dirty="0"/>
          </a:p>
        </p:txBody>
      </p:sp>
      <p:sp>
        <p:nvSpPr>
          <p:cNvPr id="26" name="Text 24"/>
          <p:cNvSpPr/>
          <p:nvPr/>
        </p:nvSpPr>
        <p:spPr>
          <a:xfrm>
            <a:off x="6903720" y="4041648"/>
            <a:ext cx="4297680" cy="365760"/>
          </a:xfrm>
          <a:prstGeom prst="rect">
            <a:avLst/>
          </a:prstGeom>
          <a:noFill/>
          <a:ln/>
        </p:spPr>
        <p:txBody>
          <a:bodyPr wrap="square" rtlCol="0" anchor="ctr"/>
          <a:lstStyle/>
          <a:p>
            <a:pPr indent="0" marL="0">
              <a:buNone/>
            </a:pPr>
            <a:r>
              <a:rPr lang="en-US" sz="1300" b="1" dirty="0">
                <a:solidFill>
                  <a:srgbClr val="352F35"/>
                </a:solidFill>
                <a:latin typeface="Arial" pitchFamily="34" charset="0"/>
                <a:ea typeface="Arial" pitchFamily="34" charset="-122"/>
                <a:cs typeface="Arial" pitchFamily="34" charset="-120"/>
              </a:rPr>
              <a:t>4. Multilingual Localization</a:t>
            </a:r>
            <a:endParaRPr lang="en-US" sz="1300" dirty="0"/>
          </a:p>
        </p:txBody>
      </p:sp>
      <p:sp>
        <p:nvSpPr>
          <p:cNvPr id="27" name="Text 25"/>
          <p:cNvSpPr/>
          <p:nvPr/>
        </p:nvSpPr>
        <p:spPr>
          <a:xfrm>
            <a:off x="6446520" y="4526280"/>
            <a:ext cx="4709160" cy="914400"/>
          </a:xfrm>
          <a:prstGeom prst="rect">
            <a:avLst/>
          </a:prstGeom>
          <a:noFill/>
          <a:ln/>
        </p:spPr>
        <p:txBody>
          <a:bodyPr wrap="square" rtlCol="0" anchor="t"/>
          <a:lstStyle/>
          <a:p>
            <a:pPr indent="0" marL="0">
              <a:lnSpc>
                <a:spcPct val="115000"/>
              </a:lnSpc>
              <a:buNone/>
            </a:pPr>
            <a:r>
              <a:rPr lang="en-US" sz="1100" dirty="0">
                <a:solidFill>
                  <a:srgbClr val="352F35"/>
                </a:solidFill>
                <a:latin typeface="Arial" pitchFamily="34" charset="0"/>
                <a:ea typeface="Arial" pitchFamily="34" charset="-122"/>
                <a:cs typeface="Arial" pitchFamily="34" charset="-120"/>
              </a:rPr>
              <a:t>Native speaker-checked translations in Tamil, Telugu, Kannada, and Hindi.</a:t>
            </a:r>
            <a:endParaRPr lang="en-US" sz="1100" dirty="0"/>
          </a:p>
        </p:txBody>
      </p:sp>
      <p:sp>
        <p:nvSpPr>
          <p:cNvPr id="28" name="Shape 26"/>
          <p:cNvSpPr/>
          <p:nvPr/>
        </p:nvSpPr>
        <p:spPr>
          <a:xfrm>
            <a:off x="731520" y="5715000"/>
            <a:ext cx="10652760" cy="594360"/>
          </a:xfrm>
          <a:prstGeom prst="roundRect">
            <a:avLst>
              <a:gd name="adj" fmla="val 15385"/>
            </a:avLst>
          </a:prstGeom>
          <a:solidFill>
            <a:srgbClr val="F2E1E3"/>
          </a:solidFill>
          <a:ln w="12700">
            <a:solidFill>
              <a:srgbClr val="E9DFDC"/>
            </a:solidFill>
            <a:prstDash val="solid"/>
          </a:ln>
        </p:spPr>
      </p:sp>
      <p:sp>
        <p:nvSpPr>
          <p:cNvPr id="29" name="Text 27"/>
          <p:cNvSpPr/>
          <p:nvPr/>
        </p:nvSpPr>
        <p:spPr>
          <a:xfrm>
            <a:off x="914400" y="5715000"/>
            <a:ext cx="10287000" cy="594360"/>
          </a:xfrm>
          <a:prstGeom prst="rect">
            <a:avLst/>
          </a:prstGeom>
          <a:noFill/>
          <a:ln/>
        </p:spPr>
        <p:txBody>
          <a:bodyPr wrap="square" rtlCol="0" anchor="ctr"/>
          <a:lstStyle/>
          <a:p>
            <a:pPr indent="0" marL="0">
              <a:buNone/>
            </a:pPr>
            <a:r>
              <a:rPr lang="en-US" sz="1000" b="1" dirty="0">
                <a:solidFill>
                  <a:srgbClr val="9F5F6E"/>
                </a:solidFill>
              </a:rPr>
              <a:t>CORE TAKEAWAY:  </a:t>
            </a:r>
            <a:pPr indent="0" marL="0">
              <a:buNone/>
            </a:pPr>
            <a:r>
              <a:rPr lang="en-US" sz="1050" dirty="0">
                <a:solidFill>
                  <a:srgbClr val="352F35"/>
                </a:solidFill>
              </a:rPr>
              <a:t>MomCare connects personal context, pattern analysis, safety checks, and generative AI to help mothers reach care sooner.</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MomCare Maternal Healthcare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MomCare - Maternal Healthcare Companion</dc:title>
  <dc:subject>Maternal Healthcare Companion for Mothers and Babies</dc:subject>
  <dc:creator>MomCare Team</dc:creator>
  <cp:lastModifiedBy>MomCare Team</cp:lastModifiedBy>
  <cp:revision>1</cp:revision>
  <dcterms:created xsi:type="dcterms:W3CDTF">2026-10-02T13:59:06Z</dcterms:created>
  <dcterms:modified xsi:type="dcterms:W3CDTF">2026-10-02T13:59:06Z</dcterms:modified>
</cp:coreProperties>
</file>